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49"/>
  </p:notesMasterIdLst>
  <p:handoutMasterIdLst>
    <p:handoutMasterId r:id="rId50"/>
  </p:handoutMasterIdLst>
  <p:sldIdLst>
    <p:sldId id="262" r:id="rId5"/>
    <p:sldId id="259" r:id="rId6"/>
    <p:sldId id="258"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261" r:id="rId4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ko Ony" initials="MO" lastIdx="3" clrIdx="0">
    <p:extLst>
      <p:ext uri="{19B8F6BF-5375-455C-9EA6-DF929625EA0E}">
        <p15:presenceInfo xmlns:p15="http://schemas.microsoft.com/office/powerpoint/2012/main" userId="cdc90d7e3e97d3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FE2"/>
    <a:srgbClr val="0C0C0D"/>
    <a:srgbClr val="FFD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0" autoAdjust="0"/>
    <p:restoredTop sz="92907" autoAdjust="0"/>
  </p:normalViewPr>
  <p:slideViewPr>
    <p:cSldViewPr snapToGrid="0" showGuides="1">
      <p:cViewPr varScale="1">
        <p:scale>
          <a:sx n="151" d="100"/>
          <a:sy n="151" d="100"/>
        </p:scale>
        <p:origin x="432" y="15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6" d="100"/>
          <a:sy n="56" d="100"/>
        </p:scale>
        <p:origin x="190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7-07T16:33:39.532" idx="1">
    <p:pos x="2016" y="3188"/>
    <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7-07T16:33:39.532" idx="2">
    <p:pos x="2016" y="3188"/>
    <p:text/>
    <p:extLst>
      <p:ext uri="{C676402C-5697-4E1C-873F-D02D1690AC5C}">
        <p15:threadingInfo xmlns:p15="http://schemas.microsoft.com/office/powerpoint/2012/main" timeZoneBias="-12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BF59EF6-0FF4-3C26-C2BB-DB4C816469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A684938-E2E5-17C8-EF87-D39DC23A0C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567D21-D55F-4A7B-94FF-7608FD989819}" type="datetimeFigureOut">
              <a:rPr lang="it-IT" smtClean="0"/>
              <a:t>07/07/2026</a:t>
            </a:fld>
            <a:endParaRPr lang="it-IT"/>
          </a:p>
        </p:txBody>
      </p:sp>
      <p:sp>
        <p:nvSpPr>
          <p:cNvPr id="4" name="Segnaposto piè di pagina 3">
            <a:extLst>
              <a:ext uri="{FF2B5EF4-FFF2-40B4-BE49-F238E27FC236}">
                <a16:creationId xmlns:a16="http://schemas.microsoft.com/office/drawing/2014/main" id="{71588DC1-54E0-DA10-6330-B5B85E54BE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4BF496F1-A8FC-84F6-A381-661BDD027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1F2323-8915-4474-89BB-0944B80755B1}" type="slidenum">
              <a:rPr lang="it-IT" smtClean="0"/>
              <a:t>‹N›</a:t>
            </a:fld>
            <a:endParaRPr lang="it-IT"/>
          </a:p>
        </p:txBody>
      </p:sp>
    </p:spTree>
    <p:extLst>
      <p:ext uri="{BB962C8B-B14F-4D97-AF65-F5344CB8AC3E}">
        <p14:creationId xmlns:p14="http://schemas.microsoft.com/office/powerpoint/2010/main" val="451458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B2B73-14A8-482F-9803-A95CC73B5B34}" type="datetimeFigureOut">
              <a:rPr lang="it-IT" smtClean="0"/>
              <a:t>07/07/2026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FDE81-C331-4896-AC61-55381248B14B}" type="slidenum">
              <a:rPr lang="it-IT" smtClean="0"/>
              <a:t>‹N›</a:t>
            </a:fld>
            <a:endParaRPr lang="it-IT"/>
          </a:p>
        </p:txBody>
      </p:sp>
    </p:spTree>
    <p:extLst>
      <p:ext uri="{BB962C8B-B14F-4D97-AF65-F5344CB8AC3E}">
        <p14:creationId xmlns:p14="http://schemas.microsoft.com/office/powerpoint/2010/main" val="44680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88FDE81-C331-4896-AC61-55381248B14B}" type="slidenum">
              <a:rPr lang="it-IT" smtClean="0"/>
              <a:t>2</a:t>
            </a:fld>
            <a:endParaRPr lang="it-IT"/>
          </a:p>
        </p:txBody>
      </p:sp>
    </p:spTree>
    <p:extLst>
      <p:ext uri="{BB962C8B-B14F-4D97-AF65-F5344CB8AC3E}">
        <p14:creationId xmlns:p14="http://schemas.microsoft.com/office/powerpoint/2010/main" val="1347248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jp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pic>
        <p:nvPicPr>
          <p:cNvPr id="3" name="Logo">
            <a:extLst>
              <a:ext uri="{FF2B5EF4-FFF2-40B4-BE49-F238E27FC236}">
                <a16:creationId xmlns:a16="http://schemas.microsoft.com/office/drawing/2014/main" id="{4C834844-A2F7-AC9C-2087-6061FCF61E4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1312" y="3055807"/>
            <a:ext cx="6429375" cy="746384"/>
          </a:xfrm>
          <a:prstGeom prst="rect">
            <a:avLst/>
          </a:prstGeom>
        </p:spPr>
      </p:pic>
      <p:sp>
        <p:nvSpPr>
          <p:cNvPr id="2" name="Segnaposto numero diapositiva 1">
            <a:extLst>
              <a:ext uri="{FF2B5EF4-FFF2-40B4-BE49-F238E27FC236}">
                <a16:creationId xmlns:a16="http://schemas.microsoft.com/office/drawing/2014/main" id="{38E5D1B6-A890-892D-9858-91BBCF4C4D74}"/>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tx1"/>
                </a:solidFill>
              </a:defRPr>
            </a:lvl1pPr>
          </a:lstStyle>
          <a:p>
            <a:fld id="{EE05E91E-B103-4211-9892-B5CF4BF06646}" type="slidenum">
              <a:rPr lang="it-IT" smtClean="0"/>
              <a:pPr/>
              <a:t>‹N›</a:t>
            </a:fld>
            <a:endParaRPr lang="it-IT"/>
          </a:p>
        </p:txBody>
      </p:sp>
    </p:spTree>
    <p:extLst>
      <p:ext uri="{BB962C8B-B14F-4D97-AF65-F5344CB8AC3E}">
        <p14:creationId xmlns:p14="http://schemas.microsoft.com/office/powerpoint/2010/main" val="318316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olo della lezione">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03BCE473-8FC3-9F4F-E292-BFC28ABE7B2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100000"/>
                    </a14:imgEffect>
                    <a14:imgEffect>
                      <a14:saturation sat="66000"/>
                    </a14:imgEffect>
                  </a14:imgLayer>
                </a14:imgProps>
              </a:ext>
              <a:ext uri="{28A0092B-C50C-407E-A947-70E740481C1C}">
                <a14:useLocalDpi xmlns:a14="http://schemas.microsoft.com/office/drawing/2010/main" val="0"/>
              </a:ext>
            </a:extLst>
          </a:blip>
          <a:srcRect t="7498" b="7498"/>
          <a:stretch/>
        </p:blipFill>
        <p:spPr>
          <a:xfrm>
            <a:off x="8" y="4"/>
            <a:ext cx="12191984" cy="6857991"/>
          </a:xfrm>
          <a:prstGeom prst="rect">
            <a:avLst/>
          </a:prstGeom>
        </p:spPr>
      </p:pic>
      <p:sp>
        <p:nvSpPr>
          <p:cNvPr id="2" name="Titolo 1">
            <a:extLst>
              <a:ext uri="{FF2B5EF4-FFF2-40B4-BE49-F238E27FC236}">
                <a16:creationId xmlns:a16="http://schemas.microsoft.com/office/drawing/2014/main" id="{D46FDB36-122C-6ED3-0E68-A04440759196}"/>
              </a:ext>
            </a:extLst>
          </p:cNvPr>
          <p:cNvSpPr>
            <a:spLocks noGrp="1"/>
          </p:cNvSpPr>
          <p:nvPr>
            <p:ph type="ctrTitle" hasCustomPrompt="1"/>
          </p:nvPr>
        </p:nvSpPr>
        <p:spPr>
          <a:xfrm>
            <a:off x="4749604" y="2315869"/>
            <a:ext cx="2692791" cy="55802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2800" b="1" kern="1200">
                <a:solidFill>
                  <a:schemeClr val="bg1"/>
                </a:solidFill>
                <a:latin typeface="Neue Haas Grotesk Display Pro" panose="020D0304030502050203" pitchFamily="34" charset="0"/>
                <a:ea typeface="+mj-ea"/>
                <a:cs typeface="+mj-cs"/>
              </a:defRPr>
            </a:lvl1pPr>
          </a:lstStyle>
          <a:p>
            <a:r>
              <a:rPr lang="it-IT" dirty="0"/>
              <a:t>Lezione n</a:t>
            </a:r>
          </a:p>
        </p:txBody>
      </p:sp>
      <p:sp>
        <p:nvSpPr>
          <p:cNvPr id="3" name="Sottotitolo 2">
            <a:extLst>
              <a:ext uri="{FF2B5EF4-FFF2-40B4-BE49-F238E27FC236}">
                <a16:creationId xmlns:a16="http://schemas.microsoft.com/office/drawing/2014/main" id="{C0F8F589-6BFD-59A4-6E34-32CA9C30E50B}"/>
              </a:ext>
            </a:extLst>
          </p:cNvPr>
          <p:cNvSpPr>
            <a:spLocks noGrp="1"/>
          </p:cNvSpPr>
          <p:nvPr>
            <p:ph type="subTitle" idx="1" hasCustomPrompt="1"/>
          </p:nvPr>
        </p:nvSpPr>
        <p:spPr>
          <a:xfrm>
            <a:off x="838200" y="3152912"/>
            <a:ext cx="10515600" cy="6728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4400" b="1" kern="1200">
                <a:solidFill>
                  <a:schemeClr val="bg1"/>
                </a:solidFill>
                <a:latin typeface="Neue Haas Grotesk Display Pro" panose="020D030403050205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TITOLO DELLA LEZIONE</a:t>
            </a:r>
          </a:p>
        </p:txBody>
      </p:sp>
      <p:sp>
        <p:nvSpPr>
          <p:cNvPr id="7" name="Autore">
            <a:extLst>
              <a:ext uri="{FF2B5EF4-FFF2-40B4-BE49-F238E27FC236}">
                <a16:creationId xmlns:a16="http://schemas.microsoft.com/office/drawing/2014/main" id="{21C9F551-AFE9-0973-2117-C6CBF8585A06}"/>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bg1"/>
                </a:solidFill>
                <a:latin typeface="Arial"/>
                <a:cs typeface="Arial"/>
              </a:rPr>
              <a:t>Autore: Mirko Onorato</a:t>
            </a:r>
            <a:endParaRPr lang="it-IT" sz="950" spc="300" dirty="0">
              <a:solidFill>
                <a:schemeClr val="bg1"/>
              </a:solidFill>
              <a:latin typeface="Arial"/>
              <a:cs typeface="Arial"/>
            </a:endParaRPr>
          </a:p>
        </p:txBody>
      </p:sp>
      <p:pic>
        <p:nvPicPr>
          <p:cNvPr id="8" name="Logo">
            <a:extLst>
              <a:ext uri="{FF2B5EF4-FFF2-40B4-BE49-F238E27FC236}">
                <a16:creationId xmlns:a16="http://schemas.microsoft.com/office/drawing/2014/main" id="{C4425D4D-A67B-8DB9-9A03-E768C2FD3E34}"/>
              </a:ext>
            </a:extLst>
          </p:cNvPr>
          <p:cNvPicPr>
            <a:picLocks noChangeAspect="1"/>
          </p:cNvPicPr>
          <p:nvPr userDrawn="1"/>
        </p:nvPicPr>
        <p:blipFill>
          <a:blip r:embed="rId4">
            <a:lum bright="10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8488" y="285335"/>
            <a:ext cx="2211023" cy="314198"/>
          </a:xfrm>
          <a:prstGeom prst="rect">
            <a:avLst/>
          </a:prstGeom>
        </p:spPr>
      </p:pic>
      <p:sp>
        <p:nvSpPr>
          <p:cNvPr id="13" name="Segnaposto numero diapositiva 6" hidden="1">
            <a:extLst>
              <a:ext uri="{FF2B5EF4-FFF2-40B4-BE49-F238E27FC236}">
                <a16:creationId xmlns:a16="http://schemas.microsoft.com/office/drawing/2014/main" id="{F8AAF250-B3FA-F808-9996-FA310B7EEAE0}"/>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bg1"/>
                </a:solidFill>
              </a:defRPr>
            </a:lvl1pPr>
          </a:lstStyle>
          <a:p>
            <a:fld id="{EE05E91E-B103-4211-9892-B5CF4BF06646}" type="slidenum">
              <a:rPr lang="it-IT" smtClean="0"/>
              <a:pPr/>
              <a:t>‹N›</a:t>
            </a:fld>
            <a:endParaRPr lang="it-IT"/>
          </a:p>
        </p:txBody>
      </p:sp>
      <p:pic>
        <p:nvPicPr>
          <p:cNvPr id="4" name="object 2">
            <a:extLst>
              <a:ext uri="{FF2B5EF4-FFF2-40B4-BE49-F238E27FC236}">
                <a16:creationId xmlns:a16="http://schemas.microsoft.com/office/drawing/2014/main" id="{481FF4BB-6EC3-F2A7-6542-58D51086A02D}"/>
              </a:ext>
            </a:extLst>
          </p:cNvPr>
          <p:cNvPicPr preferRelativeResize="0"/>
          <p:nvPr userDrawn="1"/>
        </p:nvPicPr>
        <p:blipFill rotWithShape="1">
          <a:blip r:embed="rId6" cstate="print"/>
          <a:srcRect l="1386" t="187" r="342" b="95555"/>
          <a:stretch/>
        </p:blipFill>
        <p:spPr>
          <a:xfrm>
            <a:off x="0" y="0"/>
            <a:ext cx="12191992" cy="203059"/>
          </a:xfrm>
          <a:prstGeom prst="rect">
            <a:avLst/>
          </a:prstGeom>
        </p:spPr>
      </p:pic>
    </p:spTree>
    <p:extLst>
      <p:ext uri="{BB962C8B-B14F-4D97-AF65-F5344CB8AC3E}">
        <p14:creationId xmlns:p14="http://schemas.microsoft.com/office/powerpoint/2010/main" val="368228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L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98DC6F-CD43-0811-A979-B271C0C3AF9E}"/>
              </a:ext>
            </a:extLst>
          </p:cNvPr>
          <p:cNvSpPr>
            <a:spLocks noGrp="1"/>
          </p:cNvSpPr>
          <p:nvPr>
            <p:ph type="title"/>
          </p:nvPr>
        </p:nvSpPr>
        <p:spPr>
          <a:xfrm>
            <a:off x="838200" y="831206"/>
            <a:ext cx="10515600" cy="314198"/>
          </a:xfrm>
          <a:prstGeom prst="rect">
            <a:avLst/>
          </a:prstGeom>
        </p:spPr>
        <p:txBody>
          <a:bodyPr/>
          <a:lstStyle>
            <a:lvl1pPr>
              <a:defRPr sz="2200" b="1">
                <a:solidFill>
                  <a:srgbClr val="171FE2"/>
                </a:solidFill>
                <a:latin typeface="Neue Haas Grotesk Text Pro" panose="020B0504020202020204" pitchFamily="34" charset="0"/>
              </a:defRPr>
            </a:lvl1pPr>
          </a:lstStyle>
          <a:p>
            <a:endParaRPr lang="it-IT" dirty="0"/>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Contenuto della lezione</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dirty="0"/>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rgbClr val="171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Mirko Onorato</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402256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Laboratorio">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5DB3A6F7-B730-F638-2762-1FD1042E5DD4}"/>
              </a:ext>
            </a:extLst>
          </p:cNvPr>
          <p:cNvSpPr/>
          <p:nvPr userDrawn="1"/>
        </p:nvSpPr>
        <p:spPr>
          <a:xfrm>
            <a:off x="0" y="0"/>
            <a:ext cx="12192000" cy="6858000"/>
          </a:xfrm>
          <a:prstGeom prst="rect">
            <a:avLst/>
          </a:prstGeom>
          <a:solidFill>
            <a:srgbClr val="FFD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98DC6F-CD43-0811-A979-B271C0C3AF9E}"/>
              </a:ext>
            </a:extLst>
          </p:cNvPr>
          <p:cNvSpPr>
            <a:spLocks noGrp="1"/>
          </p:cNvSpPr>
          <p:nvPr>
            <p:ph type="title" hasCustomPrompt="1"/>
          </p:nvPr>
        </p:nvSpPr>
        <p:spPr>
          <a:xfrm>
            <a:off x="838200" y="831206"/>
            <a:ext cx="10515600" cy="314198"/>
          </a:xfrm>
          <a:prstGeom prst="rect">
            <a:avLst/>
          </a:prstGeom>
        </p:spPr>
        <p:txBody>
          <a:bodyPr/>
          <a:lstStyle>
            <a:lvl1pPr>
              <a:defRPr sz="2200" b="1">
                <a:solidFill>
                  <a:schemeClr val="tx1"/>
                </a:solidFill>
                <a:latin typeface="Neue Haas Grotesk Text Pro" panose="020B0504020202020204" pitchFamily="34" charset="0"/>
              </a:defRPr>
            </a:lvl1pPr>
          </a:lstStyle>
          <a:p>
            <a:r>
              <a:rPr lang="it-IT" dirty="0"/>
              <a:t>Titolo del laboratorio</a:t>
            </a:r>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Traccia del laboratorio</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Nome Cognome</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23827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Ou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GRAZIE PER L’ATTENZIONE</a:t>
            </a:r>
          </a:p>
        </p:txBody>
      </p:sp>
    </p:spTree>
    <p:extLst>
      <p:ext uri="{BB962C8B-B14F-4D97-AF65-F5344CB8AC3E}">
        <p14:creationId xmlns:p14="http://schemas.microsoft.com/office/powerpoint/2010/main" val="128854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Break">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BREAK</a:t>
            </a:r>
          </a:p>
        </p:txBody>
      </p:sp>
    </p:spTree>
    <p:extLst>
      <p:ext uri="{BB962C8B-B14F-4D97-AF65-F5344CB8AC3E}">
        <p14:creationId xmlns:p14="http://schemas.microsoft.com/office/powerpoint/2010/main" val="736105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9" name="Sfondo">
            <a:extLst>
              <a:ext uri="{FF2B5EF4-FFF2-40B4-BE49-F238E27FC236}">
                <a16:creationId xmlns:a16="http://schemas.microsoft.com/office/drawing/2014/main" id="{0871CBC8-6163-D253-2648-0C5B2A35DADC}"/>
              </a:ext>
            </a:extLst>
          </p:cNvPr>
          <p:cNvGrpSpPr/>
          <p:nvPr userDrawn="1"/>
        </p:nvGrpSpPr>
        <p:grpSpPr>
          <a:xfrm>
            <a:off x="0" y="0"/>
            <a:ext cx="12191999" cy="6857998"/>
            <a:chOff x="0" y="0"/>
            <a:chExt cx="12191999" cy="6857998"/>
          </a:xfrm>
        </p:grpSpPr>
        <p:pic>
          <p:nvPicPr>
            <p:cNvPr id="7" name="bg object 16">
              <a:extLst>
                <a:ext uri="{FF2B5EF4-FFF2-40B4-BE49-F238E27FC236}">
                  <a16:creationId xmlns:a16="http://schemas.microsoft.com/office/drawing/2014/main" id="{D3B481F3-FDD2-E9B0-AAF0-6B05C97B7493}"/>
                </a:ext>
              </a:extLst>
            </p:cNvPr>
            <p:cNvPicPr/>
            <p:nvPr userDrawn="1"/>
          </p:nvPicPr>
          <p:blipFill>
            <a:blip r:embed="rId8" cstate="print"/>
            <a:stretch>
              <a:fillRect/>
            </a:stretch>
          </p:blipFill>
          <p:spPr>
            <a:xfrm>
              <a:off x="0" y="0"/>
              <a:ext cx="12191999" cy="6857998"/>
            </a:xfrm>
            <a:prstGeom prst="rect">
              <a:avLst/>
            </a:prstGeom>
          </p:spPr>
        </p:pic>
        <p:sp>
          <p:nvSpPr>
            <p:cNvPr id="8" name="Sfondo nero">
              <a:extLst>
                <a:ext uri="{FF2B5EF4-FFF2-40B4-BE49-F238E27FC236}">
                  <a16:creationId xmlns:a16="http://schemas.microsoft.com/office/drawing/2014/main" id="{2B2124EE-D2EC-EB26-C788-2D1671E2C0D4}"/>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6" name="Segnaposto numero diapositiva 5" hidden="1">
            <a:extLst>
              <a:ext uri="{FF2B5EF4-FFF2-40B4-BE49-F238E27FC236}">
                <a16:creationId xmlns:a16="http://schemas.microsoft.com/office/drawing/2014/main" id="{8BF62DA6-567D-9738-C9B4-B35130FB0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latin typeface="Neue Haas Grotesk Text Pro" panose="020B0504020202020204" pitchFamily="34" charset="0"/>
              </a:defRPr>
            </a:lvl1pPr>
          </a:lstStyle>
          <a:p>
            <a:fld id="{EE05E91E-B103-4211-9892-B5CF4BF06646}" type="slidenum">
              <a:rPr lang="it-IT" smtClean="0"/>
              <a:pPr/>
              <a:t>‹N›</a:t>
            </a:fld>
            <a:endParaRPr lang="it-IT"/>
          </a:p>
        </p:txBody>
      </p:sp>
      <p:pic>
        <p:nvPicPr>
          <p:cNvPr id="10" name="Logo">
            <a:extLst>
              <a:ext uri="{FF2B5EF4-FFF2-40B4-BE49-F238E27FC236}">
                <a16:creationId xmlns:a16="http://schemas.microsoft.com/office/drawing/2014/main" id="{08AF4DDA-AF5C-9192-0A90-B2EE16B19797}"/>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1312" y="3055807"/>
            <a:ext cx="6429375" cy="746384"/>
          </a:xfrm>
          <a:prstGeom prst="rect">
            <a:avLst/>
          </a:prstGeom>
        </p:spPr>
      </p:pic>
    </p:spTree>
    <p:extLst>
      <p:ext uri="{BB962C8B-B14F-4D97-AF65-F5344CB8AC3E}">
        <p14:creationId xmlns:p14="http://schemas.microsoft.com/office/powerpoint/2010/main" val="3447315000"/>
      </p:ext>
    </p:extLst>
  </p:cSld>
  <p:clrMap bg1="lt1" tx1="dk1" bg2="lt2" tx2="dk2" accent1="accent1" accent2="accent2" accent3="accent3" accent4="accent4" accent5="accent5" accent6="accent6" hlink="hlink" folHlink="folHlink"/>
  <p:sldLayoutIdLst>
    <p:sldLayoutId id="2147483693" r:id="rId1"/>
    <p:sldLayoutId id="2147483691" r:id="rId2"/>
    <p:sldLayoutId id="2147483674" r:id="rId3"/>
    <p:sldLayoutId id="2147483692" r:id="rId4"/>
    <p:sldLayoutId id="2147483678" r:id="rId5"/>
    <p:sldLayoutId id="214748369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65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614AE908-95ED-7A3B-515A-275CA8318424}"/>
              </a:ext>
            </a:extLst>
          </p:cNvPr>
          <p:cNvSpPr>
            <a:spLocks noGrp="1"/>
          </p:cNvSpPr>
          <p:nvPr>
            <p:ph type="subTitle" idx="1"/>
          </p:nvPr>
        </p:nvSpPr>
        <p:spPr>
          <a:xfrm>
            <a:off x="838200" y="2795046"/>
            <a:ext cx="10515600" cy="1445982"/>
          </a:xfrm>
        </p:spPr>
        <p:txBody>
          <a:bodyPr/>
          <a:lstStyle/>
          <a:p>
            <a:r>
              <a:rPr lang="it-IT" dirty="0"/>
              <a:t>Java Fondamenti</a:t>
            </a:r>
          </a:p>
        </p:txBody>
      </p:sp>
      <p:sp>
        <p:nvSpPr>
          <p:cNvPr id="7" name="Segnaposto numero diapositiva 6">
            <a:extLst>
              <a:ext uri="{FF2B5EF4-FFF2-40B4-BE49-F238E27FC236}">
                <a16:creationId xmlns:a16="http://schemas.microsoft.com/office/drawing/2014/main" id="{EDAC5512-E772-1D07-1956-6544F2732AF4}"/>
              </a:ext>
            </a:extLst>
          </p:cNvPr>
          <p:cNvSpPr>
            <a:spLocks noGrp="1"/>
          </p:cNvSpPr>
          <p:nvPr>
            <p:ph type="sldNum" sz="quarter" idx="10"/>
          </p:nvPr>
        </p:nvSpPr>
        <p:spPr/>
        <p:txBody>
          <a:bodyPr/>
          <a:lstStyle/>
          <a:p>
            <a:fld id="{EE05E91E-B103-4211-9892-B5CF4BF06646}" type="slidenum">
              <a:rPr lang="it-IT" smtClean="0">
                <a:solidFill>
                  <a:srgbClr val="0C0C0D"/>
                </a:solidFill>
              </a:rPr>
              <a:pPr/>
              <a:t>2</a:t>
            </a:fld>
            <a:endParaRPr lang="it-IT" dirty="0">
              <a:solidFill>
                <a:srgbClr val="0C0C0D"/>
              </a:solidFill>
            </a:endParaRPr>
          </a:p>
        </p:txBody>
      </p:sp>
    </p:spTree>
    <p:extLst>
      <p:ext uri="{BB962C8B-B14F-4D97-AF65-F5344CB8AC3E}">
        <p14:creationId xmlns:p14="http://schemas.microsoft.com/office/powerpoint/2010/main" val="339079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della lezione">
            <a:extLst>
              <a:ext uri="{FF2B5EF4-FFF2-40B4-BE49-F238E27FC236}">
                <a16:creationId xmlns:a16="http://schemas.microsoft.com/office/drawing/2014/main" id="{C232A863-9AB2-F1DD-0EBE-01D055E0CAD3}"/>
              </a:ext>
            </a:extLst>
          </p:cNvPr>
          <p:cNvSpPr>
            <a:spLocks noGrp="1"/>
          </p:cNvSpPr>
          <p:nvPr>
            <p:ph type="title"/>
          </p:nvPr>
        </p:nvSpPr>
        <p:spPr>
          <a:xfrm>
            <a:off x="838200" y="831206"/>
            <a:ext cx="10515600" cy="314198"/>
          </a:xfrm>
        </p:spPr>
        <p:txBody>
          <a:bodyPr/>
          <a:lstStyle/>
          <a:p>
            <a:r>
              <a:rPr lang="it-IT" dirty="0"/>
              <a:t>SEZIONE 1: INTRODUZIONE ALL'AMBIENTE E ARCHITETTURA (Slide 1 - 6)</a:t>
            </a:r>
            <a:br>
              <a:rPr lang="it-IT" dirty="0"/>
            </a:br>
            <a:r>
              <a:rPr lang="it-IT" dirty="0"/>
              <a:t>Slide 1: Lo Sviluppo Software Tradizionale e il Muro della Diffidenza</a:t>
            </a:r>
          </a:p>
        </p:txBody>
      </p:sp>
      <p:sp>
        <p:nvSpPr>
          <p:cNvPr id="3" name="Contenuto della lezione">
            <a:extLst>
              <a:ext uri="{FF2B5EF4-FFF2-40B4-BE49-F238E27FC236}">
                <a16:creationId xmlns:a16="http://schemas.microsoft.com/office/drawing/2014/main" id="{4B7AE27A-7139-F647-C23C-B014C3A3B6AE}"/>
              </a:ext>
            </a:extLst>
          </p:cNvPr>
          <p:cNvSpPr>
            <a:spLocks noGrp="1"/>
          </p:cNvSpPr>
          <p:nvPr>
            <p:ph idx="1"/>
          </p:nvPr>
        </p:nvSpPr>
        <p:spPr>
          <a:xfrm>
            <a:off x="1317319" y="1800042"/>
            <a:ext cx="9557362" cy="4803369"/>
          </a:xfrm>
        </p:spPr>
        <p:txBody>
          <a:bodyPr/>
          <a:lstStyle/>
          <a:p>
            <a:r>
              <a:rPr lang="it-IT" dirty="0"/>
              <a:t>Questo percorso è stato progettato con l'obiettivo di colmare il divario tra la programmazione puramente scolastica e le richieste ingegneristiche del mercato moderno. </a:t>
            </a:r>
          </a:p>
          <a:p>
            <a:r>
              <a:rPr lang="it-IT" dirty="0"/>
              <a:t>Nel corso di queste lezioni non ci limiteremo a studiare la sintassi algoritmica, ma analizzeremo l'intera architettura che rende Java uno dei linguaggi più utilizzati al mondo per i sistemi </a:t>
            </a:r>
            <a:r>
              <a:rPr lang="it-IT" dirty="0" err="1"/>
              <a:t>enterprise</a:t>
            </a:r>
            <a:r>
              <a:rPr lang="it-IT" dirty="0"/>
              <a:t>. </a:t>
            </a:r>
          </a:p>
          <a:p>
            <a:r>
              <a:rPr lang="it-IT" dirty="0"/>
              <a:t>Al termine del modulo, </a:t>
            </a:r>
            <a:r>
              <a:rPr lang="it-IT" dirty="0">
                <a:solidFill>
                  <a:srgbClr val="171FE2"/>
                </a:solidFill>
              </a:rPr>
              <a:t>la micro-competenza che dovrete dimostrare non sarà solo saper scrivere un algoritmo funzionante, ma saper configurare l'ambiente di sviluppo, comprendere i flussi di esecuzione della memoria e strutturare applicazioni strutturate, leggibili ed esenti da bug logici macroscopici</a:t>
            </a:r>
            <a:r>
              <a:rPr lang="it-IT" dirty="0"/>
              <a:t>. </a:t>
            </a:r>
          </a:p>
          <a:p>
            <a:r>
              <a:rPr lang="it-IT" dirty="0"/>
              <a:t>Saper padroneggiare i fondamenti di Java è il prerequisito indispensabile per affrontare il successivo paradigma orientato agli oggetti.</a:t>
            </a:r>
          </a:p>
        </p:txBody>
      </p:sp>
    </p:spTree>
    <p:extLst>
      <p:ext uri="{BB962C8B-B14F-4D97-AF65-F5344CB8AC3E}">
        <p14:creationId xmlns:p14="http://schemas.microsoft.com/office/powerpoint/2010/main" val="526178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BD877-390E-B5EC-A6F3-CA2E0EFA92E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3DE92C5-7041-37D7-24D0-96D545080022}"/>
              </a:ext>
            </a:extLst>
          </p:cNvPr>
          <p:cNvSpPr>
            <a:spLocks noGrp="1"/>
          </p:cNvSpPr>
          <p:nvPr>
            <p:ph type="title"/>
          </p:nvPr>
        </p:nvSpPr>
        <p:spPr>
          <a:xfrm>
            <a:off x="838200" y="831206"/>
            <a:ext cx="10515600" cy="314198"/>
          </a:xfrm>
        </p:spPr>
        <p:txBody>
          <a:bodyPr/>
          <a:lstStyle/>
          <a:p>
            <a:r>
              <a:rPr lang="it-IT" dirty="0"/>
              <a:t>Slide 2: La Filosofia di Java – Il Principio WORA</a:t>
            </a:r>
          </a:p>
        </p:txBody>
      </p:sp>
      <p:sp>
        <p:nvSpPr>
          <p:cNvPr id="3" name="Contenuto della lezione">
            <a:extLst>
              <a:ext uri="{FF2B5EF4-FFF2-40B4-BE49-F238E27FC236}">
                <a16:creationId xmlns:a16="http://schemas.microsoft.com/office/drawing/2014/main" id="{BF90CF24-F0E7-EC94-DA37-373BDB10A8DC}"/>
              </a:ext>
            </a:extLst>
          </p:cNvPr>
          <p:cNvSpPr>
            <a:spLocks noGrp="1"/>
          </p:cNvSpPr>
          <p:nvPr>
            <p:ph idx="1"/>
          </p:nvPr>
        </p:nvSpPr>
        <p:spPr>
          <a:xfrm>
            <a:off x="1317319" y="1800042"/>
            <a:ext cx="9557362" cy="4803369"/>
          </a:xfrm>
        </p:spPr>
        <p:txBody>
          <a:bodyPr/>
          <a:lstStyle/>
          <a:p>
            <a:r>
              <a:rPr lang="it-IT" dirty="0"/>
              <a:t>Per comprendere Java, è necessario comprendere il problema storico che i suoi creatori (Guidati da James Gosling in Sun </a:t>
            </a:r>
            <a:r>
              <a:rPr lang="it-IT" dirty="0" err="1"/>
              <a:t>Microsystems</a:t>
            </a:r>
            <a:r>
              <a:rPr lang="it-IT" dirty="0"/>
              <a:t> nel 1995) volevano risolvere. </a:t>
            </a:r>
          </a:p>
          <a:p>
            <a:r>
              <a:rPr lang="it-IT" dirty="0"/>
              <a:t>All'epoca, linguaggi dominanti come il C e il C++ richiedevano una ricompilazione del codice sorgente per ogni specifica piattaforma hardware e sistema operativo. </a:t>
            </a:r>
            <a:r>
              <a:rPr lang="it-IT" dirty="0">
                <a:solidFill>
                  <a:srgbClr val="171FE2"/>
                </a:solidFill>
              </a:rPr>
              <a:t>Un programma scritto per Windows non poteva girare su Mac o Linux senza modifiche radicali all'architettura del codice</a:t>
            </a:r>
            <a:r>
              <a:rPr lang="it-IT" dirty="0"/>
              <a:t>. </a:t>
            </a:r>
          </a:p>
          <a:p>
            <a:r>
              <a:rPr lang="it-IT" dirty="0"/>
              <a:t>Java nasce con una filosofia rivoluzionaria riassunta nell'acronimo WORA: "Write Once, </a:t>
            </a:r>
            <a:r>
              <a:rPr lang="it-IT" dirty="0" err="1"/>
              <a:t>Run</a:t>
            </a:r>
            <a:r>
              <a:rPr lang="it-IT" dirty="0"/>
              <a:t> </a:t>
            </a:r>
            <a:r>
              <a:rPr lang="it-IT" dirty="0" err="1"/>
              <a:t>Anywhere</a:t>
            </a:r>
            <a:r>
              <a:rPr lang="it-IT" dirty="0"/>
              <a:t>" (Scrivi una volta, esegui ovunque). </a:t>
            </a:r>
          </a:p>
          <a:p>
            <a:r>
              <a:rPr lang="it-IT" dirty="0"/>
              <a:t>Per ottenere questo risultato, Java non viene compilato direttamente in codice macchina binario specifico per un processore (come gli x86 o gli ARM). Il compilatore Java trasforma invece il codice sorgente in un formato intermedio standardizzato chiamato </a:t>
            </a:r>
            <a:r>
              <a:rPr lang="it-IT" dirty="0" err="1"/>
              <a:t>Bytecode</a:t>
            </a:r>
            <a:r>
              <a:rPr lang="it-IT" dirty="0"/>
              <a:t>. Questo approccio ha reso Java il linguaggio ideale per la rete e per i sistemi distribuiti moderni.</a:t>
            </a:r>
          </a:p>
        </p:txBody>
      </p:sp>
    </p:spTree>
    <p:extLst>
      <p:ext uri="{BB962C8B-B14F-4D97-AF65-F5344CB8AC3E}">
        <p14:creationId xmlns:p14="http://schemas.microsoft.com/office/powerpoint/2010/main" val="476015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AD03C-6D39-4065-3EB5-168EB9E980B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7B4F298-E5E6-F8A2-2D3F-5BED63D1C735}"/>
              </a:ext>
            </a:extLst>
          </p:cNvPr>
          <p:cNvSpPr>
            <a:spLocks noGrp="1"/>
          </p:cNvSpPr>
          <p:nvPr>
            <p:ph type="title"/>
          </p:nvPr>
        </p:nvSpPr>
        <p:spPr>
          <a:xfrm>
            <a:off x="838200" y="831206"/>
            <a:ext cx="10515600" cy="314198"/>
          </a:xfrm>
        </p:spPr>
        <p:txBody>
          <a:bodyPr/>
          <a:lstStyle/>
          <a:p>
            <a:r>
              <a:rPr lang="it-IT" dirty="0"/>
              <a:t>SLIDE 3: Architettura Java – JDK, JRE e JVM</a:t>
            </a:r>
          </a:p>
        </p:txBody>
      </p:sp>
      <p:sp>
        <p:nvSpPr>
          <p:cNvPr id="3" name="Contenuto della lezione">
            <a:extLst>
              <a:ext uri="{FF2B5EF4-FFF2-40B4-BE49-F238E27FC236}">
                <a16:creationId xmlns:a16="http://schemas.microsoft.com/office/drawing/2014/main" id="{AD626823-D5FC-93D1-CAD6-0BA03098DB4C}"/>
              </a:ext>
            </a:extLst>
          </p:cNvPr>
          <p:cNvSpPr>
            <a:spLocks noGrp="1"/>
          </p:cNvSpPr>
          <p:nvPr>
            <p:ph idx="1"/>
          </p:nvPr>
        </p:nvSpPr>
        <p:spPr>
          <a:xfrm>
            <a:off x="1317319" y="1800042"/>
            <a:ext cx="9557362" cy="4803369"/>
          </a:xfrm>
        </p:spPr>
        <p:txBody>
          <a:bodyPr/>
          <a:lstStyle/>
          <a:p>
            <a:r>
              <a:rPr lang="it-IT" dirty="0"/>
              <a:t>L'ecosistema di esecuzione di Java si basa su tre componenti architetturali nidificati che ogni studente tecnico deve saper mappare con precisione. </a:t>
            </a:r>
          </a:p>
          <a:p>
            <a:r>
              <a:rPr lang="it-IT" dirty="0"/>
              <a:t>Il livello più esterno è il JDK (Java Development Kit), lo strumento utilizzato dal programmatore che contiene il </a:t>
            </a:r>
            <a:r>
              <a:rPr lang="it-IT" b="1" dirty="0">
                <a:solidFill>
                  <a:srgbClr val="171FE2"/>
                </a:solidFill>
              </a:rPr>
              <a:t>compilatore (</a:t>
            </a:r>
            <a:r>
              <a:rPr lang="it-IT" b="1" dirty="0" err="1">
                <a:solidFill>
                  <a:srgbClr val="171FE2"/>
                </a:solidFill>
              </a:rPr>
              <a:t>javac</a:t>
            </a:r>
            <a:r>
              <a:rPr lang="it-IT" b="1" dirty="0">
                <a:solidFill>
                  <a:srgbClr val="171FE2"/>
                </a:solidFill>
              </a:rPr>
              <a:t>)</a:t>
            </a:r>
            <a:r>
              <a:rPr lang="it-IT" dirty="0"/>
              <a:t>, </a:t>
            </a:r>
            <a:r>
              <a:rPr lang="it-IT" dirty="0">
                <a:solidFill>
                  <a:srgbClr val="171FE2"/>
                </a:solidFill>
              </a:rPr>
              <a:t>le librerie standard e i tool di debugging</a:t>
            </a:r>
            <a:r>
              <a:rPr lang="it-IT" dirty="0"/>
              <a:t>.</a:t>
            </a:r>
          </a:p>
          <a:p>
            <a:r>
              <a:rPr lang="it-IT" dirty="0"/>
              <a:t>Il JDK include al suo interno il </a:t>
            </a:r>
            <a:r>
              <a:rPr lang="it-IT" dirty="0">
                <a:solidFill>
                  <a:srgbClr val="171FE2"/>
                </a:solidFill>
              </a:rPr>
              <a:t>JRE (Java Runtime Environment)</a:t>
            </a:r>
            <a:r>
              <a:rPr lang="it-IT" dirty="0"/>
              <a:t>, ovvero l'ambiente di esecuzione necessario per l'utente finale che desidera semplicemente avviare un programma Java già compilato. </a:t>
            </a:r>
          </a:p>
          <a:p>
            <a:r>
              <a:rPr lang="it-IT" dirty="0"/>
              <a:t>Il JRE, a sua volta, contiene il cuore pulsante del sistema: </a:t>
            </a:r>
            <a:r>
              <a:rPr lang="it-IT" dirty="0">
                <a:solidFill>
                  <a:srgbClr val="171FE2"/>
                </a:solidFill>
              </a:rPr>
              <a:t>la JVM (Java Virtual Machine)</a:t>
            </a:r>
            <a:r>
              <a:rPr lang="it-IT" dirty="0"/>
              <a:t>. </a:t>
            </a:r>
          </a:p>
          <a:p>
            <a:r>
              <a:rPr lang="it-IT" dirty="0"/>
              <a:t>La JVM è un software simulato che si comporta come un </a:t>
            </a:r>
            <a:r>
              <a:rPr lang="it-IT" dirty="0">
                <a:solidFill>
                  <a:srgbClr val="171FE2"/>
                </a:solidFill>
              </a:rPr>
              <a:t>vero e proprio processore virtuale. Il suo compito è leggere il </a:t>
            </a:r>
            <a:r>
              <a:rPr lang="it-IT" dirty="0" err="1">
                <a:solidFill>
                  <a:srgbClr val="171FE2"/>
                </a:solidFill>
              </a:rPr>
              <a:t>Bytecode</a:t>
            </a:r>
            <a:r>
              <a:rPr lang="it-IT" dirty="0">
                <a:solidFill>
                  <a:srgbClr val="171FE2"/>
                </a:solidFill>
              </a:rPr>
              <a:t> ed eseguirlo </a:t>
            </a:r>
            <a:r>
              <a:rPr lang="it-IT" u="sng" dirty="0">
                <a:solidFill>
                  <a:srgbClr val="171FE2"/>
                </a:solidFill>
              </a:rPr>
              <a:t>traducendolo istante per istante</a:t>
            </a:r>
            <a:r>
              <a:rPr lang="it-IT" dirty="0">
                <a:solidFill>
                  <a:srgbClr val="171FE2"/>
                </a:solidFill>
              </a:rPr>
              <a:t> in codice macchina nativo </a:t>
            </a:r>
            <a:r>
              <a:rPr lang="it-IT" dirty="0" err="1">
                <a:solidFill>
                  <a:srgbClr val="171FE2"/>
                </a:solidFill>
              </a:rPr>
              <a:t>dell'host</a:t>
            </a:r>
            <a:r>
              <a:rPr lang="it-IT" dirty="0">
                <a:solidFill>
                  <a:srgbClr val="171FE2"/>
                </a:solidFill>
              </a:rPr>
              <a:t> ospitante</a:t>
            </a:r>
            <a:r>
              <a:rPr lang="it-IT" dirty="0"/>
              <a:t>. Grazie alla presenza di una JVM specifica per ogni sistema operativo, lo stesso file .class (</a:t>
            </a:r>
            <a:r>
              <a:rPr lang="it-IT" dirty="0" err="1"/>
              <a:t>Bytecode</a:t>
            </a:r>
            <a:r>
              <a:rPr lang="it-IT" dirty="0"/>
              <a:t>) può girare ovunque senza modifiche.</a:t>
            </a:r>
          </a:p>
        </p:txBody>
      </p:sp>
    </p:spTree>
    <p:extLst>
      <p:ext uri="{BB962C8B-B14F-4D97-AF65-F5344CB8AC3E}">
        <p14:creationId xmlns:p14="http://schemas.microsoft.com/office/powerpoint/2010/main" val="252069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69F30-95FF-6A4E-5270-525B8A3C6FC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936965A-9326-3C95-E8A9-9B08D25F2963}"/>
              </a:ext>
            </a:extLst>
          </p:cNvPr>
          <p:cNvSpPr>
            <a:spLocks noGrp="1"/>
          </p:cNvSpPr>
          <p:nvPr>
            <p:ph type="title"/>
          </p:nvPr>
        </p:nvSpPr>
        <p:spPr>
          <a:xfrm>
            <a:off x="838200" y="831206"/>
            <a:ext cx="10515600" cy="314198"/>
          </a:xfrm>
        </p:spPr>
        <p:txBody>
          <a:bodyPr/>
          <a:lstStyle/>
          <a:p>
            <a:r>
              <a:rPr lang="it-IT" dirty="0"/>
              <a:t>SLIDE 4: Il Processo di Compilazione ed Esecuzione</a:t>
            </a:r>
          </a:p>
        </p:txBody>
      </p:sp>
      <p:sp>
        <p:nvSpPr>
          <p:cNvPr id="3" name="Contenuto della lezione">
            <a:extLst>
              <a:ext uri="{FF2B5EF4-FFF2-40B4-BE49-F238E27FC236}">
                <a16:creationId xmlns:a16="http://schemas.microsoft.com/office/drawing/2014/main" id="{45065D04-A19C-2E22-BD71-627DD393E538}"/>
              </a:ext>
            </a:extLst>
          </p:cNvPr>
          <p:cNvSpPr>
            <a:spLocks noGrp="1"/>
          </p:cNvSpPr>
          <p:nvPr>
            <p:ph idx="1"/>
          </p:nvPr>
        </p:nvSpPr>
        <p:spPr>
          <a:xfrm>
            <a:off x="1317319" y="1800042"/>
            <a:ext cx="9557362" cy="4803369"/>
          </a:xfrm>
        </p:spPr>
        <p:txBody>
          <a:bodyPr/>
          <a:lstStyle/>
          <a:p>
            <a:r>
              <a:rPr lang="it-IT" dirty="0"/>
              <a:t>Analizziamo il ciclo di vita del software in Java dal codice sorgente all'output a console. </a:t>
            </a:r>
          </a:p>
          <a:p>
            <a:r>
              <a:rPr lang="it-IT" dirty="0"/>
              <a:t>Il programmatore scrive le istruzioni all'interno di un file di testo con estensione .java (es. Avvio.java). Questo file viene dato in pasto al compilatore attraverso il comando: </a:t>
            </a:r>
            <a:r>
              <a:rPr lang="it-IT" dirty="0" err="1">
                <a:solidFill>
                  <a:srgbClr val="171FE2"/>
                </a:solidFill>
                <a:latin typeface="Consolas" panose="020B0609020204030204" pitchFamily="49" charset="0"/>
              </a:rPr>
              <a:t>javac</a:t>
            </a:r>
            <a:r>
              <a:rPr lang="it-IT" dirty="0">
                <a:solidFill>
                  <a:srgbClr val="171FE2"/>
                </a:solidFill>
                <a:latin typeface="Consolas" panose="020B0609020204030204" pitchFamily="49" charset="0"/>
              </a:rPr>
              <a:t> Avvio.java</a:t>
            </a:r>
            <a:r>
              <a:rPr lang="it-IT" dirty="0"/>
              <a:t>. </a:t>
            </a:r>
          </a:p>
          <a:p>
            <a:r>
              <a:rPr lang="it-IT" dirty="0"/>
              <a:t>Se non vengono rilevati errori sintattici, il compilatore genera un nuovo file con estensione .class contenente il </a:t>
            </a:r>
            <a:r>
              <a:rPr lang="it-IT" dirty="0" err="1"/>
              <a:t>Bytecode</a:t>
            </a:r>
            <a:r>
              <a:rPr lang="it-IT" dirty="0"/>
              <a:t> astratto. </a:t>
            </a:r>
          </a:p>
          <a:p>
            <a:r>
              <a:rPr lang="it-IT" dirty="0"/>
              <a:t>A questo punto entra in gioco la Java Virtual Machine: l'esecuzione viene avviata tramite il comando: </a:t>
            </a:r>
            <a:r>
              <a:rPr lang="it-IT" dirty="0">
                <a:solidFill>
                  <a:srgbClr val="171FE2"/>
                </a:solidFill>
                <a:latin typeface="Consolas" panose="020B0609020204030204" pitchFamily="49" charset="0"/>
              </a:rPr>
              <a:t>java Avvio</a:t>
            </a:r>
            <a:r>
              <a:rPr lang="it-IT" dirty="0"/>
              <a:t>. </a:t>
            </a:r>
          </a:p>
          <a:p>
            <a:r>
              <a:rPr lang="it-IT" dirty="0"/>
              <a:t>La JVM carica il </a:t>
            </a:r>
            <a:r>
              <a:rPr lang="it-IT" dirty="0" err="1"/>
              <a:t>Bytecode</a:t>
            </a:r>
            <a:r>
              <a:rPr lang="it-IT" dirty="0"/>
              <a:t> in memoria e, tramite un sottosistema chiamato </a:t>
            </a:r>
            <a:r>
              <a:rPr lang="it-IT" b="1" dirty="0">
                <a:solidFill>
                  <a:srgbClr val="171FE2"/>
                </a:solidFill>
              </a:rPr>
              <a:t>"Just-In-Time Compiler" (JIT)</a:t>
            </a:r>
            <a:r>
              <a:rPr lang="it-IT" dirty="0"/>
              <a:t>, traduce le parti di codice più frequentemente utilizzate in codice macchina nativo ad altissima velocità. </a:t>
            </a:r>
          </a:p>
          <a:p>
            <a:r>
              <a:rPr lang="it-IT" dirty="0"/>
              <a:t>Questo flusso evidenzia la differenza netta rispetto ai linguaggi puramente interpretati (come Python) o puramente compilati (como il C), posizionando Java in un modello ibrido ad alte prestazioni.</a:t>
            </a:r>
          </a:p>
        </p:txBody>
      </p:sp>
    </p:spTree>
    <p:extLst>
      <p:ext uri="{BB962C8B-B14F-4D97-AF65-F5344CB8AC3E}">
        <p14:creationId xmlns:p14="http://schemas.microsoft.com/office/powerpoint/2010/main" val="2123457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B7C5-17CC-203E-AAB2-DE4B01C898B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977D177-8842-28FD-4ECA-89EB40A14E90}"/>
              </a:ext>
            </a:extLst>
          </p:cNvPr>
          <p:cNvSpPr>
            <a:spLocks noGrp="1"/>
          </p:cNvSpPr>
          <p:nvPr>
            <p:ph type="title"/>
          </p:nvPr>
        </p:nvSpPr>
        <p:spPr>
          <a:xfrm>
            <a:off x="838200" y="831206"/>
            <a:ext cx="10515600" cy="314198"/>
          </a:xfrm>
        </p:spPr>
        <p:txBody>
          <a:bodyPr/>
          <a:lstStyle/>
          <a:p>
            <a:r>
              <a:rPr lang="it-IT" dirty="0"/>
              <a:t>SLIDE 5: Struttura di un Programma Java e il Metodo </a:t>
            </a:r>
            <a:r>
              <a:rPr lang="it-IT" dirty="0" err="1"/>
              <a:t>main</a:t>
            </a:r>
            <a:endParaRPr lang="it-IT" dirty="0"/>
          </a:p>
        </p:txBody>
      </p:sp>
      <p:sp>
        <p:nvSpPr>
          <p:cNvPr id="3" name="Contenuto della lezione">
            <a:extLst>
              <a:ext uri="{FF2B5EF4-FFF2-40B4-BE49-F238E27FC236}">
                <a16:creationId xmlns:a16="http://schemas.microsoft.com/office/drawing/2014/main" id="{7C0446BC-9499-7E97-E48C-7F3AA424EEE0}"/>
              </a:ext>
            </a:extLst>
          </p:cNvPr>
          <p:cNvSpPr>
            <a:spLocks noGrp="1"/>
          </p:cNvSpPr>
          <p:nvPr>
            <p:ph idx="1"/>
          </p:nvPr>
        </p:nvSpPr>
        <p:spPr>
          <a:xfrm>
            <a:off x="1317319" y="1800042"/>
            <a:ext cx="9557362" cy="4803369"/>
          </a:xfrm>
        </p:spPr>
        <p:txBody>
          <a:bodyPr/>
          <a:lstStyle/>
          <a:p>
            <a:r>
              <a:rPr lang="it-IT" dirty="0"/>
              <a:t>In Java, ogni singola riga di codice deve obbligatoriamente risiedere all'interno di una classe. Non esiste codice isolato o funzioni globali fuori dal perimetro di una classe. </a:t>
            </a:r>
          </a:p>
          <a:p>
            <a:r>
              <a:rPr lang="it-IT" dirty="0"/>
              <a:t>La struttura minima prevede la dichiarazione </a:t>
            </a:r>
            <a:r>
              <a:rPr lang="it-IT" dirty="0">
                <a:solidFill>
                  <a:srgbClr val="171FE2"/>
                </a:solidFill>
                <a:latin typeface="Consolas" panose="020B0609020204030204" pitchFamily="49" charset="0"/>
              </a:rPr>
              <a:t>public class Avvio {...}</a:t>
            </a:r>
            <a:r>
              <a:rPr lang="it-IT" dirty="0"/>
              <a:t>. All'interno di questo blocco deve essere presente il punto di ingresso (entry point) dell'applicazione, ovvero il </a:t>
            </a:r>
            <a:r>
              <a:rPr lang="it-IT" dirty="0">
                <a:solidFill>
                  <a:srgbClr val="171FE2"/>
                </a:solidFill>
              </a:rPr>
              <a:t>metodo </a:t>
            </a:r>
            <a:r>
              <a:rPr lang="it-IT" dirty="0" err="1">
                <a:solidFill>
                  <a:srgbClr val="171FE2"/>
                </a:solidFill>
              </a:rPr>
              <a:t>main</a:t>
            </a:r>
            <a:r>
              <a:rPr lang="it-IT" dirty="0"/>
              <a:t>. </a:t>
            </a:r>
          </a:p>
          <a:p>
            <a:r>
              <a:rPr lang="it-IT" dirty="0"/>
              <a:t>La sua firma è rigidamente codificata: </a:t>
            </a:r>
            <a:r>
              <a:rPr lang="it-IT" dirty="0">
                <a:solidFill>
                  <a:srgbClr val="171FE2"/>
                </a:solidFill>
                <a:latin typeface="Consolas" panose="020B0609020204030204" pitchFamily="49" charset="0"/>
              </a:rPr>
              <a:t>public </a:t>
            </a:r>
            <a:r>
              <a:rPr lang="it-IT" dirty="0" err="1">
                <a:solidFill>
                  <a:srgbClr val="171FE2"/>
                </a:solidFill>
                <a:latin typeface="Consolas" panose="020B0609020204030204" pitchFamily="49" charset="0"/>
              </a:rPr>
              <a:t>static</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void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main</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args</a:t>
            </a:r>
            <a:r>
              <a:rPr lang="it-IT" dirty="0">
                <a:solidFill>
                  <a:srgbClr val="171FE2"/>
                </a:solidFill>
                <a:latin typeface="Consolas" panose="020B0609020204030204" pitchFamily="49" charset="0"/>
              </a:rPr>
              <a:t>)</a:t>
            </a:r>
            <a:r>
              <a:rPr lang="it-IT" dirty="0"/>
              <a:t>. Analizziamo i termini: </a:t>
            </a:r>
          </a:p>
          <a:p>
            <a:pPr marL="285750" indent="-285750">
              <a:buFont typeface="Arial" panose="020B0604020202020204" pitchFamily="34" charset="0"/>
              <a:buChar char="•"/>
            </a:pPr>
            <a:r>
              <a:rPr lang="it-IT" b="1" dirty="0">
                <a:solidFill>
                  <a:srgbClr val="171FE2"/>
                </a:solidFill>
              </a:rPr>
              <a:t>public</a:t>
            </a:r>
            <a:r>
              <a:rPr lang="it-IT" dirty="0"/>
              <a:t> significa che è accessibile dalla JVM all'esterno; </a:t>
            </a:r>
          </a:p>
          <a:p>
            <a:pPr marL="285750" indent="-285750">
              <a:buFont typeface="Arial" panose="020B0604020202020204" pitchFamily="34" charset="0"/>
              <a:buChar char="•"/>
            </a:pPr>
            <a:r>
              <a:rPr lang="it-IT" b="1" dirty="0" err="1">
                <a:solidFill>
                  <a:srgbClr val="171FE2"/>
                </a:solidFill>
              </a:rPr>
              <a:t>static</a:t>
            </a:r>
            <a:r>
              <a:rPr lang="it-IT" dirty="0"/>
              <a:t> permette alla JVM di invocarlo senza dover prima istanziare un oggetto; </a:t>
            </a:r>
          </a:p>
          <a:p>
            <a:pPr marL="285750" indent="-285750">
              <a:buFont typeface="Arial" panose="020B0604020202020204" pitchFamily="34" charset="0"/>
              <a:buChar char="•"/>
            </a:pPr>
            <a:r>
              <a:rPr lang="it-IT" b="1" dirty="0" err="1">
                <a:solidFill>
                  <a:srgbClr val="171FE2"/>
                </a:solidFill>
              </a:rPr>
              <a:t>void</a:t>
            </a:r>
            <a:r>
              <a:rPr lang="it-IT" dirty="0"/>
              <a:t> indica che non restituisce alcun valore al termine dell'esecuzione; </a:t>
            </a:r>
          </a:p>
          <a:p>
            <a:pPr marL="285750" indent="-285750">
              <a:buFont typeface="Arial" panose="020B0604020202020204" pitchFamily="34" charset="0"/>
              <a:buChar char="•"/>
            </a:pPr>
            <a:r>
              <a:rPr lang="it-IT" b="1" dirty="0" err="1">
                <a:solidFill>
                  <a:srgbClr val="171FE2"/>
                </a:solidFill>
              </a:rPr>
              <a:t>String</a:t>
            </a:r>
            <a:r>
              <a:rPr lang="it-IT" b="1" dirty="0">
                <a:solidFill>
                  <a:srgbClr val="171FE2"/>
                </a:solidFill>
              </a:rPr>
              <a:t>[] </a:t>
            </a:r>
            <a:r>
              <a:rPr lang="it-IT" b="1" dirty="0" err="1">
                <a:solidFill>
                  <a:srgbClr val="171FE2"/>
                </a:solidFill>
              </a:rPr>
              <a:t>args</a:t>
            </a:r>
            <a:r>
              <a:rPr lang="it-IT" b="1" dirty="0">
                <a:solidFill>
                  <a:srgbClr val="171FE2"/>
                </a:solidFill>
              </a:rPr>
              <a:t> </a:t>
            </a:r>
            <a:r>
              <a:rPr lang="it-IT" dirty="0"/>
              <a:t>è un array di stringhe che consente di passare parametri all'applicazione direttamente dalla riga di comando. </a:t>
            </a:r>
          </a:p>
          <a:p>
            <a:r>
              <a:rPr lang="it-IT" dirty="0"/>
              <a:t>Ogni istruzione all'interno del metodo deve terminare tassativamente con il punto e virgola, pena l'errore di compilazione.</a:t>
            </a:r>
          </a:p>
        </p:txBody>
      </p:sp>
    </p:spTree>
    <p:extLst>
      <p:ext uri="{BB962C8B-B14F-4D97-AF65-F5344CB8AC3E}">
        <p14:creationId xmlns:p14="http://schemas.microsoft.com/office/powerpoint/2010/main" val="2771530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949F-1519-9385-2FDE-6BD2CEF97DB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D41775C-2D0D-4B1B-30B1-15CD33A4E760}"/>
              </a:ext>
            </a:extLst>
          </p:cNvPr>
          <p:cNvSpPr>
            <a:spLocks noGrp="1"/>
          </p:cNvSpPr>
          <p:nvPr>
            <p:ph type="title"/>
          </p:nvPr>
        </p:nvSpPr>
        <p:spPr>
          <a:xfrm>
            <a:off x="838200" y="831206"/>
            <a:ext cx="10515600" cy="314198"/>
          </a:xfrm>
        </p:spPr>
        <p:txBody>
          <a:bodyPr/>
          <a:lstStyle/>
          <a:p>
            <a:r>
              <a:rPr lang="it-IT" dirty="0"/>
              <a:t>SLIDE 6: Esercizio Guidato – Primo Avvio da Riga di Comando</a:t>
            </a:r>
          </a:p>
        </p:txBody>
      </p:sp>
      <p:sp>
        <p:nvSpPr>
          <p:cNvPr id="3" name="Contenuto della lezione">
            <a:extLst>
              <a:ext uri="{FF2B5EF4-FFF2-40B4-BE49-F238E27FC236}">
                <a16:creationId xmlns:a16="http://schemas.microsoft.com/office/drawing/2014/main" id="{F15FD0E2-A6ED-C62F-D16C-BC8994AE1823}"/>
              </a:ext>
            </a:extLst>
          </p:cNvPr>
          <p:cNvSpPr>
            <a:spLocks noGrp="1"/>
          </p:cNvSpPr>
          <p:nvPr>
            <p:ph idx="1"/>
          </p:nvPr>
        </p:nvSpPr>
        <p:spPr>
          <a:xfrm>
            <a:off x="1317319" y="1800042"/>
            <a:ext cx="9557362" cy="4803369"/>
          </a:xfrm>
        </p:spPr>
        <p:txBody>
          <a:bodyPr/>
          <a:lstStyle/>
          <a:p>
            <a:r>
              <a:rPr lang="it-IT" dirty="0"/>
              <a:t>Sviluppiamo l'abilità pratica di gestire il flusso di compilazione senza l'aiuto di un ambiente IDE automatico, utilizzando direttamente il terminale di sistema. </a:t>
            </a:r>
          </a:p>
          <a:p>
            <a:r>
              <a:rPr lang="it-IT" dirty="0"/>
              <a:t>Create un file nominato esplicitamente SalutoTecnico.java. </a:t>
            </a:r>
          </a:p>
          <a:p>
            <a:r>
              <a:rPr lang="it-IT" dirty="0"/>
              <a:t>All'interno del file scrivete la struttura di classe corretta inserendo nel metodo </a:t>
            </a:r>
            <a:r>
              <a:rPr lang="it-IT" dirty="0" err="1"/>
              <a:t>main</a:t>
            </a:r>
            <a:r>
              <a:rPr lang="it-IT" dirty="0"/>
              <a:t> l'istruzione di output standard: </a:t>
            </a:r>
            <a:r>
              <a:rPr lang="it-IT" dirty="0" err="1">
                <a:solidFill>
                  <a:srgbClr val="171FE2"/>
                </a:solidFill>
                <a:latin typeface="Consolas" panose="020B0609020204030204" pitchFamily="49" charset="0"/>
              </a:rPr>
              <a:t>System.out.println</a:t>
            </a:r>
            <a:r>
              <a:rPr lang="it-IT" dirty="0">
                <a:solidFill>
                  <a:srgbClr val="171FE2"/>
                </a:solidFill>
                <a:latin typeface="Consolas" panose="020B0609020204030204" pitchFamily="49" charset="0"/>
              </a:rPr>
              <a:t>("Benvenuti all'Istituto Tecnico!");</a:t>
            </a:r>
            <a:r>
              <a:rPr lang="it-IT" dirty="0"/>
              <a:t>. </a:t>
            </a:r>
          </a:p>
          <a:p>
            <a:r>
              <a:rPr lang="it-IT" dirty="0"/>
              <a:t>Aprite il prompt dei comandi o il terminale Linux nella cartella in cui si trova il file. </a:t>
            </a:r>
          </a:p>
          <a:p>
            <a:r>
              <a:rPr lang="it-IT" dirty="0"/>
              <a:t>Digitate il comando di compilazione </a:t>
            </a:r>
            <a:r>
              <a:rPr lang="it-IT" dirty="0" err="1">
                <a:solidFill>
                  <a:srgbClr val="171FE2"/>
                </a:solidFill>
                <a:latin typeface="Consolas" panose="020B0609020204030204" pitchFamily="49" charset="0"/>
              </a:rPr>
              <a:t>javac</a:t>
            </a:r>
            <a:r>
              <a:rPr lang="it-IT" dirty="0">
                <a:solidFill>
                  <a:srgbClr val="171FE2"/>
                </a:solidFill>
                <a:latin typeface="Consolas" panose="020B0609020204030204" pitchFamily="49" charset="0"/>
              </a:rPr>
              <a:t> SalutoTecnico.java</a:t>
            </a:r>
            <a:r>
              <a:rPr lang="it-IT" dirty="0"/>
              <a:t>. </a:t>
            </a:r>
          </a:p>
          <a:p>
            <a:r>
              <a:rPr lang="it-IT" dirty="0"/>
              <a:t>Notate la comparsa del file </a:t>
            </a:r>
            <a:r>
              <a:rPr lang="it-IT" dirty="0" err="1"/>
              <a:t>SalutoTecnico.class</a:t>
            </a:r>
            <a:r>
              <a:rPr lang="it-IT" dirty="0"/>
              <a:t> nella directory. </a:t>
            </a:r>
          </a:p>
          <a:p>
            <a:r>
              <a:rPr lang="it-IT" dirty="0"/>
              <a:t>Infine, eseguite il programma digitando </a:t>
            </a:r>
            <a:r>
              <a:rPr lang="it-IT" dirty="0">
                <a:solidFill>
                  <a:srgbClr val="171FE2"/>
                </a:solidFill>
                <a:latin typeface="Consolas" panose="020B0609020204030204" pitchFamily="49" charset="0"/>
              </a:rPr>
              <a:t>java </a:t>
            </a:r>
            <a:r>
              <a:rPr lang="it-IT" dirty="0" err="1">
                <a:solidFill>
                  <a:srgbClr val="171FE2"/>
                </a:solidFill>
                <a:latin typeface="Consolas" panose="020B0609020204030204" pitchFamily="49" charset="0"/>
              </a:rPr>
              <a:t>SalutoTecnico</a:t>
            </a:r>
            <a:r>
              <a:rPr lang="it-IT" dirty="0"/>
              <a:t>. </a:t>
            </a:r>
          </a:p>
          <a:p>
            <a:r>
              <a:rPr lang="it-IT" dirty="0"/>
              <a:t>L'obiettivo di questo esercizio è prendere confidenza con i messaggi di errore del compilatore: provate a rimuovere intenzionalmente un punto e virgola o a cambiare una maiuscola per analizzare come Java segnala l'errore di sintassi in console.</a:t>
            </a:r>
          </a:p>
        </p:txBody>
      </p:sp>
    </p:spTree>
    <p:extLst>
      <p:ext uri="{BB962C8B-B14F-4D97-AF65-F5344CB8AC3E}">
        <p14:creationId xmlns:p14="http://schemas.microsoft.com/office/powerpoint/2010/main" val="60817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7751E-6B6A-1F25-4433-E4E955A2D12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242666B-7D20-35D1-66D1-C38C1FDD18F6}"/>
              </a:ext>
            </a:extLst>
          </p:cNvPr>
          <p:cNvSpPr>
            <a:spLocks noGrp="1"/>
          </p:cNvSpPr>
          <p:nvPr>
            <p:ph type="title"/>
          </p:nvPr>
        </p:nvSpPr>
        <p:spPr>
          <a:xfrm>
            <a:off x="838200" y="831206"/>
            <a:ext cx="10515600" cy="314198"/>
          </a:xfrm>
        </p:spPr>
        <p:txBody>
          <a:bodyPr/>
          <a:lstStyle/>
          <a:p>
            <a:r>
              <a:rPr lang="it-IT" dirty="0"/>
              <a:t>SEZIONE 2: : VARIABILI, TIPI DI DATO E OPERATORI (Slide 7 - 15)</a:t>
            </a:r>
            <a:br>
              <a:rPr lang="it-IT" dirty="0"/>
            </a:br>
            <a:r>
              <a:rPr lang="it-IT" dirty="0"/>
              <a:t>SLIDE 7: Unità Didattica 1 – Variabili e Tipizzazione Forte</a:t>
            </a:r>
          </a:p>
        </p:txBody>
      </p:sp>
      <p:sp>
        <p:nvSpPr>
          <p:cNvPr id="3" name="Contenuto della lezione">
            <a:extLst>
              <a:ext uri="{FF2B5EF4-FFF2-40B4-BE49-F238E27FC236}">
                <a16:creationId xmlns:a16="http://schemas.microsoft.com/office/drawing/2014/main" id="{129E2500-873F-C35C-0C6E-E35EC666536A}"/>
              </a:ext>
            </a:extLst>
          </p:cNvPr>
          <p:cNvSpPr>
            <a:spLocks noGrp="1"/>
          </p:cNvSpPr>
          <p:nvPr>
            <p:ph idx="1"/>
          </p:nvPr>
        </p:nvSpPr>
        <p:spPr>
          <a:xfrm>
            <a:off x="1317319" y="1800042"/>
            <a:ext cx="9557362" cy="4803369"/>
          </a:xfrm>
        </p:spPr>
        <p:txBody>
          <a:bodyPr/>
          <a:lstStyle/>
          <a:p>
            <a:r>
              <a:rPr lang="it-IT" dirty="0"/>
              <a:t>Una variabile è una porzione di memoria RAM allocata dal programma per memorizzare un valore temporaneo durante l'esecuzione dell'algoritmo, </a:t>
            </a:r>
            <a:r>
              <a:rPr lang="it-IT" dirty="0">
                <a:solidFill>
                  <a:srgbClr val="171FE2"/>
                </a:solidFill>
              </a:rPr>
              <a:t>identificata da un nome univoco (</a:t>
            </a:r>
            <a:r>
              <a:rPr lang="it-IT" b="1" dirty="0">
                <a:solidFill>
                  <a:srgbClr val="171FE2"/>
                </a:solidFill>
              </a:rPr>
              <a:t>identificatore</a:t>
            </a:r>
            <a:r>
              <a:rPr lang="it-IT" dirty="0">
                <a:solidFill>
                  <a:srgbClr val="171FE2"/>
                </a:solidFill>
              </a:rPr>
              <a:t>)</a:t>
            </a:r>
            <a:r>
              <a:rPr lang="it-IT" dirty="0"/>
              <a:t>. </a:t>
            </a:r>
          </a:p>
          <a:p>
            <a:r>
              <a:rPr lang="it-IT" dirty="0"/>
              <a:t>Java è un linguaggio a "tipizzazione forte e statica" (</a:t>
            </a:r>
            <a:r>
              <a:rPr lang="it-IT" dirty="0" err="1"/>
              <a:t>strongly</a:t>
            </a:r>
            <a:r>
              <a:rPr lang="it-IT" dirty="0"/>
              <a:t> </a:t>
            </a:r>
            <a:r>
              <a:rPr lang="it-IT" dirty="0" err="1"/>
              <a:t>typed</a:t>
            </a:r>
            <a:r>
              <a:rPr lang="it-IT" dirty="0"/>
              <a:t>). Questo significa che ogni variabile deve essere obbligatoriamente dichiarata con il suo tipo di dato specifico prima di poter essere utilizzata e che il suo tipo non può cambiare nel corso del tempo. </a:t>
            </a:r>
          </a:p>
          <a:p>
            <a:r>
              <a:rPr lang="it-IT" dirty="0">
                <a:solidFill>
                  <a:srgbClr val="171FE2"/>
                </a:solidFill>
              </a:rPr>
              <a:t>Se dichiariamo una variabile come intera, non potremo mai inserire al suo interno una stringa di testo o un valore decimale</a:t>
            </a:r>
            <a:r>
              <a:rPr lang="it-IT" dirty="0"/>
              <a:t>. </a:t>
            </a:r>
          </a:p>
          <a:p>
            <a:r>
              <a:rPr lang="it-IT" dirty="0"/>
              <a:t>Questo vincolo rigido, sebbene richieda maggiore precisione in fase di scrittura rispetto a linguaggi dinamici come JavaScript, permette al compilatore di intercettare a tempo di compilazione circa il 90% degli errori di assegnazione, garantendo la creazione di software aziendali robusti, stabili e prevedibili nel comportamento a </a:t>
            </a:r>
            <a:r>
              <a:rPr lang="it-IT" dirty="0" err="1"/>
              <a:t>runtime</a:t>
            </a:r>
            <a:r>
              <a:rPr lang="it-IT" dirty="0"/>
              <a:t>.</a:t>
            </a:r>
          </a:p>
        </p:txBody>
      </p:sp>
    </p:spTree>
    <p:extLst>
      <p:ext uri="{BB962C8B-B14F-4D97-AF65-F5344CB8AC3E}">
        <p14:creationId xmlns:p14="http://schemas.microsoft.com/office/powerpoint/2010/main" val="1802393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6FB8F-61D3-1906-2BCC-1CF50FE5596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EFAD10B-5F85-761C-59F5-0C638C39577A}"/>
              </a:ext>
            </a:extLst>
          </p:cNvPr>
          <p:cNvSpPr>
            <a:spLocks noGrp="1"/>
          </p:cNvSpPr>
          <p:nvPr>
            <p:ph type="title"/>
          </p:nvPr>
        </p:nvSpPr>
        <p:spPr>
          <a:xfrm>
            <a:off x="838200" y="831206"/>
            <a:ext cx="10515600" cy="314198"/>
          </a:xfrm>
        </p:spPr>
        <p:txBody>
          <a:bodyPr/>
          <a:lstStyle/>
          <a:p>
            <a:r>
              <a:rPr lang="it-IT" dirty="0"/>
              <a:t>SLIDE 8: I Tipi di Dato Primitivi in Java</a:t>
            </a:r>
          </a:p>
        </p:txBody>
      </p:sp>
      <p:sp>
        <p:nvSpPr>
          <p:cNvPr id="3" name="Contenuto della lezione">
            <a:extLst>
              <a:ext uri="{FF2B5EF4-FFF2-40B4-BE49-F238E27FC236}">
                <a16:creationId xmlns:a16="http://schemas.microsoft.com/office/drawing/2014/main" id="{0CC76FB9-F4C6-758B-86AE-87EC4FB7FD77}"/>
              </a:ext>
            </a:extLst>
          </p:cNvPr>
          <p:cNvSpPr>
            <a:spLocks noGrp="1"/>
          </p:cNvSpPr>
          <p:nvPr>
            <p:ph idx="1"/>
          </p:nvPr>
        </p:nvSpPr>
        <p:spPr>
          <a:xfrm>
            <a:off x="1317319" y="1800042"/>
            <a:ext cx="9557362" cy="4803369"/>
          </a:xfrm>
        </p:spPr>
        <p:txBody>
          <a:bodyPr/>
          <a:lstStyle/>
          <a:p>
            <a:r>
              <a:rPr lang="it-IT" dirty="0"/>
              <a:t>Java definisce otto tipi di dati primitivi nativi, integrati direttamente nel linguaggio e ottimizzati per le prestazioni hardware, suddivisi in quattro macro-categorie. </a:t>
            </a:r>
          </a:p>
          <a:p>
            <a:r>
              <a:rPr lang="it-IT" dirty="0"/>
              <a:t>Per i numeri interi abbiamo: byte (8 bit), short (16 bit), </a:t>
            </a:r>
            <a:r>
              <a:rPr lang="it-IT" dirty="0" err="1">
                <a:solidFill>
                  <a:srgbClr val="171FE2"/>
                </a:solidFill>
              </a:rPr>
              <a:t>int</a:t>
            </a:r>
            <a:r>
              <a:rPr lang="it-IT" dirty="0">
                <a:solidFill>
                  <a:srgbClr val="171FE2"/>
                </a:solidFill>
              </a:rPr>
              <a:t> (32 bit, il più utilizzato) </a:t>
            </a:r>
            <a:r>
              <a:rPr lang="it-IT" dirty="0"/>
              <a:t>e long (64 bit, per valori astronomici). </a:t>
            </a:r>
          </a:p>
          <a:p>
            <a:r>
              <a:rPr lang="it-IT" dirty="0"/>
              <a:t>Per i numeri decimali in virgola mobile abbiamo: float (32 bit) e </a:t>
            </a:r>
            <a:r>
              <a:rPr lang="it-IT" dirty="0">
                <a:solidFill>
                  <a:srgbClr val="171FE2"/>
                </a:solidFill>
              </a:rPr>
              <a:t>double (64 bit, standard per calcoli scientifici)</a:t>
            </a:r>
            <a:r>
              <a:rPr lang="it-IT" dirty="0"/>
              <a:t>. </a:t>
            </a:r>
          </a:p>
          <a:p>
            <a:r>
              <a:rPr lang="it-IT" dirty="0"/>
              <a:t>Per i caratteri singoli della codifica Unicode si utilizza </a:t>
            </a:r>
            <a:r>
              <a:rPr lang="it-IT" dirty="0" err="1"/>
              <a:t>char</a:t>
            </a:r>
            <a:r>
              <a:rPr lang="it-IT" dirty="0"/>
              <a:t> (16 bit, racchiuso tra apici singoli, es. 'A’). </a:t>
            </a:r>
          </a:p>
          <a:p>
            <a:r>
              <a:rPr lang="it-IT" dirty="0"/>
              <a:t>Infine, per i valori logici dell'algebra booleana abbiamo il tipo </a:t>
            </a:r>
            <a:r>
              <a:rPr lang="it-IT" dirty="0" err="1"/>
              <a:t>boolean</a:t>
            </a:r>
            <a:r>
              <a:rPr lang="it-IT" dirty="0"/>
              <a:t>, che può assumere esclusivamente i valori </a:t>
            </a:r>
            <a:r>
              <a:rPr lang="it-IT" dirty="0" err="1"/>
              <a:t>true</a:t>
            </a:r>
            <a:r>
              <a:rPr lang="it-IT" dirty="0"/>
              <a:t> o false. </a:t>
            </a:r>
          </a:p>
          <a:p>
            <a:r>
              <a:rPr lang="it-IT" dirty="0"/>
              <a:t>E’ fondamentale memorizzare l'occupazione in bit di ciascun tipo per ottimizzare l'uso della memoria e prevenire bug sistemici dovuti al superamento dei limiti di capacità delle celle di memoria.</a:t>
            </a:r>
          </a:p>
        </p:txBody>
      </p:sp>
    </p:spTree>
    <p:extLst>
      <p:ext uri="{BB962C8B-B14F-4D97-AF65-F5344CB8AC3E}">
        <p14:creationId xmlns:p14="http://schemas.microsoft.com/office/powerpoint/2010/main" val="3322563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2B211-2A1D-F0CC-8FF2-EE2F7F45789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1EFDC98-759D-10F6-4790-AE2915C861B7}"/>
              </a:ext>
            </a:extLst>
          </p:cNvPr>
          <p:cNvSpPr>
            <a:spLocks noGrp="1"/>
          </p:cNvSpPr>
          <p:nvPr>
            <p:ph type="title"/>
          </p:nvPr>
        </p:nvSpPr>
        <p:spPr>
          <a:xfrm>
            <a:off x="838200" y="831206"/>
            <a:ext cx="10515600" cy="314198"/>
          </a:xfrm>
        </p:spPr>
        <p:txBody>
          <a:bodyPr/>
          <a:lstStyle/>
          <a:p>
            <a:r>
              <a:rPr lang="it-IT" dirty="0"/>
              <a:t>SLIDE 9: Casting Implicito ed Esplicito tra Tipi Numerici</a:t>
            </a:r>
          </a:p>
        </p:txBody>
      </p:sp>
      <p:sp>
        <p:nvSpPr>
          <p:cNvPr id="3" name="Contenuto della lezione">
            <a:extLst>
              <a:ext uri="{FF2B5EF4-FFF2-40B4-BE49-F238E27FC236}">
                <a16:creationId xmlns:a16="http://schemas.microsoft.com/office/drawing/2014/main" id="{6E4300B1-A4E2-74B0-2B2D-F51B5374E9B5}"/>
              </a:ext>
            </a:extLst>
          </p:cNvPr>
          <p:cNvSpPr>
            <a:spLocks noGrp="1"/>
          </p:cNvSpPr>
          <p:nvPr>
            <p:ph idx="1"/>
          </p:nvPr>
        </p:nvSpPr>
        <p:spPr>
          <a:xfrm>
            <a:off x="1317319" y="1800042"/>
            <a:ext cx="9557362" cy="4803369"/>
          </a:xfrm>
        </p:spPr>
        <p:txBody>
          <a:bodyPr/>
          <a:lstStyle/>
          <a:p>
            <a:r>
              <a:rPr lang="it-IT" dirty="0"/>
              <a:t>Quando si eseguono operazioni matematiche tra variabili di tipo diverso, </a:t>
            </a:r>
            <a:r>
              <a:rPr lang="it-IT" dirty="0">
                <a:solidFill>
                  <a:srgbClr val="171FE2"/>
                </a:solidFill>
              </a:rPr>
              <a:t>sorge la necessità di convertire i dati</a:t>
            </a:r>
            <a:r>
              <a:rPr lang="it-IT" dirty="0"/>
              <a:t>. </a:t>
            </a:r>
          </a:p>
          <a:p>
            <a:r>
              <a:rPr lang="it-IT" dirty="0"/>
              <a:t>Java gestisce questo fenomeno attraverso due modalità: il </a:t>
            </a:r>
            <a:r>
              <a:rPr lang="it-IT" b="1" dirty="0">
                <a:solidFill>
                  <a:srgbClr val="171FE2"/>
                </a:solidFill>
              </a:rPr>
              <a:t>casting implicito </a:t>
            </a:r>
            <a:r>
              <a:rPr lang="it-IT" dirty="0"/>
              <a:t>e il </a:t>
            </a:r>
            <a:r>
              <a:rPr lang="it-IT" b="1" dirty="0">
                <a:solidFill>
                  <a:srgbClr val="171FE2"/>
                </a:solidFill>
              </a:rPr>
              <a:t>casting esplicito</a:t>
            </a:r>
            <a:r>
              <a:rPr lang="it-IT" dirty="0"/>
              <a:t>. </a:t>
            </a:r>
          </a:p>
          <a:p>
            <a:pPr marL="285750" indent="-285750">
              <a:buFont typeface="Arial" panose="020B0604020202020204" pitchFamily="34" charset="0"/>
              <a:buChar char="•"/>
            </a:pPr>
            <a:r>
              <a:rPr lang="it-IT" dirty="0"/>
              <a:t>Il </a:t>
            </a:r>
            <a:r>
              <a:rPr lang="it-IT" dirty="0">
                <a:solidFill>
                  <a:srgbClr val="171FE2"/>
                </a:solidFill>
              </a:rPr>
              <a:t>casting implicito </a:t>
            </a:r>
            <a:r>
              <a:rPr lang="it-IT" dirty="0"/>
              <a:t>(promozione automatica) avviene quando un valore di tipo più piccolo viene assegnato a una variabile di tipo più grande, senza rischio di perdita di informazioni (es. assegnare un </a:t>
            </a:r>
            <a:r>
              <a:rPr lang="it-IT" dirty="0" err="1"/>
              <a:t>int</a:t>
            </a:r>
            <a:r>
              <a:rPr lang="it-IT" dirty="0"/>
              <a:t> a un double). </a:t>
            </a:r>
          </a:p>
          <a:p>
            <a:pPr marL="285750" indent="-285750">
              <a:buFont typeface="Arial" panose="020B0604020202020204" pitchFamily="34" charset="0"/>
              <a:buChar char="•"/>
            </a:pPr>
            <a:r>
              <a:rPr lang="it-IT" dirty="0"/>
              <a:t>Il </a:t>
            </a:r>
            <a:r>
              <a:rPr lang="it-IT" dirty="0">
                <a:solidFill>
                  <a:srgbClr val="171FE2"/>
                </a:solidFill>
              </a:rPr>
              <a:t>casting esplicito</a:t>
            </a:r>
            <a:r>
              <a:rPr lang="it-IT" dirty="0"/>
              <a:t>, invece, è obbligatorio quando si compie l'operazione inversa, ovvero convertire un tipo di dato più grande in uno dimensionalmente più piccolo (es. da double a </a:t>
            </a:r>
            <a:r>
              <a:rPr lang="it-IT" dirty="0" err="1"/>
              <a:t>int</a:t>
            </a:r>
            <a:r>
              <a:rPr lang="it-IT" dirty="0"/>
              <a:t>). In questo caso, il programmatore deve forzare la conversione anteponendo il tipo desiderato tra parentesi tonde: </a:t>
            </a:r>
            <a:r>
              <a:rPr lang="it-IT" dirty="0" err="1"/>
              <a:t>int</a:t>
            </a:r>
            <a:r>
              <a:rPr lang="it-IT" dirty="0"/>
              <a:t> x = (</a:t>
            </a:r>
            <a:r>
              <a:rPr lang="it-IT" dirty="0" err="1"/>
              <a:t>int</a:t>
            </a:r>
            <a:r>
              <a:rPr lang="it-IT" dirty="0"/>
              <a:t>) 5.75;. Questa operazione provoca il troncamento della parte decimale (il valore diventerà 5), ed </a:t>
            </a:r>
            <a:r>
              <a:rPr lang="it-IT" dirty="0">
                <a:solidFill>
                  <a:srgbClr val="171FE2"/>
                </a:solidFill>
              </a:rPr>
              <a:t>è una scelta conscia del programmatore che accetta la potenziale perdita di precisione numerica</a:t>
            </a:r>
            <a:r>
              <a:rPr lang="it-IT" dirty="0"/>
              <a:t>.</a:t>
            </a:r>
          </a:p>
        </p:txBody>
      </p:sp>
    </p:spTree>
    <p:extLst>
      <p:ext uri="{BB962C8B-B14F-4D97-AF65-F5344CB8AC3E}">
        <p14:creationId xmlns:p14="http://schemas.microsoft.com/office/powerpoint/2010/main" val="2212501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3D2E-2FF4-49FB-04FD-697AB92BA5B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0A8F549-61CD-EDA3-9A8A-BB3525C8B0DE}"/>
              </a:ext>
            </a:extLst>
          </p:cNvPr>
          <p:cNvSpPr>
            <a:spLocks noGrp="1"/>
          </p:cNvSpPr>
          <p:nvPr>
            <p:ph type="title"/>
          </p:nvPr>
        </p:nvSpPr>
        <p:spPr>
          <a:xfrm>
            <a:off x="838200" y="831206"/>
            <a:ext cx="10515600" cy="314198"/>
          </a:xfrm>
        </p:spPr>
        <p:txBody>
          <a:bodyPr/>
          <a:lstStyle/>
          <a:p>
            <a:r>
              <a:rPr lang="it-IT" dirty="0"/>
              <a:t>SLIDE 10: Operatori Aritmetici e la Divisione Intera</a:t>
            </a:r>
          </a:p>
        </p:txBody>
      </p:sp>
      <p:sp>
        <p:nvSpPr>
          <p:cNvPr id="3" name="Contenuto della lezione">
            <a:extLst>
              <a:ext uri="{FF2B5EF4-FFF2-40B4-BE49-F238E27FC236}">
                <a16:creationId xmlns:a16="http://schemas.microsoft.com/office/drawing/2014/main" id="{4CC5662C-3222-1853-B178-FB2CE039E92C}"/>
              </a:ext>
            </a:extLst>
          </p:cNvPr>
          <p:cNvSpPr>
            <a:spLocks noGrp="1"/>
          </p:cNvSpPr>
          <p:nvPr>
            <p:ph idx="1"/>
          </p:nvPr>
        </p:nvSpPr>
        <p:spPr>
          <a:xfrm>
            <a:off x="1317319" y="1800042"/>
            <a:ext cx="9557362" cy="4803369"/>
          </a:xfrm>
        </p:spPr>
        <p:txBody>
          <a:bodyPr/>
          <a:lstStyle/>
          <a:p>
            <a:r>
              <a:rPr lang="it-IT" dirty="0"/>
              <a:t>Java mette a disposizione una suite completa di operatori aritmetici: </a:t>
            </a:r>
          </a:p>
          <a:p>
            <a:r>
              <a:rPr lang="it-IT" dirty="0"/>
              <a:t>somma (+), sottrazione (-), moltiplicazione (*), divisione (/) e l'operatore modulo (%), che calcola il resto della divisione intera. </a:t>
            </a:r>
          </a:p>
          <a:p>
            <a:r>
              <a:rPr lang="it-IT" dirty="0"/>
              <a:t>Si pone grande attenzione al funzionamento dell'operatore di divisione, il cui comportamento dipende strettamente dal tipo di dato delle variabili coinvolte. </a:t>
            </a:r>
          </a:p>
          <a:p>
            <a:r>
              <a:rPr lang="it-IT" dirty="0">
                <a:solidFill>
                  <a:srgbClr val="171FE2"/>
                </a:solidFill>
              </a:rPr>
              <a:t>Se eseguiamo l'operazione 5 / 2 utilizzando operandi interi, Java applicherà la divisione intera, restituendo come risultato il valore troncato 2</a:t>
            </a:r>
            <a:r>
              <a:rPr lang="it-IT" dirty="0"/>
              <a:t>. </a:t>
            </a:r>
          </a:p>
          <a:p>
            <a:r>
              <a:rPr lang="it-IT" dirty="0"/>
              <a:t>Se vogliamo ottenere il risultato decimale reale preciso (2.5), almeno uno dei due operandi deve essere esplicitamente di tipo decimale (es. 5.0 / 2 oppure 5 / 2.0).</a:t>
            </a:r>
          </a:p>
          <a:p>
            <a:r>
              <a:rPr lang="it-IT" dirty="0"/>
              <a:t>L'operatore modulo % è invece cruciale per verificare, ad esempio, la parità di un numero (numero % 2 == 0) o per gestire cicli a intervalli regolari.</a:t>
            </a:r>
          </a:p>
        </p:txBody>
      </p:sp>
    </p:spTree>
    <p:extLst>
      <p:ext uri="{BB962C8B-B14F-4D97-AF65-F5344CB8AC3E}">
        <p14:creationId xmlns:p14="http://schemas.microsoft.com/office/powerpoint/2010/main" val="4091068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2764F-1B54-2E9E-893D-140F9EB2E34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CAD9AD0-66A8-2C96-A241-8518D62F7E2D}"/>
              </a:ext>
            </a:extLst>
          </p:cNvPr>
          <p:cNvSpPr>
            <a:spLocks noGrp="1"/>
          </p:cNvSpPr>
          <p:nvPr>
            <p:ph type="title"/>
          </p:nvPr>
        </p:nvSpPr>
        <p:spPr>
          <a:xfrm>
            <a:off x="838200" y="831206"/>
            <a:ext cx="10515600" cy="314198"/>
          </a:xfrm>
        </p:spPr>
        <p:txBody>
          <a:bodyPr/>
          <a:lstStyle/>
          <a:p>
            <a:r>
              <a:rPr lang="it-IT" dirty="0"/>
              <a:t>SLIDE 11: Operatori di Incremento, Decremento e Assegnazione Composta</a:t>
            </a:r>
          </a:p>
        </p:txBody>
      </p:sp>
      <p:sp>
        <p:nvSpPr>
          <p:cNvPr id="3" name="Contenuto della lezione">
            <a:extLst>
              <a:ext uri="{FF2B5EF4-FFF2-40B4-BE49-F238E27FC236}">
                <a16:creationId xmlns:a16="http://schemas.microsoft.com/office/drawing/2014/main" id="{CE4E7C84-8A05-711D-B4DE-B6910BAA8103}"/>
              </a:ext>
            </a:extLst>
          </p:cNvPr>
          <p:cNvSpPr>
            <a:spLocks noGrp="1"/>
          </p:cNvSpPr>
          <p:nvPr>
            <p:ph idx="1"/>
          </p:nvPr>
        </p:nvSpPr>
        <p:spPr>
          <a:xfrm>
            <a:off x="1317319" y="1800042"/>
            <a:ext cx="9557362" cy="4803369"/>
          </a:xfrm>
        </p:spPr>
        <p:txBody>
          <a:bodyPr/>
          <a:lstStyle/>
          <a:p>
            <a:r>
              <a:rPr lang="it-IT" dirty="0"/>
              <a:t>Per rendere la scrittura del codice più rapida e leggibile, Java eredita dal linguaggio C gli operatori di incremento unario (++) e decremento (--). </a:t>
            </a:r>
          </a:p>
          <a:p>
            <a:r>
              <a:rPr lang="it-IT" dirty="0"/>
              <a:t>L'istruzione </a:t>
            </a:r>
            <a:r>
              <a:rPr lang="it-IT" dirty="0">
                <a:solidFill>
                  <a:srgbClr val="171FE2"/>
                </a:solidFill>
                <a:latin typeface="Consolas" panose="020B0609020204030204" pitchFamily="49" charset="0"/>
              </a:rPr>
              <a:t>x++;</a:t>
            </a:r>
            <a:r>
              <a:rPr lang="it-IT" dirty="0"/>
              <a:t> equivale a scrivere in modo esteso </a:t>
            </a:r>
            <a:r>
              <a:rPr lang="it-IT" dirty="0">
                <a:solidFill>
                  <a:srgbClr val="171FE2"/>
                </a:solidFill>
                <a:latin typeface="Consolas" panose="020B0609020204030204" pitchFamily="49" charset="0"/>
              </a:rPr>
              <a:t>x = x + 1;</a:t>
            </a:r>
            <a:r>
              <a:rPr lang="it-IT" dirty="0"/>
              <a:t>. </a:t>
            </a:r>
          </a:p>
          <a:p>
            <a:r>
              <a:rPr lang="it-IT" dirty="0"/>
              <a:t>Questi operatori possono essere utilizzati in modalità </a:t>
            </a:r>
            <a:r>
              <a:rPr lang="it-IT" b="1" dirty="0">
                <a:solidFill>
                  <a:srgbClr val="171FE2"/>
                </a:solidFill>
              </a:rPr>
              <a:t>post-fissa (x++) </a:t>
            </a:r>
            <a:r>
              <a:rPr lang="it-IT" dirty="0"/>
              <a:t>o </a:t>
            </a:r>
            <a:r>
              <a:rPr lang="it-IT" b="1" dirty="0" err="1">
                <a:solidFill>
                  <a:srgbClr val="171FE2"/>
                </a:solidFill>
              </a:rPr>
              <a:t>pre</a:t>
            </a:r>
            <a:r>
              <a:rPr lang="it-IT" b="1" dirty="0">
                <a:solidFill>
                  <a:srgbClr val="171FE2"/>
                </a:solidFill>
              </a:rPr>
              <a:t>-fissa (++x)</a:t>
            </a:r>
            <a:r>
              <a:rPr lang="it-IT" dirty="0"/>
              <a:t>.</a:t>
            </a:r>
          </a:p>
          <a:p>
            <a:pPr marL="285750" indent="-285750">
              <a:buFont typeface="Arial" panose="020B0604020202020204" pitchFamily="34" charset="0"/>
              <a:buChar char="•"/>
            </a:pPr>
            <a:r>
              <a:rPr lang="it-IT" dirty="0"/>
              <a:t>Nella </a:t>
            </a:r>
            <a:r>
              <a:rPr lang="it-IT" dirty="0">
                <a:solidFill>
                  <a:srgbClr val="171FE2"/>
                </a:solidFill>
              </a:rPr>
              <a:t>modalità post-fissa</a:t>
            </a:r>
            <a:r>
              <a:rPr lang="it-IT" dirty="0"/>
              <a:t>, il valore corrente della variabile viene prima utilizzato nell'espressione e poi incrementato; </a:t>
            </a:r>
          </a:p>
          <a:p>
            <a:pPr marL="285750" indent="-285750">
              <a:buFont typeface="Arial" panose="020B0604020202020204" pitchFamily="34" charset="0"/>
              <a:buChar char="•"/>
            </a:pPr>
            <a:r>
              <a:rPr lang="it-IT" dirty="0"/>
              <a:t>nella </a:t>
            </a:r>
            <a:r>
              <a:rPr lang="it-IT" dirty="0">
                <a:solidFill>
                  <a:srgbClr val="171FE2"/>
                </a:solidFill>
              </a:rPr>
              <a:t>modalità </a:t>
            </a:r>
            <a:r>
              <a:rPr lang="it-IT" dirty="0" err="1">
                <a:solidFill>
                  <a:srgbClr val="171FE2"/>
                </a:solidFill>
              </a:rPr>
              <a:t>pre</a:t>
            </a:r>
            <a:r>
              <a:rPr lang="it-IT" dirty="0">
                <a:solidFill>
                  <a:srgbClr val="171FE2"/>
                </a:solidFill>
              </a:rPr>
              <a:t>-fissa</a:t>
            </a:r>
            <a:r>
              <a:rPr lang="it-IT" dirty="0"/>
              <a:t>, la variabile viene incrementata immediatamente prima di essere valutata. </a:t>
            </a:r>
          </a:p>
          <a:p>
            <a:r>
              <a:rPr lang="it-IT" dirty="0"/>
              <a:t>Esistono inoltre gli operatori di assegnazione composta come +=, -=, *=, /=. </a:t>
            </a:r>
          </a:p>
          <a:p>
            <a:r>
              <a:rPr lang="it-IT" dirty="0"/>
              <a:t>Scrivere saldo += 50; significa incrementare la variabile saldo di cinquanta unità.</a:t>
            </a:r>
          </a:p>
          <a:p>
            <a:r>
              <a:rPr lang="it-IT" dirty="0"/>
              <a:t>Padroneggiare queste abbreviazioni sintattiche è un requisito standard per scrivere codice compatto in linea con le linee guida dello sviluppo software aziendale.</a:t>
            </a:r>
          </a:p>
        </p:txBody>
      </p:sp>
    </p:spTree>
    <p:extLst>
      <p:ext uri="{BB962C8B-B14F-4D97-AF65-F5344CB8AC3E}">
        <p14:creationId xmlns:p14="http://schemas.microsoft.com/office/powerpoint/2010/main" val="4205207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82919-55B9-90CA-2906-E6BD4829FCF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864B8FEA-DEB0-3AE6-4383-327A57748206}"/>
              </a:ext>
            </a:extLst>
          </p:cNvPr>
          <p:cNvSpPr>
            <a:spLocks noGrp="1"/>
          </p:cNvSpPr>
          <p:nvPr>
            <p:ph type="title"/>
          </p:nvPr>
        </p:nvSpPr>
        <p:spPr>
          <a:xfrm>
            <a:off x="838200" y="831206"/>
            <a:ext cx="10515600" cy="314198"/>
          </a:xfrm>
        </p:spPr>
        <p:txBody>
          <a:bodyPr/>
          <a:lstStyle/>
          <a:p>
            <a:r>
              <a:rPr lang="it-IT" dirty="0"/>
              <a:t>SLIDE 12: Gli Operatori Relazionali e Logici (Booleani)</a:t>
            </a:r>
          </a:p>
        </p:txBody>
      </p:sp>
      <p:sp>
        <p:nvSpPr>
          <p:cNvPr id="3" name="Contenuto della lezione">
            <a:extLst>
              <a:ext uri="{FF2B5EF4-FFF2-40B4-BE49-F238E27FC236}">
                <a16:creationId xmlns:a16="http://schemas.microsoft.com/office/drawing/2014/main" id="{CF1A8EC4-5CB6-37B8-FA92-B6BF809A8FF8}"/>
              </a:ext>
            </a:extLst>
          </p:cNvPr>
          <p:cNvSpPr>
            <a:spLocks noGrp="1"/>
          </p:cNvSpPr>
          <p:nvPr>
            <p:ph idx="1"/>
          </p:nvPr>
        </p:nvSpPr>
        <p:spPr>
          <a:xfrm>
            <a:off x="1317319" y="1800042"/>
            <a:ext cx="9557362" cy="4803369"/>
          </a:xfrm>
        </p:spPr>
        <p:txBody>
          <a:bodyPr/>
          <a:lstStyle/>
          <a:p>
            <a:r>
              <a:rPr lang="it-IT" dirty="0">
                <a:solidFill>
                  <a:srgbClr val="171FE2"/>
                </a:solidFill>
              </a:rPr>
              <a:t>Le strutture decisionali si basano sulla valutazione di espressioni logiche che restituiscono un valore booleano</a:t>
            </a:r>
            <a:r>
              <a:rPr lang="it-IT" dirty="0"/>
              <a:t>. </a:t>
            </a:r>
          </a:p>
          <a:p>
            <a:r>
              <a:rPr lang="it-IT" dirty="0"/>
              <a:t>Java utilizza gli operatori relazionali per confrontare i dati: maggiore (&gt;), maggiore o uguale (&gt;=), minore (&lt;), minore o uguale (&lt;=), uguaglianza (==) e diversità (!=). </a:t>
            </a:r>
          </a:p>
          <a:p>
            <a:r>
              <a:rPr lang="it-IT" b="1" dirty="0">
                <a:solidFill>
                  <a:srgbClr val="FF0000"/>
                </a:solidFill>
              </a:rPr>
              <a:t>Attenzione a non confondere l'operatore di uguaglianza == con l'operatore di assegnazione singola =</a:t>
            </a:r>
            <a:r>
              <a:rPr lang="it-IT" dirty="0"/>
              <a:t>. </a:t>
            </a:r>
          </a:p>
          <a:p>
            <a:r>
              <a:rPr lang="it-IT" dirty="0"/>
              <a:t>Per combinare più condizioni insieme si utilizzano gli operatori logici: l'AND logico (&amp;&amp;), l'OR logico (||) e il NOT di negazione (!). </a:t>
            </a:r>
          </a:p>
          <a:p>
            <a:r>
              <a:rPr lang="it-IT" dirty="0"/>
              <a:t>Gli operatori &amp;&amp; e || implementano il meccanismo del "</a:t>
            </a:r>
            <a:r>
              <a:rPr lang="it-IT" b="1" dirty="0"/>
              <a:t>corto circuito</a:t>
            </a:r>
            <a:r>
              <a:rPr lang="it-IT" dirty="0"/>
              <a:t>": </a:t>
            </a:r>
            <a:r>
              <a:rPr lang="it-IT" dirty="0">
                <a:solidFill>
                  <a:srgbClr val="171FE2"/>
                </a:solidFill>
              </a:rPr>
              <a:t>se nella valutazione di un AND (condizione1 &amp;&amp; condizione2) la prima parte risulta false, Java non perde tempo a valutare la seconda parte, poiché l'intera espressione è matematicamente già compromessa</a:t>
            </a:r>
            <a:r>
              <a:rPr lang="it-IT" dirty="0"/>
              <a:t>.</a:t>
            </a:r>
          </a:p>
        </p:txBody>
      </p:sp>
    </p:spTree>
    <p:extLst>
      <p:ext uri="{BB962C8B-B14F-4D97-AF65-F5344CB8AC3E}">
        <p14:creationId xmlns:p14="http://schemas.microsoft.com/office/powerpoint/2010/main" val="366384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FD624-8345-14CA-E19B-B6CBCD91388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006FC7E-40E2-BA67-1A5F-301A1AA2F544}"/>
              </a:ext>
            </a:extLst>
          </p:cNvPr>
          <p:cNvSpPr>
            <a:spLocks noGrp="1"/>
          </p:cNvSpPr>
          <p:nvPr>
            <p:ph type="title"/>
          </p:nvPr>
        </p:nvSpPr>
        <p:spPr>
          <a:xfrm>
            <a:off x="838200" y="831206"/>
            <a:ext cx="10515600" cy="314198"/>
          </a:xfrm>
        </p:spPr>
        <p:txBody>
          <a:bodyPr/>
          <a:lstStyle/>
          <a:p>
            <a:r>
              <a:rPr lang="it-IT" dirty="0"/>
              <a:t>SLIDE 13: Il Tipo di Dato </a:t>
            </a:r>
            <a:r>
              <a:rPr lang="it-IT" dirty="0" err="1"/>
              <a:t>String</a:t>
            </a:r>
            <a:r>
              <a:rPr lang="it-IT" dirty="0"/>
              <a:t> e la Concatenazione</a:t>
            </a:r>
          </a:p>
        </p:txBody>
      </p:sp>
      <p:sp>
        <p:nvSpPr>
          <p:cNvPr id="3" name="Contenuto della lezione">
            <a:extLst>
              <a:ext uri="{FF2B5EF4-FFF2-40B4-BE49-F238E27FC236}">
                <a16:creationId xmlns:a16="http://schemas.microsoft.com/office/drawing/2014/main" id="{7C65529A-5342-CFC7-935D-463C08B4104A}"/>
              </a:ext>
            </a:extLst>
          </p:cNvPr>
          <p:cNvSpPr>
            <a:spLocks noGrp="1"/>
          </p:cNvSpPr>
          <p:nvPr>
            <p:ph idx="1"/>
          </p:nvPr>
        </p:nvSpPr>
        <p:spPr>
          <a:xfrm>
            <a:off x="1317319" y="1399992"/>
            <a:ext cx="9557362" cy="4803369"/>
          </a:xfrm>
        </p:spPr>
        <p:txBody>
          <a:bodyPr/>
          <a:lstStyle/>
          <a:p>
            <a:r>
              <a:rPr lang="it-IT" dirty="0"/>
              <a:t>A differenza dei tipi primitivi visti in precedenza, le stringhe di testo in Java sono gestite tramite una vera e propria classe nativa chiamata </a:t>
            </a:r>
            <a:r>
              <a:rPr lang="it-IT" dirty="0" err="1"/>
              <a:t>String</a:t>
            </a:r>
            <a:r>
              <a:rPr lang="it-IT" dirty="0"/>
              <a:t>. </a:t>
            </a:r>
          </a:p>
          <a:p>
            <a:r>
              <a:rPr lang="it-IT" dirty="0"/>
              <a:t>Una stringa rappresenta una sequenza di caratteri racchiusa tra doppi apici (es. "Informatica"). </a:t>
            </a:r>
          </a:p>
          <a:p>
            <a:r>
              <a:rPr lang="it-IT" dirty="0"/>
              <a:t>Essendo un oggetto, possiede metodi interni utili alla sua manipolazione, come .</a:t>
            </a:r>
            <a:r>
              <a:rPr lang="it-IT" dirty="0" err="1"/>
              <a:t>length</a:t>
            </a:r>
            <a:r>
              <a:rPr lang="it-IT" dirty="0"/>
              <a:t>() per conoscere il numero di caratteri o .</a:t>
            </a:r>
            <a:r>
              <a:rPr lang="it-IT" dirty="0" err="1"/>
              <a:t>toUpperCase</a:t>
            </a:r>
            <a:r>
              <a:rPr lang="it-IT" dirty="0"/>
              <a:t>() per trasformare il testo in maiuscolo. </a:t>
            </a:r>
          </a:p>
          <a:p>
            <a:r>
              <a:rPr lang="it-IT" dirty="0"/>
              <a:t>L'operatore + applicato alle stringhe assume un significato speciale: non esegue una somma matematica ma la "concatenazione" dei testi. </a:t>
            </a:r>
          </a:p>
          <a:p>
            <a:r>
              <a:rPr lang="it-IT" dirty="0"/>
              <a:t>Se concateniamo una stringa con un numero primitivo (es. "Voto: " + 8), Java convertirà automaticamente il numero in testo prima di unirlo. </a:t>
            </a:r>
          </a:p>
          <a:p>
            <a:r>
              <a:rPr lang="it-IT" dirty="0">
                <a:solidFill>
                  <a:srgbClr val="171FE2"/>
                </a:solidFill>
              </a:rPr>
              <a:t>Le stringhe sono immutabili </a:t>
            </a:r>
            <a:r>
              <a:rPr lang="it-IT" dirty="0"/>
              <a:t>in memoria (nello Heap): </a:t>
            </a:r>
            <a:r>
              <a:rPr lang="it-IT" b="1" dirty="0">
                <a:solidFill>
                  <a:srgbClr val="171FE2"/>
                </a:solidFill>
              </a:rPr>
              <a:t>ogni concatenazione crea in realtà una nuova stringa in memoria</a:t>
            </a:r>
            <a:r>
              <a:rPr lang="it-IT" dirty="0"/>
              <a:t>. Ad esempio:</a:t>
            </a:r>
          </a:p>
          <a:p>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s = "Ciao";</a:t>
            </a:r>
          </a:p>
          <a:p>
            <a:r>
              <a:rPr lang="it-IT" dirty="0">
                <a:solidFill>
                  <a:srgbClr val="171FE2"/>
                </a:solidFill>
                <a:latin typeface="Consolas" panose="020B0609020204030204" pitchFamily="49" charset="0"/>
              </a:rPr>
              <a:t>s = s + " mondo";</a:t>
            </a:r>
          </a:p>
        </p:txBody>
      </p:sp>
      <p:sp>
        <p:nvSpPr>
          <p:cNvPr id="8" name="CasellaDiTesto 7">
            <a:extLst>
              <a:ext uri="{FF2B5EF4-FFF2-40B4-BE49-F238E27FC236}">
                <a16:creationId xmlns:a16="http://schemas.microsoft.com/office/drawing/2014/main" id="{094C8452-B1FE-6A7C-380F-343E0337FF81}"/>
              </a:ext>
            </a:extLst>
          </p:cNvPr>
          <p:cNvSpPr txBox="1"/>
          <p:nvPr/>
        </p:nvSpPr>
        <p:spPr>
          <a:xfrm>
            <a:off x="3816350" y="5365074"/>
            <a:ext cx="8115300" cy="1323439"/>
          </a:xfrm>
          <a:prstGeom prst="rect">
            <a:avLst/>
          </a:prstGeom>
          <a:noFill/>
        </p:spPr>
        <p:txBody>
          <a:bodyPr wrap="square" rtlCol="0">
            <a:spAutoFit/>
          </a:bodyPr>
          <a:lstStyle/>
          <a:p>
            <a:pPr marL="285750" indent="-285750">
              <a:buFont typeface="Arial" panose="020B0604020202020204" pitchFamily="34" charset="0"/>
              <a:buChar char="•"/>
            </a:pPr>
            <a:r>
              <a:rPr lang="it-IT" sz="1600" dirty="0"/>
              <a:t>Viene creata la stringa "Ciao" nello heap.</a:t>
            </a:r>
          </a:p>
          <a:p>
            <a:pPr marL="285750" indent="-285750">
              <a:buFont typeface="Arial" panose="020B0604020202020204" pitchFamily="34" charset="0"/>
              <a:buChar char="•"/>
            </a:pPr>
            <a:r>
              <a:rPr lang="it-IT" sz="1600" dirty="0"/>
              <a:t>L'operazione s + " mondo" crea una nuova stringa con il contenuto "Ciao mondo".</a:t>
            </a:r>
          </a:p>
          <a:p>
            <a:pPr marL="285750" indent="-285750">
              <a:buFont typeface="Arial" panose="020B0604020202020204" pitchFamily="34" charset="0"/>
              <a:buChar char="•"/>
            </a:pPr>
            <a:r>
              <a:rPr lang="it-IT" sz="1600" dirty="0"/>
              <a:t>La variabile s smette di riferirsi alla vecchia stringa e punta alla nuova.</a:t>
            </a:r>
          </a:p>
          <a:p>
            <a:pPr marL="285750" indent="-285750">
              <a:buFont typeface="Arial" panose="020B0604020202020204" pitchFamily="34" charset="0"/>
              <a:buChar char="•"/>
            </a:pPr>
            <a:r>
              <a:rPr lang="it-IT" sz="1600" b="1" dirty="0">
                <a:solidFill>
                  <a:srgbClr val="171FE2"/>
                </a:solidFill>
              </a:rPr>
              <a:t>Se nessun'altra variabile fa riferimento a "Ciao", quella stringa potrà essere eliminata dal </a:t>
            </a:r>
            <a:r>
              <a:rPr lang="it-IT" sz="1600" b="1" dirty="0" err="1">
                <a:solidFill>
                  <a:srgbClr val="171FE2"/>
                </a:solidFill>
              </a:rPr>
              <a:t>garbage</a:t>
            </a:r>
            <a:r>
              <a:rPr lang="it-IT" sz="1600" b="1" dirty="0">
                <a:solidFill>
                  <a:srgbClr val="171FE2"/>
                </a:solidFill>
              </a:rPr>
              <a:t> </a:t>
            </a:r>
            <a:r>
              <a:rPr lang="it-IT" sz="1600" b="1" dirty="0" err="1">
                <a:solidFill>
                  <a:srgbClr val="171FE2"/>
                </a:solidFill>
              </a:rPr>
              <a:t>collector</a:t>
            </a:r>
            <a:r>
              <a:rPr lang="it-IT" sz="1600" dirty="0"/>
              <a:t>.</a:t>
            </a:r>
          </a:p>
        </p:txBody>
      </p:sp>
    </p:spTree>
    <p:extLst>
      <p:ext uri="{BB962C8B-B14F-4D97-AF65-F5344CB8AC3E}">
        <p14:creationId xmlns:p14="http://schemas.microsoft.com/office/powerpoint/2010/main" val="4039673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0A09-3FFA-6B7D-2BC3-63CEDC0DF11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11A8420-2266-F5B2-4E85-A0163B467937}"/>
              </a:ext>
            </a:extLst>
          </p:cNvPr>
          <p:cNvSpPr>
            <a:spLocks noGrp="1"/>
          </p:cNvSpPr>
          <p:nvPr>
            <p:ph type="title"/>
          </p:nvPr>
        </p:nvSpPr>
        <p:spPr>
          <a:xfrm>
            <a:off x="838200" y="831206"/>
            <a:ext cx="10515600" cy="314198"/>
          </a:xfrm>
        </p:spPr>
        <p:txBody>
          <a:bodyPr/>
          <a:lstStyle/>
          <a:p>
            <a:r>
              <a:rPr lang="it-IT" dirty="0"/>
              <a:t>SLIDE 14: Esercizio Guidato – Calcolo della Conversione di Temperatura</a:t>
            </a:r>
          </a:p>
        </p:txBody>
      </p:sp>
      <p:sp>
        <p:nvSpPr>
          <p:cNvPr id="3" name="Contenuto della lezione">
            <a:extLst>
              <a:ext uri="{FF2B5EF4-FFF2-40B4-BE49-F238E27FC236}">
                <a16:creationId xmlns:a16="http://schemas.microsoft.com/office/drawing/2014/main" id="{71F574C0-0C06-5891-C896-4F642825B94A}"/>
              </a:ext>
            </a:extLst>
          </p:cNvPr>
          <p:cNvSpPr>
            <a:spLocks noGrp="1"/>
          </p:cNvSpPr>
          <p:nvPr>
            <p:ph idx="1"/>
          </p:nvPr>
        </p:nvSpPr>
        <p:spPr>
          <a:xfrm>
            <a:off x="1317319" y="1800042"/>
            <a:ext cx="9557362" cy="4803369"/>
          </a:xfrm>
        </p:spPr>
        <p:txBody>
          <a:bodyPr/>
          <a:lstStyle/>
          <a:p>
            <a:r>
              <a:rPr lang="it-IT" dirty="0"/>
              <a:t>Traduciamo le conoscenze teoriche sui tipi di dati e sul casting in un'abilità pratica applicando una formula fisica matematica. </a:t>
            </a:r>
          </a:p>
          <a:p>
            <a:r>
              <a:rPr lang="it-IT" dirty="0"/>
              <a:t>Sviluppiamo un algoritmo nel metodo </a:t>
            </a:r>
            <a:r>
              <a:rPr lang="it-IT" dirty="0" err="1"/>
              <a:t>main</a:t>
            </a:r>
            <a:r>
              <a:rPr lang="it-IT" dirty="0"/>
              <a:t> per convertire una temperatura espressa in gradi Celsius nel corrispettivo valore Fahrenheit. </a:t>
            </a:r>
          </a:p>
          <a:p>
            <a:r>
              <a:rPr lang="it-IT" dirty="0"/>
              <a:t>La formula di riferimento è:</a:t>
            </a:r>
          </a:p>
          <a:p>
            <a:r>
              <a:rPr lang="it-IT" dirty="0">
                <a:solidFill>
                  <a:srgbClr val="171FE2"/>
                </a:solidFill>
                <a:latin typeface="Consolas" panose="020B0609020204030204" pitchFamily="49" charset="0"/>
              </a:rPr>
              <a:t>F = C * 9/5 + 32</a:t>
            </a:r>
          </a:p>
          <a:p>
            <a:endParaRPr lang="it-IT" dirty="0"/>
          </a:p>
          <a:p>
            <a:r>
              <a:rPr lang="it-IT" dirty="0"/>
              <a:t>Dichiarate una variabile celsius di tipo double assegnandole un valore iniziale a scelta (es. 25.0). </a:t>
            </a:r>
          </a:p>
          <a:p>
            <a:r>
              <a:rPr lang="it-IT" dirty="0"/>
              <a:t>Scrivete l'espressione per il calcolo memorizzando il risultato in una variabile fahrenheit.</a:t>
            </a:r>
          </a:p>
          <a:p>
            <a:r>
              <a:rPr lang="it-IT" dirty="0">
                <a:solidFill>
                  <a:srgbClr val="171FE2"/>
                </a:solidFill>
              </a:rPr>
              <a:t>Attenzione all'errore da matita rossa: se scrivete 9 / 5 senza decimali, Java eseguirà la divisione intera restituendo 1, invalidando l'intero calcolo. Dovrete scrivere 9.0 / 5.0</a:t>
            </a:r>
            <a:r>
              <a:rPr lang="it-IT" dirty="0"/>
              <a:t>.</a:t>
            </a:r>
          </a:p>
          <a:p>
            <a:r>
              <a:rPr lang="it-IT" dirty="0"/>
              <a:t>Stampate a console il report finale formattato concatenando le stringhe in modo da mostrare chiaramente l'esito della conversione fisica.</a:t>
            </a:r>
          </a:p>
        </p:txBody>
      </p:sp>
    </p:spTree>
    <p:extLst>
      <p:ext uri="{BB962C8B-B14F-4D97-AF65-F5344CB8AC3E}">
        <p14:creationId xmlns:p14="http://schemas.microsoft.com/office/powerpoint/2010/main" val="1460783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0A87-D260-A8B2-2EF2-A35B0DD2FC0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E98E0CA-F961-486D-F808-B9D046F0E95D}"/>
              </a:ext>
            </a:extLst>
          </p:cNvPr>
          <p:cNvSpPr>
            <a:spLocks noGrp="1"/>
          </p:cNvSpPr>
          <p:nvPr>
            <p:ph type="title"/>
          </p:nvPr>
        </p:nvSpPr>
        <p:spPr>
          <a:xfrm>
            <a:off x="838200" y="831206"/>
            <a:ext cx="10515600" cy="314198"/>
          </a:xfrm>
        </p:spPr>
        <p:txBody>
          <a:bodyPr/>
          <a:lstStyle/>
          <a:p>
            <a:r>
              <a:rPr lang="it-IT" dirty="0"/>
              <a:t>SLIDE 14: Esercizio Svolto</a:t>
            </a:r>
          </a:p>
        </p:txBody>
      </p:sp>
      <p:sp>
        <p:nvSpPr>
          <p:cNvPr id="3" name="Contenuto della lezione">
            <a:extLst>
              <a:ext uri="{FF2B5EF4-FFF2-40B4-BE49-F238E27FC236}">
                <a16:creationId xmlns:a16="http://schemas.microsoft.com/office/drawing/2014/main" id="{8BE15802-2F36-A234-09CE-A0AFE86FD62E}"/>
              </a:ext>
            </a:extLst>
          </p:cNvPr>
          <p:cNvSpPr>
            <a:spLocks noGrp="1"/>
          </p:cNvSpPr>
          <p:nvPr>
            <p:ph idx="1"/>
          </p:nvPr>
        </p:nvSpPr>
        <p:spPr>
          <a:xfrm>
            <a:off x="838200" y="1539692"/>
            <a:ext cx="10515600" cy="4803369"/>
          </a:xfrm>
        </p:spPr>
        <p:txBody>
          <a:bodyPr/>
          <a:lstStyle/>
          <a:p>
            <a:r>
              <a:rPr lang="it-IT" dirty="0">
                <a:solidFill>
                  <a:srgbClr val="171FE2"/>
                </a:solidFill>
                <a:latin typeface="Consolas" panose="020B0609020204030204" pitchFamily="49" charset="0"/>
              </a:rPr>
              <a:t>public class </a:t>
            </a:r>
            <a:r>
              <a:rPr lang="it-IT" dirty="0" err="1">
                <a:solidFill>
                  <a:srgbClr val="171FE2"/>
                </a:solidFill>
                <a:latin typeface="Consolas" panose="020B0609020204030204" pitchFamily="49" charset="0"/>
              </a:rPr>
              <a:t>ConversioneTemperatura</a:t>
            </a:r>
            <a:r>
              <a:rPr lang="it-IT" dirty="0">
                <a:solidFill>
                  <a:srgbClr val="171FE2"/>
                </a:solidFill>
                <a:latin typeface="Consolas" panose="020B0609020204030204" pitchFamily="49" charset="0"/>
              </a:rPr>
              <a:t> {</a:t>
            </a:r>
          </a:p>
          <a:p>
            <a:r>
              <a:rPr lang="it-IT" dirty="0">
                <a:solidFill>
                  <a:srgbClr val="171FE2"/>
                </a:solidFill>
                <a:latin typeface="Consolas" panose="020B0609020204030204" pitchFamily="49" charset="0"/>
              </a:rPr>
              <a:t>    public </a:t>
            </a:r>
            <a:r>
              <a:rPr lang="it-IT" dirty="0" err="1">
                <a:solidFill>
                  <a:srgbClr val="171FE2"/>
                </a:solidFill>
                <a:latin typeface="Consolas" panose="020B0609020204030204" pitchFamily="49" charset="0"/>
              </a:rPr>
              <a:t>static</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void</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main</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args</a:t>
            </a:r>
            <a:r>
              <a:rPr lang="it-IT" dirty="0">
                <a:solidFill>
                  <a:srgbClr val="171FE2"/>
                </a:solidFill>
                <a:latin typeface="Consolas" panose="020B0609020204030204" pitchFamily="49" charset="0"/>
              </a:rPr>
              <a:t>) {</a:t>
            </a:r>
          </a:p>
          <a:p>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 Temperatura in gradi Celsius</a:t>
            </a:r>
          </a:p>
          <a:p>
            <a:r>
              <a:rPr lang="it-IT" dirty="0">
                <a:solidFill>
                  <a:srgbClr val="171FE2"/>
                </a:solidFill>
                <a:latin typeface="Consolas" panose="020B0609020204030204" pitchFamily="49" charset="0"/>
              </a:rPr>
              <a:t>        double celsius = 25.0;</a:t>
            </a:r>
          </a:p>
          <a:p>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 Conversione in Fahrenheit</a:t>
            </a:r>
          </a:p>
          <a:p>
            <a:r>
              <a:rPr lang="it-IT" dirty="0">
                <a:solidFill>
                  <a:srgbClr val="171FE2"/>
                </a:solidFill>
                <a:latin typeface="Consolas" panose="020B0609020204030204" pitchFamily="49" charset="0"/>
              </a:rPr>
              <a:t>        double fahrenheit = celsius * (9.0 / 5.0) + 32;</a:t>
            </a:r>
          </a:p>
          <a:p>
            <a:endParaRPr lang="it-IT" dirty="0">
              <a:solidFill>
                <a:srgbClr val="171FE2"/>
              </a:solidFill>
              <a:latin typeface="Consolas" panose="020B0609020204030204" pitchFamily="49" charset="0"/>
            </a:endParaRPr>
          </a:p>
          <a:p>
            <a:r>
              <a:rPr lang="it-IT" dirty="0">
                <a:solidFill>
                  <a:srgbClr val="171FE2"/>
                </a:solidFill>
                <a:latin typeface="Consolas" panose="020B0609020204030204" pitchFamily="49" charset="0"/>
              </a:rPr>
              <a:t>        // Stampa del risultato</a:t>
            </a:r>
          </a:p>
          <a:p>
            <a:r>
              <a:rPr lang="it-IT" dirty="0">
                <a:solidFill>
                  <a:srgbClr val="171FE2"/>
                </a:solidFill>
                <a:latin typeface="Consolas" panose="020B0609020204030204" pitchFamily="49" charset="0"/>
              </a:rPr>
              <a:t>        </a:t>
            </a:r>
            <a:r>
              <a:rPr lang="it-IT" dirty="0" err="1">
                <a:solidFill>
                  <a:srgbClr val="171FE2"/>
                </a:solidFill>
                <a:latin typeface="Consolas" panose="020B0609020204030204" pitchFamily="49" charset="0"/>
              </a:rPr>
              <a:t>System.out.println</a:t>
            </a:r>
            <a:r>
              <a:rPr lang="it-IT" dirty="0">
                <a:solidFill>
                  <a:srgbClr val="171FE2"/>
                </a:solidFill>
                <a:latin typeface="Consolas" panose="020B0609020204030204" pitchFamily="49" charset="0"/>
              </a:rPr>
              <a:t>(celsius + " °C corrispondono a " + fahrenheit + " °F");</a:t>
            </a:r>
          </a:p>
          <a:p>
            <a:r>
              <a:rPr lang="it-IT" dirty="0">
                <a:solidFill>
                  <a:srgbClr val="171FE2"/>
                </a:solidFill>
                <a:latin typeface="Consolas" panose="020B0609020204030204" pitchFamily="49" charset="0"/>
              </a:rPr>
              <a:t>    }</a:t>
            </a:r>
          </a:p>
          <a:p>
            <a:r>
              <a:rPr lang="it-IT" dirty="0">
                <a:solidFill>
                  <a:srgbClr val="171FE2"/>
                </a:solidFill>
                <a:latin typeface="Consolas" panose="020B0609020204030204" pitchFamily="49" charset="0"/>
              </a:rPr>
              <a:t>}</a:t>
            </a:r>
          </a:p>
        </p:txBody>
      </p:sp>
    </p:spTree>
    <p:extLst>
      <p:ext uri="{BB962C8B-B14F-4D97-AF65-F5344CB8AC3E}">
        <p14:creationId xmlns:p14="http://schemas.microsoft.com/office/powerpoint/2010/main" val="182976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FF195-ABE6-6984-B9FD-9C7BF6C9BFD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9A57E59-0D1D-20FD-7166-E6CBB0D76E32}"/>
              </a:ext>
            </a:extLst>
          </p:cNvPr>
          <p:cNvSpPr>
            <a:spLocks noGrp="1"/>
          </p:cNvSpPr>
          <p:nvPr>
            <p:ph type="title"/>
          </p:nvPr>
        </p:nvSpPr>
        <p:spPr>
          <a:xfrm>
            <a:off x="838200" y="831206"/>
            <a:ext cx="10515600" cy="314198"/>
          </a:xfrm>
        </p:spPr>
        <p:txBody>
          <a:bodyPr/>
          <a:lstStyle/>
          <a:p>
            <a:r>
              <a:rPr lang="it-IT" dirty="0"/>
              <a:t>SLIDE 15: Input Dati da Console tramite la Classe Scanner</a:t>
            </a:r>
          </a:p>
        </p:txBody>
      </p:sp>
      <p:sp>
        <p:nvSpPr>
          <p:cNvPr id="3" name="Contenuto della lezione">
            <a:extLst>
              <a:ext uri="{FF2B5EF4-FFF2-40B4-BE49-F238E27FC236}">
                <a16:creationId xmlns:a16="http://schemas.microsoft.com/office/drawing/2014/main" id="{373F0138-A501-EC8B-1B42-7D8B21F92EAF}"/>
              </a:ext>
            </a:extLst>
          </p:cNvPr>
          <p:cNvSpPr>
            <a:spLocks noGrp="1"/>
          </p:cNvSpPr>
          <p:nvPr>
            <p:ph idx="1"/>
          </p:nvPr>
        </p:nvSpPr>
        <p:spPr>
          <a:xfrm>
            <a:off x="1317319" y="1800042"/>
            <a:ext cx="9557362" cy="4803369"/>
          </a:xfrm>
        </p:spPr>
        <p:txBody>
          <a:bodyPr/>
          <a:lstStyle/>
          <a:p>
            <a:r>
              <a:rPr lang="it-IT" dirty="0"/>
              <a:t>Per rendere i nostri programmi interattivi e non dipendenti da variabili fisse nel codice, dobbiamo imparare a leggere l'input digitato dall'utente sulla tastiera. </a:t>
            </a:r>
          </a:p>
          <a:p>
            <a:r>
              <a:rPr lang="it-IT" dirty="0"/>
              <a:t>Java mette a disposizione la classe Scanner, situata all'interno del pacchetto utility standard (</a:t>
            </a:r>
            <a:r>
              <a:rPr lang="it-IT" dirty="0" err="1"/>
              <a:t>java.util.Scanner</a:t>
            </a:r>
            <a:r>
              <a:rPr lang="it-IT" dirty="0"/>
              <a:t>). </a:t>
            </a:r>
          </a:p>
          <a:p>
            <a:r>
              <a:rPr lang="it-IT" dirty="0"/>
              <a:t>Per utilizzarla, dobbiamo importarla all'inizio del file e istanziarla nel </a:t>
            </a:r>
            <a:r>
              <a:rPr lang="it-IT" dirty="0" err="1"/>
              <a:t>main</a:t>
            </a:r>
            <a:r>
              <a:rPr lang="it-IT" dirty="0"/>
              <a:t> agganciandola al canale di ingresso del sistema: </a:t>
            </a:r>
            <a:r>
              <a:rPr lang="it-IT" dirty="0">
                <a:solidFill>
                  <a:srgbClr val="171FE2"/>
                </a:solidFill>
                <a:latin typeface="Consolas" panose="020B0609020204030204" pitchFamily="49" charset="0"/>
              </a:rPr>
              <a:t>Scanner tastiera = new Scanner(</a:t>
            </a:r>
            <a:r>
              <a:rPr lang="it-IT" dirty="0" err="1">
                <a:solidFill>
                  <a:srgbClr val="171FE2"/>
                </a:solidFill>
                <a:latin typeface="Consolas" panose="020B0609020204030204" pitchFamily="49" charset="0"/>
              </a:rPr>
              <a:t>System.in</a:t>
            </a:r>
            <a:r>
              <a:rPr lang="it-IT" dirty="0">
                <a:solidFill>
                  <a:srgbClr val="171FE2"/>
                </a:solidFill>
                <a:latin typeface="Consolas" panose="020B0609020204030204" pitchFamily="49" charset="0"/>
              </a:rPr>
              <a:t>);</a:t>
            </a:r>
            <a:r>
              <a:rPr lang="it-IT" dirty="0"/>
              <a:t>. </a:t>
            </a:r>
          </a:p>
          <a:p>
            <a:r>
              <a:rPr lang="it-IT" dirty="0"/>
              <a:t>La classe offre metodi specifici per catturare i diversi tipi di dato: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nextInt</a:t>
            </a:r>
            <a:r>
              <a:rPr lang="it-IT" dirty="0">
                <a:solidFill>
                  <a:srgbClr val="171FE2"/>
                </a:solidFill>
                <a:latin typeface="Consolas" panose="020B0609020204030204" pitchFamily="49" charset="0"/>
              </a:rPr>
              <a:t>() </a:t>
            </a:r>
            <a:r>
              <a:rPr lang="it-IT" dirty="0"/>
              <a:t>per gli interi,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nextDouble</a:t>
            </a:r>
            <a:r>
              <a:rPr lang="it-IT" dirty="0">
                <a:solidFill>
                  <a:srgbClr val="171FE2"/>
                </a:solidFill>
                <a:latin typeface="Consolas" panose="020B0609020204030204" pitchFamily="49" charset="0"/>
              </a:rPr>
              <a:t>()</a:t>
            </a:r>
            <a:r>
              <a:rPr lang="it-IT" dirty="0"/>
              <a:t> per i decimali e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nextLine</a:t>
            </a:r>
            <a:r>
              <a:rPr lang="it-IT" dirty="0">
                <a:solidFill>
                  <a:srgbClr val="171FE2"/>
                </a:solidFill>
                <a:latin typeface="Consolas" panose="020B0609020204030204" pitchFamily="49" charset="0"/>
              </a:rPr>
              <a:t>()</a:t>
            </a:r>
            <a:r>
              <a:rPr lang="it-IT" dirty="0"/>
              <a:t> per intere stringhe di testo. </a:t>
            </a:r>
          </a:p>
          <a:p>
            <a:r>
              <a:rPr lang="it-IT" dirty="0"/>
              <a:t>È fondamentale imparare a gestire la chiusura della risorsa tramite il metodo </a:t>
            </a:r>
            <a:r>
              <a:rPr lang="it-IT" dirty="0" err="1">
                <a:solidFill>
                  <a:srgbClr val="171FE2"/>
                </a:solidFill>
                <a:latin typeface="Consolas" panose="020B0609020204030204" pitchFamily="49" charset="0"/>
              </a:rPr>
              <a:t>tastiera.close</a:t>
            </a:r>
            <a:r>
              <a:rPr lang="it-IT" dirty="0">
                <a:solidFill>
                  <a:srgbClr val="171FE2"/>
                </a:solidFill>
                <a:latin typeface="Consolas" panose="020B0609020204030204" pitchFamily="49" charset="0"/>
              </a:rPr>
              <a:t>(); </a:t>
            </a:r>
            <a:r>
              <a:rPr lang="it-IT" dirty="0"/>
              <a:t>al termine del programma per evitare sprechi di risorse hardware (Resource Leak) all'interno del sistema operativo </a:t>
            </a:r>
            <a:r>
              <a:rPr lang="it-IT" dirty="0" err="1"/>
              <a:t>host</a:t>
            </a:r>
            <a:r>
              <a:rPr lang="it-IT" dirty="0"/>
              <a:t>.</a:t>
            </a:r>
          </a:p>
        </p:txBody>
      </p:sp>
    </p:spTree>
    <p:extLst>
      <p:ext uri="{BB962C8B-B14F-4D97-AF65-F5344CB8AC3E}">
        <p14:creationId xmlns:p14="http://schemas.microsoft.com/office/powerpoint/2010/main" val="1352740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3B7F-A90E-DF32-7C2F-50751C6B8B7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72FF28C-0916-3E3D-0BF6-AE3E23329851}"/>
              </a:ext>
            </a:extLst>
          </p:cNvPr>
          <p:cNvSpPr>
            <a:spLocks noGrp="1"/>
          </p:cNvSpPr>
          <p:nvPr>
            <p:ph type="title"/>
          </p:nvPr>
        </p:nvSpPr>
        <p:spPr>
          <a:xfrm>
            <a:off x="838200" y="831206"/>
            <a:ext cx="10515600" cy="314198"/>
          </a:xfrm>
        </p:spPr>
        <p:txBody>
          <a:bodyPr/>
          <a:lstStyle/>
          <a:p>
            <a:r>
              <a:rPr lang="it-IT" dirty="0"/>
              <a:t>SEZIONE 3: STRUTTURE DI CONTROLLO CONDIZIONALI E ITERATIVE (Slide 16 - 24)</a:t>
            </a:r>
            <a:br>
              <a:rPr lang="it-IT" dirty="0"/>
            </a:br>
            <a:r>
              <a:rPr lang="it-IT" dirty="0"/>
              <a:t>SLIDE 16: Unità Didattica 2 – Selezione Condizionale: </a:t>
            </a:r>
            <a:r>
              <a:rPr lang="it-IT" dirty="0" err="1"/>
              <a:t>If</a:t>
            </a:r>
            <a:r>
              <a:rPr lang="it-IT" dirty="0"/>
              <a:t>-Else </a:t>
            </a:r>
            <a:r>
              <a:rPr lang="it-IT" dirty="0" err="1"/>
              <a:t>Multivio</a:t>
            </a:r>
            <a:endParaRPr lang="it-IT" dirty="0"/>
          </a:p>
        </p:txBody>
      </p:sp>
      <p:sp>
        <p:nvSpPr>
          <p:cNvPr id="3" name="Contenuto della lezione">
            <a:extLst>
              <a:ext uri="{FF2B5EF4-FFF2-40B4-BE49-F238E27FC236}">
                <a16:creationId xmlns:a16="http://schemas.microsoft.com/office/drawing/2014/main" id="{3BAF70B3-8514-5D70-C781-10920F3F58C7}"/>
              </a:ext>
            </a:extLst>
          </p:cNvPr>
          <p:cNvSpPr>
            <a:spLocks noGrp="1"/>
          </p:cNvSpPr>
          <p:nvPr>
            <p:ph idx="1"/>
          </p:nvPr>
        </p:nvSpPr>
        <p:spPr>
          <a:xfrm>
            <a:off x="1368119" y="2219142"/>
            <a:ext cx="9557362" cy="4803369"/>
          </a:xfrm>
        </p:spPr>
        <p:txBody>
          <a:bodyPr/>
          <a:lstStyle/>
          <a:p>
            <a:r>
              <a:rPr lang="it-IT" dirty="0"/>
              <a:t>Le strutture di controllo condizionali permettono di deviare il flusso lineare di esecuzione di un programma in base al verificarsi o meno di una determinata condizione logica. </a:t>
            </a:r>
          </a:p>
          <a:p>
            <a:r>
              <a:rPr lang="it-IT" dirty="0"/>
              <a:t>La struttura fondamentale è il costrutto </a:t>
            </a:r>
            <a:r>
              <a:rPr lang="it-IT" dirty="0" err="1"/>
              <a:t>if</a:t>
            </a:r>
            <a:r>
              <a:rPr lang="it-IT" dirty="0"/>
              <a:t>, integrato eventualmente dalle clausole else </a:t>
            </a:r>
            <a:r>
              <a:rPr lang="it-IT" dirty="0" err="1"/>
              <a:t>if</a:t>
            </a:r>
            <a:r>
              <a:rPr lang="it-IT" dirty="0"/>
              <a:t> ed else. </a:t>
            </a:r>
          </a:p>
          <a:p>
            <a:r>
              <a:rPr lang="it-IT" dirty="0"/>
              <a:t>La sintassi prevede che la condizione da valutare sia inserita obbligatoriamente all'interno di parentesi tonde e debba restituire tassativamente un valore booleano. </a:t>
            </a:r>
          </a:p>
          <a:p>
            <a:r>
              <a:rPr lang="it-IT" dirty="0"/>
              <a:t>Se la condizione è vera, viene eseguito il blocco di codice delimitato dalle parentesi graffe dell' </a:t>
            </a:r>
            <a:r>
              <a:rPr lang="it-IT" dirty="0" err="1"/>
              <a:t>if</a:t>
            </a:r>
            <a:r>
              <a:rPr lang="it-IT" dirty="0"/>
              <a:t>; in caso contrario, il flusso salta ai blocchi successivi. </a:t>
            </a:r>
          </a:p>
          <a:p>
            <a:r>
              <a:rPr lang="it-IT" dirty="0"/>
              <a:t>E’ importante strutturare catene di </a:t>
            </a:r>
            <a:r>
              <a:rPr lang="it-IT" dirty="0" err="1"/>
              <a:t>if</a:t>
            </a:r>
            <a:r>
              <a:rPr lang="it-IT" dirty="0"/>
              <a:t>-else </a:t>
            </a:r>
            <a:r>
              <a:rPr lang="it-IT" dirty="0" err="1"/>
              <a:t>if</a:t>
            </a:r>
            <a:r>
              <a:rPr lang="it-IT" dirty="0"/>
              <a:t> mutuamente esclusive per classificare i dati con efficienza, evitando di far valutare al processore condizioni inutili quando una di esse è già stata precedentemente soddisfatta dal flusso.</a:t>
            </a:r>
          </a:p>
        </p:txBody>
      </p:sp>
    </p:spTree>
    <p:extLst>
      <p:ext uri="{BB962C8B-B14F-4D97-AF65-F5344CB8AC3E}">
        <p14:creationId xmlns:p14="http://schemas.microsoft.com/office/powerpoint/2010/main" val="2585875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2E156-0DE9-8501-B0AA-0C2CB4F69C1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7F983821-00F3-A9F2-606C-0E095A2F1B76}"/>
              </a:ext>
            </a:extLst>
          </p:cNvPr>
          <p:cNvSpPr>
            <a:spLocks noGrp="1"/>
          </p:cNvSpPr>
          <p:nvPr>
            <p:ph type="title"/>
          </p:nvPr>
        </p:nvSpPr>
        <p:spPr>
          <a:xfrm>
            <a:off x="838200" y="831206"/>
            <a:ext cx="10515600" cy="314198"/>
          </a:xfrm>
        </p:spPr>
        <p:txBody>
          <a:bodyPr/>
          <a:lstStyle/>
          <a:p>
            <a:r>
              <a:rPr lang="it-IT" dirty="0"/>
              <a:t>SLIDE 17: La Selezione Multipla tramite il Costrutto Switch</a:t>
            </a:r>
          </a:p>
        </p:txBody>
      </p:sp>
      <p:sp>
        <p:nvSpPr>
          <p:cNvPr id="3" name="Contenuto della lezione">
            <a:extLst>
              <a:ext uri="{FF2B5EF4-FFF2-40B4-BE49-F238E27FC236}">
                <a16:creationId xmlns:a16="http://schemas.microsoft.com/office/drawing/2014/main" id="{B93B1D1D-DB8F-8E17-643E-D3EC3DA30EC0}"/>
              </a:ext>
            </a:extLst>
          </p:cNvPr>
          <p:cNvSpPr>
            <a:spLocks noGrp="1"/>
          </p:cNvSpPr>
          <p:nvPr>
            <p:ph idx="1"/>
          </p:nvPr>
        </p:nvSpPr>
        <p:spPr>
          <a:xfrm>
            <a:off x="1317319" y="1558742"/>
            <a:ext cx="9557362" cy="4803369"/>
          </a:xfrm>
        </p:spPr>
        <p:txBody>
          <a:bodyPr/>
          <a:lstStyle/>
          <a:p>
            <a:r>
              <a:rPr lang="it-IT" dirty="0"/>
              <a:t>Quando una scelta condizionale dipende dai molteplici valori discreti che può assumere una singola variabile intera, carattere o stringa, il costrutto </a:t>
            </a:r>
            <a:r>
              <a:rPr lang="it-IT" dirty="0" err="1"/>
              <a:t>if</a:t>
            </a:r>
            <a:r>
              <a:rPr lang="it-IT" dirty="0"/>
              <a:t>-else può risultare ridondante e pesante da leggere. </a:t>
            </a:r>
          </a:p>
          <a:p>
            <a:r>
              <a:rPr lang="it-IT" dirty="0"/>
              <a:t>Java offre in questi casi il costrutto di selezione multipla switch. </a:t>
            </a:r>
          </a:p>
          <a:p>
            <a:r>
              <a:rPr lang="it-IT" dirty="0"/>
              <a:t>Lo switch valuta la variabile ed esegue il blocco contrassegnato dal case corrispondente. </a:t>
            </a:r>
          </a:p>
          <a:p>
            <a:r>
              <a:rPr lang="it-IT" dirty="0"/>
              <a:t>Regola fondamentale della sintassi è l'inserimento dell'istruzione </a:t>
            </a:r>
            <a:r>
              <a:rPr lang="it-IT" dirty="0">
                <a:solidFill>
                  <a:srgbClr val="171FE2"/>
                </a:solidFill>
                <a:latin typeface="Consolas" panose="020B0609020204030204" pitchFamily="49" charset="0"/>
              </a:rPr>
              <a:t>break;</a:t>
            </a:r>
            <a:r>
              <a:rPr lang="it-IT" dirty="0"/>
              <a:t> al termine di ogni singolo caso. </a:t>
            </a:r>
          </a:p>
          <a:p>
            <a:r>
              <a:rPr lang="it-IT" dirty="0"/>
              <a:t>Se il break viene omesso, l'esecuzione continuerà a cascata (</a:t>
            </a:r>
            <a:r>
              <a:rPr lang="it-IT" dirty="0" err="1"/>
              <a:t>fall-through</a:t>
            </a:r>
            <a:r>
              <a:rPr lang="it-IT" dirty="0"/>
              <a:t>) sui casi successivi, generando bug logici complessi da individuare. </a:t>
            </a:r>
          </a:p>
          <a:p>
            <a:r>
              <a:rPr lang="it-IT" dirty="0"/>
              <a:t>È sempre buona norma ingegneristica includere la clausola finale default:, che agisce come paracadute intercettando tutti i valori non esplicitamente previsti dai casi precedenti, garantendo la totale copertura degli input del software.</a:t>
            </a:r>
          </a:p>
        </p:txBody>
      </p:sp>
    </p:spTree>
    <p:extLst>
      <p:ext uri="{BB962C8B-B14F-4D97-AF65-F5344CB8AC3E}">
        <p14:creationId xmlns:p14="http://schemas.microsoft.com/office/powerpoint/2010/main" val="3494267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4F8F-F0FE-5CC2-43A6-4E085AF6753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BE74F1F-181F-B04D-DDA7-8CEAD387C11C}"/>
              </a:ext>
            </a:extLst>
          </p:cNvPr>
          <p:cNvSpPr>
            <a:spLocks noGrp="1"/>
          </p:cNvSpPr>
          <p:nvPr>
            <p:ph type="title"/>
          </p:nvPr>
        </p:nvSpPr>
        <p:spPr>
          <a:xfrm>
            <a:off x="838200" y="831206"/>
            <a:ext cx="10515600" cy="314198"/>
          </a:xfrm>
        </p:spPr>
        <p:txBody>
          <a:bodyPr/>
          <a:lstStyle/>
          <a:p>
            <a:r>
              <a:rPr lang="it-IT" dirty="0"/>
              <a:t>SLIDE 18: Il Concetto di Iterazione e il Ciclo </a:t>
            </a:r>
            <a:r>
              <a:rPr lang="it-IT" dirty="0" err="1"/>
              <a:t>While</a:t>
            </a:r>
            <a:r>
              <a:rPr lang="it-IT" dirty="0"/>
              <a:t> (</a:t>
            </a:r>
            <a:r>
              <a:rPr lang="it-IT" dirty="0" err="1"/>
              <a:t>Pre</a:t>
            </a:r>
            <a:r>
              <a:rPr lang="it-IT" dirty="0"/>
              <a:t>-condizionale)</a:t>
            </a:r>
          </a:p>
        </p:txBody>
      </p:sp>
      <p:sp>
        <p:nvSpPr>
          <p:cNvPr id="3" name="Contenuto della lezione">
            <a:extLst>
              <a:ext uri="{FF2B5EF4-FFF2-40B4-BE49-F238E27FC236}">
                <a16:creationId xmlns:a16="http://schemas.microsoft.com/office/drawing/2014/main" id="{43BB7F50-13C8-E0D8-1697-BE92317090B2}"/>
              </a:ext>
            </a:extLst>
          </p:cNvPr>
          <p:cNvSpPr>
            <a:spLocks noGrp="1"/>
          </p:cNvSpPr>
          <p:nvPr>
            <p:ph idx="1"/>
          </p:nvPr>
        </p:nvSpPr>
        <p:spPr>
          <a:xfrm>
            <a:off x="1317319" y="1558742"/>
            <a:ext cx="9557362" cy="4803369"/>
          </a:xfrm>
        </p:spPr>
        <p:txBody>
          <a:bodyPr/>
          <a:lstStyle/>
          <a:p>
            <a:r>
              <a:rPr lang="it-IT" dirty="0"/>
              <a:t>L'iterazione (o ciclo) è la struttura di controllo che permette di ripetere l'esecuzione di un blocco di codice per un numero determinato o indeterminato di volte, finché una condizione logica di controllo rimane vera. </a:t>
            </a:r>
          </a:p>
          <a:p>
            <a:r>
              <a:rPr lang="it-IT" dirty="0"/>
              <a:t>Il ciclo </a:t>
            </a:r>
            <a:r>
              <a:rPr lang="it-IT" dirty="0" err="1"/>
              <a:t>while</a:t>
            </a:r>
            <a:r>
              <a:rPr lang="it-IT" dirty="0"/>
              <a:t> è una struttura </a:t>
            </a:r>
            <a:r>
              <a:rPr lang="it-IT" dirty="0" err="1"/>
              <a:t>pre</a:t>
            </a:r>
            <a:r>
              <a:rPr lang="it-IT" dirty="0"/>
              <a:t>-condizionale: la condizione viene valutata prima di ogni ciclo. Se la condizione si rivela falsa fin dall'inizio, il corpo del ciclo non verrà eseguito nemmeno una volta. </a:t>
            </a:r>
          </a:p>
          <a:p>
            <a:r>
              <a:rPr lang="it-IT" dirty="0"/>
              <a:t>Gli studenti in laboratorio devono prestare massima attenzione alla logica di aggiornamento delle variabili di controllo all'interno del corpo del ciclo. Se la variabile non muta mai il proprio stato verso la condizione di arresto, il ciclo si trasformerà in un "loop infinito", bloccando l'applicazione in uno stato di stallo totale e saturando le risorse della CPU.</a:t>
            </a:r>
          </a:p>
        </p:txBody>
      </p:sp>
    </p:spTree>
    <p:extLst>
      <p:ext uri="{BB962C8B-B14F-4D97-AF65-F5344CB8AC3E}">
        <p14:creationId xmlns:p14="http://schemas.microsoft.com/office/powerpoint/2010/main" val="3557374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D55DA-9C85-C0E0-8773-9CBA168ED7F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C6A5A16-FC8B-2506-DE8A-4C3E3D7609DF}"/>
              </a:ext>
            </a:extLst>
          </p:cNvPr>
          <p:cNvSpPr>
            <a:spLocks noGrp="1"/>
          </p:cNvSpPr>
          <p:nvPr>
            <p:ph type="title"/>
          </p:nvPr>
        </p:nvSpPr>
        <p:spPr>
          <a:xfrm>
            <a:off x="838200" y="831206"/>
            <a:ext cx="10515600" cy="314198"/>
          </a:xfrm>
        </p:spPr>
        <p:txBody>
          <a:bodyPr/>
          <a:lstStyle/>
          <a:p>
            <a:r>
              <a:rPr lang="it-IT" dirty="0"/>
              <a:t>SLIDE 19: Il Ciclo Do-</a:t>
            </a:r>
            <a:r>
              <a:rPr lang="it-IT" dirty="0" err="1"/>
              <a:t>While</a:t>
            </a:r>
            <a:r>
              <a:rPr lang="it-IT" dirty="0"/>
              <a:t> (Post-condizionale)</a:t>
            </a:r>
          </a:p>
        </p:txBody>
      </p:sp>
      <p:sp>
        <p:nvSpPr>
          <p:cNvPr id="3" name="Contenuto della lezione">
            <a:extLst>
              <a:ext uri="{FF2B5EF4-FFF2-40B4-BE49-F238E27FC236}">
                <a16:creationId xmlns:a16="http://schemas.microsoft.com/office/drawing/2014/main" id="{91F85538-7E9A-870E-9597-26BB3A2B5482}"/>
              </a:ext>
            </a:extLst>
          </p:cNvPr>
          <p:cNvSpPr>
            <a:spLocks noGrp="1"/>
          </p:cNvSpPr>
          <p:nvPr>
            <p:ph idx="1"/>
          </p:nvPr>
        </p:nvSpPr>
        <p:spPr>
          <a:xfrm>
            <a:off x="1317319" y="1558742"/>
            <a:ext cx="9557362" cy="4803369"/>
          </a:xfrm>
        </p:spPr>
        <p:txBody>
          <a:bodyPr/>
          <a:lstStyle/>
          <a:p>
            <a:r>
              <a:rPr lang="it-IT" dirty="0"/>
              <a:t>A differenza del costrutto appena analizzato, il ciclo do-</a:t>
            </a:r>
            <a:r>
              <a:rPr lang="it-IT" dirty="0" err="1"/>
              <a:t>while</a:t>
            </a:r>
            <a:r>
              <a:rPr lang="it-IT" dirty="0"/>
              <a:t> è una struttura di controllo post-condizionale. </a:t>
            </a:r>
          </a:p>
          <a:p>
            <a:r>
              <a:rPr lang="it-IT" dirty="0"/>
              <a:t>La verifica della condizione logica avviene infatti al fondo della struttura, dopo l'esecuzione del blocco di codice. </a:t>
            </a:r>
          </a:p>
          <a:p>
            <a:r>
              <a:rPr lang="it-IT" dirty="0"/>
              <a:t>Questa sottile differenza architetturale </a:t>
            </a:r>
            <a:r>
              <a:rPr lang="it-IT" dirty="0">
                <a:solidFill>
                  <a:srgbClr val="171FE2"/>
                </a:solidFill>
              </a:rPr>
              <a:t>garantisce che il corpo del ciclo venga eseguito obbligatoriamente almeno una volta</a:t>
            </a:r>
            <a:r>
              <a:rPr lang="it-IT" dirty="0"/>
              <a:t>, indipendentemente dal valore di verità della condizione di controllo. </a:t>
            </a:r>
          </a:p>
          <a:p>
            <a:r>
              <a:rPr lang="it-IT" dirty="0"/>
              <a:t>Il do-</a:t>
            </a:r>
            <a:r>
              <a:rPr lang="it-IT" dirty="0" err="1"/>
              <a:t>while</a:t>
            </a:r>
            <a:r>
              <a:rPr lang="it-IT" dirty="0"/>
              <a:t> trova la sua applicazione naturale e perfetta nei sottomenu di interazione utente e nei sistemi di validazione dell'input: il programma richiede l'inserimento di un dato "almeno una volta" e continua a </a:t>
            </a:r>
            <a:r>
              <a:rPr lang="it-IT" dirty="0" err="1"/>
              <a:t>ciclare</a:t>
            </a:r>
            <a:r>
              <a:rPr lang="it-IT" dirty="0"/>
              <a:t> reiterando la richiesta solo se l'utente digita un valore non conforme ai parametri attesi.</a:t>
            </a:r>
          </a:p>
        </p:txBody>
      </p:sp>
    </p:spTree>
    <p:extLst>
      <p:ext uri="{BB962C8B-B14F-4D97-AF65-F5344CB8AC3E}">
        <p14:creationId xmlns:p14="http://schemas.microsoft.com/office/powerpoint/2010/main" val="2926590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C559D-BDC8-2FE5-4A6E-5AA22198D2E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E30E587-7C93-D947-3B5F-30821AF8586F}"/>
              </a:ext>
            </a:extLst>
          </p:cNvPr>
          <p:cNvSpPr>
            <a:spLocks noGrp="1"/>
          </p:cNvSpPr>
          <p:nvPr>
            <p:ph type="title"/>
          </p:nvPr>
        </p:nvSpPr>
        <p:spPr>
          <a:xfrm>
            <a:off x="838200" y="831206"/>
            <a:ext cx="10515600" cy="314198"/>
          </a:xfrm>
        </p:spPr>
        <p:txBody>
          <a:bodyPr/>
          <a:lstStyle/>
          <a:p>
            <a:r>
              <a:rPr lang="it-IT" dirty="0"/>
              <a:t>SLIDE 20: Il Ciclo For (Iterazione Definita o Enumerativa)</a:t>
            </a:r>
          </a:p>
        </p:txBody>
      </p:sp>
      <p:sp>
        <p:nvSpPr>
          <p:cNvPr id="3" name="Contenuto della lezione">
            <a:extLst>
              <a:ext uri="{FF2B5EF4-FFF2-40B4-BE49-F238E27FC236}">
                <a16:creationId xmlns:a16="http://schemas.microsoft.com/office/drawing/2014/main" id="{B0E4C59E-B344-5B21-F6D8-D96A8D0FAF26}"/>
              </a:ext>
            </a:extLst>
          </p:cNvPr>
          <p:cNvSpPr>
            <a:spLocks noGrp="1"/>
          </p:cNvSpPr>
          <p:nvPr>
            <p:ph idx="1"/>
          </p:nvPr>
        </p:nvSpPr>
        <p:spPr>
          <a:xfrm>
            <a:off x="1317319" y="1558742"/>
            <a:ext cx="9557362" cy="4803369"/>
          </a:xfrm>
        </p:spPr>
        <p:txBody>
          <a:bodyPr/>
          <a:lstStyle/>
          <a:p>
            <a:r>
              <a:rPr lang="it-IT" dirty="0"/>
              <a:t>Quando il numero di ripetizioni richieste da un algoritmo è noto a priori prima dell'ingresso nel ciclo (iterazione definita), il costrutto più elegante ed efficiente offerto da Java è il ciclo for. </a:t>
            </a:r>
          </a:p>
          <a:p>
            <a:r>
              <a:rPr lang="it-IT" dirty="0"/>
              <a:t>La sintassi del for concentra all'interno delle sue parentesi tonde, separate da due punti e virgola, i tre elementi cardine della gestione iterativa: l'inizializzazione della variabile contatore (es. </a:t>
            </a:r>
            <a:r>
              <a:rPr lang="it-IT" dirty="0" err="1"/>
              <a:t>int</a:t>
            </a:r>
            <a:r>
              <a:rPr lang="it-IT" dirty="0"/>
              <a:t> i = 0), la condizione di permanenza nel ciclo (es. i &lt; 10) e l'espressione di incremento o aggiornamento del contatore al termine di ogni turno (es. i++). </a:t>
            </a:r>
          </a:p>
          <a:p>
            <a:r>
              <a:rPr lang="it-IT" dirty="0"/>
              <a:t>Lo scope (la validità) della variabile contatore dichiarata all'interno del for è limitato al ciclo stesso: la variabile nasce con il ciclo e viene deallocata dallo </a:t>
            </a:r>
            <a:r>
              <a:rPr lang="it-IT" dirty="0" err="1"/>
              <a:t>Stack</a:t>
            </a:r>
            <a:r>
              <a:rPr lang="it-IT" dirty="0"/>
              <a:t> di memoria immediatamente al suo termine, ottimizzando l'uso delle risorse complessive.</a:t>
            </a:r>
          </a:p>
        </p:txBody>
      </p:sp>
    </p:spTree>
    <p:extLst>
      <p:ext uri="{BB962C8B-B14F-4D97-AF65-F5344CB8AC3E}">
        <p14:creationId xmlns:p14="http://schemas.microsoft.com/office/powerpoint/2010/main" val="24772239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E1C1F-FC69-51DD-1FBE-E2FEADAAFF9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BD0B91C-6C50-DAA3-DED8-6A6770B8525A}"/>
              </a:ext>
            </a:extLst>
          </p:cNvPr>
          <p:cNvSpPr>
            <a:spLocks noGrp="1"/>
          </p:cNvSpPr>
          <p:nvPr>
            <p:ph type="title"/>
          </p:nvPr>
        </p:nvSpPr>
        <p:spPr>
          <a:xfrm>
            <a:off x="838200" y="831206"/>
            <a:ext cx="10515600" cy="314198"/>
          </a:xfrm>
        </p:spPr>
        <p:txBody>
          <a:bodyPr/>
          <a:lstStyle/>
          <a:p>
            <a:r>
              <a:rPr lang="it-IT" dirty="0"/>
              <a:t>SLIDE 21: Esercizio Guidato – Validazione del Voto Scolastico</a:t>
            </a:r>
          </a:p>
        </p:txBody>
      </p:sp>
      <p:sp>
        <p:nvSpPr>
          <p:cNvPr id="3" name="Contenuto della lezione">
            <a:extLst>
              <a:ext uri="{FF2B5EF4-FFF2-40B4-BE49-F238E27FC236}">
                <a16:creationId xmlns:a16="http://schemas.microsoft.com/office/drawing/2014/main" id="{F8C82085-3299-5854-9778-E7D9C442C8D4}"/>
              </a:ext>
            </a:extLst>
          </p:cNvPr>
          <p:cNvSpPr>
            <a:spLocks noGrp="1"/>
          </p:cNvSpPr>
          <p:nvPr>
            <p:ph idx="1"/>
          </p:nvPr>
        </p:nvSpPr>
        <p:spPr>
          <a:xfrm>
            <a:off x="1317319" y="1558742"/>
            <a:ext cx="9557362" cy="4803369"/>
          </a:xfrm>
        </p:spPr>
        <p:txBody>
          <a:bodyPr/>
          <a:lstStyle/>
          <a:p>
            <a:r>
              <a:rPr lang="it-IT" dirty="0"/>
              <a:t>Sviluppiamo un'abilità di controllo combinando lo strumento di lettura tastiera con le strutture iterative. </a:t>
            </a:r>
          </a:p>
          <a:p>
            <a:r>
              <a:rPr lang="it-IT" dirty="0"/>
              <a:t>Scriviamo un algoritmo che richieda a un docente l'inserimento del voto conseguito da uno studente in una verifica di Informatica. </a:t>
            </a:r>
          </a:p>
          <a:p>
            <a:r>
              <a:rPr lang="it-IT" dirty="0"/>
              <a:t>Sappiamo che per legge un voto scolastico valido deve essere strettamente compreso nel range numerico tra 2 e 10. </a:t>
            </a:r>
          </a:p>
          <a:p>
            <a:r>
              <a:rPr lang="it-IT" dirty="0"/>
              <a:t>Utilizzate il costrutto do-</a:t>
            </a:r>
            <a:r>
              <a:rPr lang="it-IT" dirty="0" err="1"/>
              <a:t>while</a:t>
            </a:r>
            <a:r>
              <a:rPr lang="it-IT" dirty="0"/>
              <a:t> per proteggere l'input: il programma deve continuare a richiedere l'inserimento del dato finché l'utente inserisce numeri errati (es. un voto pari a 12 o a -1). </a:t>
            </a:r>
          </a:p>
          <a:p>
            <a:r>
              <a:rPr lang="it-IT" dirty="0"/>
              <a:t>Una volta ottenuto un voto valido, uscite dal ciclo e utilizzate una struttura </a:t>
            </a:r>
            <a:r>
              <a:rPr lang="it-IT" dirty="0" err="1"/>
              <a:t>if</a:t>
            </a:r>
            <a:r>
              <a:rPr lang="it-IT" dirty="0"/>
              <a:t>-else per stampare a console se lo studente è "SUFFICIENTE" (voto maggiore o uguale a 6) o "INSUFFICIENTI" (voto inferiore a 6).</a:t>
            </a:r>
          </a:p>
        </p:txBody>
      </p:sp>
    </p:spTree>
    <p:extLst>
      <p:ext uri="{BB962C8B-B14F-4D97-AF65-F5344CB8AC3E}">
        <p14:creationId xmlns:p14="http://schemas.microsoft.com/office/powerpoint/2010/main" val="2237636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09BF-E26B-FF4B-D715-9512F921471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D641253-DB7D-CD91-9631-4826C5D4132F}"/>
              </a:ext>
            </a:extLst>
          </p:cNvPr>
          <p:cNvSpPr>
            <a:spLocks noGrp="1"/>
          </p:cNvSpPr>
          <p:nvPr>
            <p:ph type="title"/>
          </p:nvPr>
        </p:nvSpPr>
        <p:spPr>
          <a:xfrm>
            <a:off x="838200" y="831206"/>
            <a:ext cx="10515600" cy="314198"/>
          </a:xfrm>
        </p:spPr>
        <p:txBody>
          <a:bodyPr/>
          <a:lstStyle/>
          <a:p>
            <a:r>
              <a:rPr lang="it-IT" dirty="0"/>
              <a:t>SLIDE 22: Controllo del Flusso Avanzato: Break e Continue</a:t>
            </a:r>
          </a:p>
        </p:txBody>
      </p:sp>
      <p:sp>
        <p:nvSpPr>
          <p:cNvPr id="3" name="Contenuto della lezione">
            <a:extLst>
              <a:ext uri="{FF2B5EF4-FFF2-40B4-BE49-F238E27FC236}">
                <a16:creationId xmlns:a16="http://schemas.microsoft.com/office/drawing/2014/main" id="{4AD19831-F111-AC63-DFBC-87A029E1BB3E}"/>
              </a:ext>
            </a:extLst>
          </p:cNvPr>
          <p:cNvSpPr>
            <a:spLocks noGrp="1"/>
          </p:cNvSpPr>
          <p:nvPr>
            <p:ph idx="1"/>
          </p:nvPr>
        </p:nvSpPr>
        <p:spPr>
          <a:xfrm>
            <a:off x="1317319" y="1558742"/>
            <a:ext cx="9557362" cy="4803369"/>
          </a:xfrm>
        </p:spPr>
        <p:txBody>
          <a:bodyPr/>
          <a:lstStyle/>
          <a:p>
            <a:r>
              <a:rPr lang="it-IT" dirty="0"/>
              <a:t>Java mette a disposizione due parole chiave speciali per alterare il normale comportamento interno dei cicli operando direttamente sul flusso: </a:t>
            </a:r>
            <a:r>
              <a:rPr lang="it-IT" b="1" dirty="0">
                <a:solidFill>
                  <a:srgbClr val="171FE2"/>
                </a:solidFill>
              </a:rPr>
              <a:t>break e continue</a:t>
            </a:r>
            <a:r>
              <a:rPr lang="it-IT" dirty="0"/>
              <a:t>.</a:t>
            </a:r>
          </a:p>
          <a:p>
            <a:pPr marL="285750" indent="-285750">
              <a:buFont typeface="Arial" panose="020B0604020202020204" pitchFamily="34" charset="0"/>
              <a:buChar char="•"/>
            </a:pPr>
            <a:r>
              <a:rPr lang="it-IT" dirty="0"/>
              <a:t>Abbiamo già incontrato </a:t>
            </a:r>
            <a:r>
              <a:rPr lang="it-IT" dirty="0">
                <a:solidFill>
                  <a:srgbClr val="171FE2"/>
                </a:solidFill>
              </a:rPr>
              <a:t>il break </a:t>
            </a:r>
            <a:r>
              <a:rPr lang="it-IT" dirty="0"/>
              <a:t>nello switch, ma all'interno di un ciclo (for o </a:t>
            </a:r>
            <a:r>
              <a:rPr lang="it-IT" dirty="0" err="1"/>
              <a:t>while</a:t>
            </a:r>
            <a:r>
              <a:rPr lang="it-IT" dirty="0"/>
              <a:t>) esso </a:t>
            </a:r>
            <a:r>
              <a:rPr lang="it-IT" dirty="0">
                <a:solidFill>
                  <a:srgbClr val="171FE2"/>
                </a:solidFill>
              </a:rPr>
              <a:t>provoca l'interruzione immediata e forzata del ciclo stesso</a:t>
            </a:r>
            <a:r>
              <a:rPr lang="it-IT" dirty="0"/>
              <a:t>, facendo saltare l'esecuzione alla prima riga di codice utile successiva alla struttura iterativa.</a:t>
            </a:r>
          </a:p>
          <a:p>
            <a:pPr marL="285750" indent="-285750">
              <a:buFont typeface="Arial" panose="020B0604020202020204" pitchFamily="34" charset="0"/>
              <a:buChar char="•"/>
            </a:pPr>
            <a:r>
              <a:rPr lang="it-IT" dirty="0"/>
              <a:t>La parola chiave </a:t>
            </a:r>
            <a:r>
              <a:rPr lang="it-IT" dirty="0">
                <a:solidFill>
                  <a:srgbClr val="171FE2"/>
                </a:solidFill>
              </a:rPr>
              <a:t>continue</a:t>
            </a:r>
            <a:r>
              <a:rPr lang="it-IT" dirty="0"/>
              <a:t>, invece, non interrompe l'intero ciclo, ma </a:t>
            </a:r>
            <a:r>
              <a:rPr lang="it-IT" dirty="0">
                <a:solidFill>
                  <a:srgbClr val="171FE2"/>
                </a:solidFill>
              </a:rPr>
              <a:t>interrompe esclusivamente il turno di iterazione corrente</a:t>
            </a:r>
            <a:r>
              <a:rPr lang="it-IT" dirty="0"/>
              <a:t>, saltando a piè pari le istruzioni rimanenti nel corpo del ciclo e forzando il passaggio immediato alla successiva valutazione della condizione o all'incremento del contatore. </a:t>
            </a:r>
          </a:p>
          <a:p>
            <a:r>
              <a:rPr lang="it-IT" dirty="0"/>
              <a:t>Ingegneristicamente vanno usati con cautela per non compromettere la leggibilità dell'algoritmo.</a:t>
            </a:r>
          </a:p>
        </p:txBody>
      </p:sp>
    </p:spTree>
    <p:extLst>
      <p:ext uri="{BB962C8B-B14F-4D97-AF65-F5344CB8AC3E}">
        <p14:creationId xmlns:p14="http://schemas.microsoft.com/office/powerpoint/2010/main" val="1320393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2D4F3-74FF-2126-A7B1-04F666BF032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128C2F6-AD53-7DA3-6BFA-1D8E18A767FA}"/>
              </a:ext>
            </a:extLst>
          </p:cNvPr>
          <p:cNvSpPr>
            <a:spLocks noGrp="1"/>
          </p:cNvSpPr>
          <p:nvPr>
            <p:ph type="title"/>
          </p:nvPr>
        </p:nvSpPr>
        <p:spPr>
          <a:xfrm>
            <a:off x="838200" y="831206"/>
            <a:ext cx="10515600" cy="314198"/>
          </a:xfrm>
        </p:spPr>
        <p:txBody>
          <a:bodyPr/>
          <a:lstStyle/>
          <a:p>
            <a:r>
              <a:rPr lang="it-IT" dirty="0"/>
              <a:t>SLIDE 23: Cicli Annidati e Algoritmi di Visualizzazione Grafica</a:t>
            </a:r>
          </a:p>
        </p:txBody>
      </p:sp>
      <p:sp>
        <p:nvSpPr>
          <p:cNvPr id="3" name="Contenuto della lezione">
            <a:extLst>
              <a:ext uri="{FF2B5EF4-FFF2-40B4-BE49-F238E27FC236}">
                <a16:creationId xmlns:a16="http://schemas.microsoft.com/office/drawing/2014/main" id="{1B94B15C-C7D0-F385-1C06-4E1A8DD68D28}"/>
              </a:ext>
            </a:extLst>
          </p:cNvPr>
          <p:cNvSpPr>
            <a:spLocks noGrp="1"/>
          </p:cNvSpPr>
          <p:nvPr>
            <p:ph idx="1"/>
          </p:nvPr>
        </p:nvSpPr>
        <p:spPr>
          <a:xfrm>
            <a:off x="1317319" y="1558742"/>
            <a:ext cx="9557362" cy="4803369"/>
          </a:xfrm>
        </p:spPr>
        <p:txBody>
          <a:bodyPr/>
          <a:lstStyle/>
          <a:p>
            <a:r>
              <a:rPr lang="it-IT" dirty="0"/>
              <a:t>Un concetto cruciale nei laboratori è l'annidamento dei cicli (un ciclo inserito all'interno del corpo di un altro ciclo). </a:t>
            </a:r>
          </a:p>
          <a:p>
            <a:endParaRPr lang="it-IT" dirty="0"/>
          </a:p>
          <a:p>
            <a:r>
              <a:rPr lang="it-IT" dirty="0">
                <a:solidFill>
                  <a:srgbClr val="171FE2"/>
                </a:solidFill>
              </a:rPr>
              <a:t>Questa struttura è fondamentale per operare su coordinate bidimensionali, matrici o griglie di dati</a:t>
            </a:r>
            <a:r>
              <a:rPr lang="it-IT" dirty="0"/>
              <a:t>. </a:t>
            </a:r>
          </a:p>
          <a:p>
            <a:endParaRPr lang="it-IT" dirty="0"/>
          </a:p>
          <a:p>
            <a:r>
              <a:rPr lang="it-IT" dirty="0"/>
              <a:t>Quando due cicli sono annidati, per ogni singola iterazione del ciclo più esterno (contatore i), il ciclo più interno (contatore j) viene eseguito completamente per tutta la sua durata. </a:t>
            </a:r>
          </a:p>
        </p:txBody>
      </p:sp>
    </p:spTree>
    <p:extLst>
      <p:ext uri="{BB962C8B-B14F-4D97-AF65-F5344CB8AC3E}">
        <p14:creationId xmlns:p14="http://schemas.microsoft.com/office/powerpoint/2010/main" val="196786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AE3D1-46BE-95E9-A4B1-144FC1DF893D}"/>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D6C78E0-DAA1-B96C-300F-B2C927A59F57}"/>
              </a:ext>
            </a:extLst>
          </p:cNvPr>
          <p:cNvSpPr>
            <a:spLocks noGrp="1"/>
          </p:cNvSpPr>
          <p:nvPr>
            <p:ph type="title"/>
          </p:nvPr>
        </p:nvSpPr>
        <p:spPr>
          <a:xfrm>
            <a:off x="838200" y="831206"/>
            <a:ext cx="10515600" cy="314198"/>
          </a:xfrm>
        </p:spPr>
        <p:txBody>
          <a:bodyPr/>
          <a:lstStyle/>
          <a:p>
            <a:r>
              <a:rPr lang="it-IT" dirty="0"/>
              <a:t>SLIDE 24: Array Monodimensionali (Vettori) come Strutture Dati Statiche</a:t>
            </a:r>
          </a:p>
        </p:txBody>
      </p:sp>
      <p:sp>
        <p:nvSpPr>
          <p:cNvPr id="3" name="Contenuto della lezione">
            <a:extLst>
              <a:ext uri="{FF2B5EF4-FFF2-40B4-BE49-F238E27FC236}">
                <a16:creationId xmlns:a16="http://schemas.microsoft.com/office/drawing/2014/main" id="{C21BE060-0D88-8C60-DD43-F937AD5999A0}"/>
              </a:ext>
            </a:extLst>
          </p:cNvPr>
          <p:cNvSpPr>
            <a:spLocks noGrp="1"/>
          </p:cNvSpPr>
          <p:nvPr>
            <p:ph idx="1"/>
          </p:nvPr>
        </p:nvSpPr>
        <p:spPr>
          <a:xfrm>
            <a:off x="1317319" y="1558742"/>
            <a:ext cx="9557362" cy="4803369"/>
          </a:xfrm>
        </p:spPr>
        <p:txBody>
          <a:bodyPr/>
          <a:lstStyle/>
          <a:p>
            <a:r>
              <a:rPr lang="it-IT" dirty="0"/>
              <a:t>Fino ad ora abbiamo memorizzato un singolo valore all'interno di ciascuna variabile.</a:t>
            </a:r>
          </a:p>
          <a:p>
            <a:r>
              <a:rPr lang="it-IT" dirty="0"/>
              <a:t>Quando sorge l'esigenza di gestire collezioni di dati omogenei dello stesso tipo (es. i voti di una classe), si utilizzano gli Array (o vettori). </a:t>
            </a:r>
          </a:p>
          <a:p>
            <a:r>
              <a:rPr lang="it-IT" dirty="0"/>
              <a:t>In Java, un array è una struttura dati statica e sequenziale: </a:t>
            </a:r>
          </a:p>
          <a:p>
            <a:pPr marL="285750" indent="-285750">
              <a:buFont typeface="Arial" panose="020B0604020202020204" pitchFamily="34" charset="0"/>
              <a:buChar char="•"/>
            </a:pPr>
            <a:r>
              <a:rPr lang="it-IT" b="1" dirty="0">
                <a:solidFill>
                  <a:srgbClr val="171FE2"/>
                </a:solidFill>
              </a:rPr>
              <a:t>statica</a:t>
            </a:r>
            <a:r>
              <a:rPr lang="it-IT" dirty="0"/>
              <a:t> perché la sua dimensione (il numero di celle) deve essere determinata tassativamente al momento della creazione tramite l'operatore new (es. </a:t>
            </a:r>
            <a:r>
              <a:rPr lang="it-IT" dirty="0" err="1"/>
              <a:t>int</a:t>
            </a:r>
            <a:r>
              <a:rPr lang="it-IT" dirty="0"/>
              <a:t>[] voti = new </a:t>
            </a:r>
            <a:r>
              <a:rPr lang="it-IT" dirty="0" err="1"/>
              <a:t>int</a:t>
            </a:r>
            <a:r>
              <a:rPr lang="it-IT" dirty="0"/>
              <a:t>[5];) e non può più essere espansa o ridotta nel corso dell'esecuzione; </a:t>
            </a:r>
          </a:p>
          <a:p>
            <a:pPr marL="285750" indent="-285750">
              <a:buFont typeface="Arial" panose="020B0604020202020204" pitchFamily="34" charset="0"/>
              <a:buChar char="•"/>
            </a:pPr>
            <a:r>
              <a:rPr lang="it-IT" b="1" dirty="0">
                <a:solidFill>
                  <a:srgbClr val="171FE2"/>
                </a:solidFill>
              </a:rPr>
              <a:t>sequenziale</a:t>
            </a:r>
            <a:r>
              <a:rPr lang="it-IT" dirty="0"/>
              <a:t> perché occupa celle di memoria contigue. Ciascuna cella è accessibile istantaneamente tramite un indice numerico intero. </a:t>
            </a:r>
          </a:p>
          <a:p>
            <a:r>
              <a:rPr lang="it-IT" dirty="0"/>
              <a:t>Regola ferrea della programmazione: l'indicizzazione degli array in Java parte sempre dallo zero. </a:t>
            </a:r>
          </a:p>
          <a:p>
            <a:r>
              <a:rPr lang="it-IT" dirty="0"/>
              <a:t>Un array di 5 elementi avrà indici validi da 0 a 4; tentare di accedere all'indice 5 causerà un crash di sistema.</a:t>
            </a:r>
          </a:p>
        </p:txBody>
      </p:sp>
    </p:spTree>
    <p:extLst>
      <p:ext uri="{BB962C8B-B14F-4D97-AF65-F5344CB8AC3E}">
        <p14:creationId xmlns:p14="http://schemas.microsoft.com/office/powerpoint/2010/main" val="3721339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6CB4B-B4ED-21F9-5705-7DE474E739C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FF8DED4-06B7-3630-0AB1-52A0D317E74A}"/>
              </a:ext>
            </a:extLst>
          </p:cNvPr>
          <p:cNvSpPr>
            <a:spLocks noGrp="1"/>
          </p:cNvSpPr>
          <p:nvPr>
            <p:ph type="title"/>
          </p:nvPr>
        </p:nvSpPr>
        <p:spPr>
          <a:xfrm>
            <a:off x="838200" y="831206"/>
            <a:ext cx="10515600" cy="314198"/>
          </a:xfrm>
        </p:spPr>
        <p:txBody>
          <a:bodyPr/>
          <a:lstStyle/>
          <a:p>
            <a:r>
              <a:rPr lang="it-IT" dirty="0"/>
              <a:t>SEZIONE 4: ELABORAZIONE DATI E METODI (Slide 25 - 33)</a:t>
            </a:r>
            <a:br>
              <a:rPr lang="it-IT" dirty="0"/>
            </a:br>
            <a:r>
              <a:rPr lang="it-IT" dirty="0"/>
              <a:t>SLIDE 25: Scansione di un Array tramite Ciclo For e la Proprietà </a:t>
            </a:r>
            <a:r>
              <a:rPr lang="it-IT" dirty="0" err="1"/>
              <a:t>Length</a:t>
            </a:r>
            <a:endParaRPr lang="it-IT" dirty="0"/>
          </a:p>
        </p:txBody>
      </p:sp>
      <p:sp>
        <p:nvSpPr>
          <p:cNvPr id="3" name="Contenuto della lezione">
            <a:extLst>
              <a:ext uri="{FF2B5EF4-FFF2-40B4-BE49-F238E27FC236}">
                <a16:creationId xmlns:a16="http://schemas.microsoft.com/office/drawing/2014/main" id="{DA769074-3079-743D-1CDC-CDA271CFEAC4}"/>
              </a:ext>
            </a:extLst>
          </p:cNvPr>
          <p:cNvSpPr>
            <a:spLocks noGrp="1"/>
          </p:cNvSpPr>
          <p:nvPr>
            <p:ph idx="1"/>
          </p:nvPr>
        </p:nvSpPr>
        <p:spPr>
          <a:xfrm>
            <a:off x="1317319" y="1711142"/>
            <a:ext cx="9557362" cy="4803369"/>
          </a:xfrm>
        </p:spPr>
        <p:txBody>
          <a:bodyPr/>
          <a:lstStyle/>
          <a:p>
            <a:r>
              <a:rPr lang="it-IT" dirty="0"/>
              <a:t>L'interazione naturale con un array avviene attraverso l'uso del ciclo for, utilizzato per scansionare sequenzialmente le celle sia in lettura sia in scrittura. </a:t>
            </a:r>
          </a:p>
          <a:p>
            <a:r>
              <a:rPr lang="it-IT" dirty="0"/>
              <a:t>Java dota ogni oggetto array di una proprietà nativa fondamentale chiamata </a:t>
            </a:r>
            <a:r>
              <a:rPr lang="it-IT" dirty="0" err="1"/>
              <a:t>length</a:t>
            </a:r>
            <a:r>
              <a:rPr lang="it-IT" dirty="0"/>
              <a:t>, che memorizza in un intero costante la dimensione complessiva della struttura. </a:t>
            </a:r>
          </a:p>
          <a:p>
            <a:r>
              <a:rPr lang="it-IT" dirty="0"/>
              <a:t>Per iterare in modo sicuro su un array senza rischiare errori di fuori range, la sintassi standard prevede di impostare la condizione del ciclo come strettamente minore della lunghezza dell'array: </a:t>
            </a:r>
            <a:r>
              <a:rPr lang="it-IT" dirty="0">
                <a:solidFill>
                  <a:srgbClr val="171FE2"/>
                </a:solidFill>
                <a:latin typeface="Consolas" panose="020B0609020204030204" pitchFamily="49" charset="0"/>
              </a:rPr>
              <a:t>for (</a:t>
            </a:r>
            <a:r>
              <a:rPr lang="it-IT" dirty="0" err="1">
                <a:solidFill>
                  <a:srgbClr val="171FE2"/>
                </a:solidFill>
                <a:latin typeface="Consolas" panose="020B0609020204030204" pitchFamily="49" charset="0"/>
              </a:rPr>
              <a:t>int</a:t>
            </a:r>
            <a:r>
              <a:rPr lang="it-IT" dirty="0">
                <a:solidFill>
                  <a:srgbClr val="171FE2"/>
                </a:solidFill>
                <a:latin typeface="Consolas" panose="020B0609020204030204" pitchFamily="49" charset="0"/>
              </a:rPr>
              <a:t> i = 0; i &lt; </a:t>
            </a:r>
            <a:r>
              <a:rPr lang="it-IT" dirty="0" err="1">
                <a:solidFill>
                  <a:srgbClr val="171FE2"/>
                </a:solidFill>
                <a:latin typeface="Consolas" panose="020B0609020204030204" pitchFamily="49" charset="0"/>
              </a:rPr>
              <a:t>array.length</a:t>
            </a:r>
            <a:r>
              <a:rPr lang="it-IT" dirty="0">
                <a:solidFill>
                  <a:srgbClr val="171FE2"/>
                </a:solidFill>
                <a:latin typeface="Consolas" panose="020B0609020204030204" pitchFamily="49" charset="0"/>
              </a:rPr>
              <a:t>; i++) { ... }</a:t>
            </a:r>
            <a:r>
              <a:rPr lang="it-IT" dirty="0"/>
              <a:t>. </a:t>
            </a:r>
          </a:p>
          <a:p>
            <a:r>
              <a:rPr lang="it-IT" dirty="0"/>
              <a:t>All'interno del ciclo, per accedere al contenuto della singola cella corrente si utilizza la notazione con le parentesi quadre passando il contatore come indice: array[i].</a:t>
            </a:r>
          </a:p>
          <a:p>
            <a:r>
              <a:rPr lang="it-IT" dirty="0">
                <a:solidFill>
                  <a:srgbClr val="171FE2"/>
                </a:solidFill>
              </a:rPr>
              <a:t>Sviluppate l'abilità di popolare un array di interi richiedendo i valori all'utente tramite Scanner.</a:t>
            </a:r>
          </a:p>
        </p:txBody>
      </p:sp>
    </p:spTree>
    <p:extLst>
      <p:ext uri="{BB962C8B-B14F-4D97-AF65-F5344CB8AC3E}">
        <p14:creationId xmlns:p14="http://schemas.microsoft.com/office/powerpoint/2010/main" val="1179830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353A-F40D-9C9E-B734-CD35BB2D33CA}"/>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BEFC05C-6B54-6754-C5E3-7677EF2784C6}"/>
              </a:ext>
            </a:extLst>
          </p:cNvPr>
          <p:cNvSpPr>
            <a:spLocks noGrp="1"/>
          </p:cNvSpPr>
          <p:nvPr>
            <p:ph type="title"/>
          </p:nvPr>
        </p:nvSpPr>
        <p:spPr>
          <a:xfrm>
            <a:off x="838200" y="831206"/>
            <a:ext cx="10515600" cy="314198"/>
          </a:xfrm>
        </p:spPr>
        <p:txBody>
          <a:bodyPr/>
          <a:lstStyle/>
          <a:p>
            <a:r>
              <a:rPr lang="it-IT" dirty="0"/>
              <a:t>SLIDE 26: Algoritmi di Ricerca del Massimo e del Minimo</a:t>
            </a:r>
          </a:p>
        </p:txBody>
      </p:sp>
      <p:sp>
        <p:nvSpPr>
          <p:cNvPr id="3" name="Contenuto della lezione">
            <a:extLst>
              <a:ext uri="{FF2B5EF4-FFF2-40B4-BE49-F238E27FC236}">
                <a16:creationId xmlns:a16="http://schemas.microsoft.com/office/drawing/2014/main" id="{B0CC979F-42CE-3312-339C-2EF608C8BB6A}"/>
              </a:ext>
            </a:extLst>
          </p:cNvPr>
          <p:cNvSpPr>
            <a:spLocks noGrp="1"/>
          </p:cNvSpPr>
          <p:nvPr>
            <p:ph idx="1"/>
          </p:nvPr>
        </p:nvSpPr>
        <p:spPr>
          <a:xfrm>
            <a:off x="1317319" y="1558742"/>
            <a:ext cx="9557362" cy="4803369"/>
          </a:xfrm>
        </p:spPr>
        <p:txBody>
          <a:bodyPr/>
          <a:lstStyle/>
          <a:p>
            <a:r>
              <a:rPr lang="it-IT" dirty="0"/>
              <a:t>Uno degli algoritmi classici fondamentali nella didattica tecnica è la ricerca del valore massimo o minimo all'interno di un vettore di dati numerici. </a:t>
            </a:r>
          </a:p>
          <a:p>
            <a:r>
              <a:rPr lang="it-IT" dirty="0"/>
              <a:t>Per sviluppare questa abilità logica, l'algoritmo prevede di ipotizzare inizialmente che il primo elemento dell'array (all'indice zero) sia il valore massimo assoluto, memorizzandolo in una variabile di supporto: </a:t>
            </a:r>
            <a:r>
              <a:rPr lang="it-IT" dirty="0" err="1"/>
              <a:t>int</a:t>
            </a:r>
            <a:r>
              <a:rPr lang="it-IT" dirty="0"/>
              <a:t> max = array[0];. </a:t>
            </a:r>
          </a:p>
          <a:p>
            <a:r>
              <a:rPr lang="it-IT" dirty="0"/>
              <a:t>Successivamente, si avvia un ciclo for che analizza le celle rimanenti a partire dall'indice 1. </a:t>
            </a:r>
          </a:p>
          <a:p>
            <a:r>
              <a:rPr lang="it-IT" dirty="0"/>
              <a:t>All'interno del ciclo, un controllo condizionale verifica se l'elemento corrente è maggiore del valore memorizzato: </a:t>
            </a:r>
            <a:r>
              <a:rPr lang="it-IT" dirty="0" err="1"/>
              <a:t>if</a:t>
            </a:r>
            <a:r>
              <a:rPr lang="it-IT" dirty="0"/>
              <a:t> (array[i] &gt; max). </a:t>
            </a:r>
          </a:p>
          <a:p>
            <a:r>
              <a:rPr lang="it-IT" dirty="0"/>
              <a:t>In caso positivo, la variabile max viene aggiornata sovrascrivendola con il nuovo valore superiore trovato. </a:t>
            </a:r>
          </a:p>
          <a:p>
            <a:r>
              <a:rPr lang="it-IT" dirty="0"/>
              <a:t>Al termine del ciclo, la variabile conterrà con certezza matematica il massimo assoluto dell'intera collezione.</a:t>
            </a:r>
          </a:p>
        </p:txBody>
      </p:sp>
    </p:spTree>
    <p:extLst>
      <p:ext uri="{BB962C8B-B14F-4D97-AF65-F5344CB8AC3E}">
        <p14:creationId xmlns:p14="http://schemas.microsoft.com/office/powerpoint/2010/main" val="2120456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3D707-708C-A18C-2B3E-542E09BCAA4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0F8EC54-A59F-0864-7C2E-832A172D54CE}"/>
              </a:ext>
            </a:extLst>
          </p:cNvPr>
          <p:cNvSpPr>
            <a:spLocks noGrp="1"/>
          </p:cNvSpPr>
          <p:nvPr>
            <p:ph type="title"/>
          </p:nvPr>
        </p:nvSpPr>
        <p:spPr>
          <a:xfrm>
            <a:off x="838200" y="831206"/>
            <a:ext cx="10515600" cy="314198"/>
          </a:xfrm>
        </p:spPr>
        <p:txBody>
          <a:bodyPr/>
          <a:lstStyle/>
          <a:p>
            <a:r>
              <a:rPr lang="en-US" dirty="0"/>
              <a:t>SLIDE 27: Il </a:t>
            </a:r>
            <a:r>
              <a:rPr lang="en-US" dirty="0" err="1"/>
              <a:t>Ciclo</a:t>
            </a:r>
            <a:r>
              <a:rPr lang="en-US" dirty="0"/>
              <a:t> For-Each (Enhanced For Loop)</a:t>
            </a:r>
            <a:endParaRPr lang="it-IT" dirty="0"/>
          </a:p>
        </p:txBody>
      </p:sp>
      <p:sp>
        <p:nvSpPr>
          <p:cNvPr id="3" name="Contenuto della lezione">
            <a:extLst>
              <a:ext uri="{FF2B5EF4-FFF2-40B4-BE49-F238E27FC236}">
                <a16:creationId xmlns:a16="http://schemas.microsoft.com/office/drawing/2014/main" id="{5516FE36-2DAE-0BB8-B0D5-B8921F349CC0}"/>
              </a:ext>
            </a:extLst>
          </p:cNvPr>
          <p:cNvSpPr>
            <a:spLocks noGrp="1"/>
          </p:cNvSpPr>
          <p:nvPr>
            <p:ph idx="1"/>
          </p:nvPr>
        </p:nvSpPr>
        <p:spPr>
          <a:xfrm>
            <a:off x="1317319" y="1558742"/>
            <a:ext cx="9557362" cy="4803369"/>
          </a:xfrm>
        </p:spPr>
        <p:txBody>
          <a:bodyPr/>
          <a:lstStyle/>
          <a:p>
            <a:r>
              <a:rPr lang="it-IT" dirty="0"/>
              <a:t>Nelle versioni più recenti, Java introduce una variante semplificata del ciclo for, chiamata for-</a:t>
            </a:r>
            <a:r>
              <a:rPr lang="it-IT" dirty="0" err="1"/>
              <a:t>each</a:t>
            </a:r>
            <a:r>
              <a:rPr lang="it-IT" dirty="0"/>
              <a:t> o "ciclo for migliorato", progettata specificamente per scansionare in totale sicurezza collezioni di dati e array dall'inizio alla fine, senza dover gestire manualmente gli indici numerici e i contatori. </a:t>
            </a:r>
          </a:p>
          <a:p>
            <a:r>
              <a:rPr lang="it-IT" dirty="0"/>
              <a:t>La sintassi recita: </a:t>
            </a:r>
            <a:r>
              <a:rPr lang="it-IT" dirty="0">
                <a:solidFill>
                  <a:srgbClr val="171FE2"/>
                </a:solidFill>
                <a:latin typeface="Consolas" panose="020B0609020204030204" pitchFamily="49" charset="0"/>
              </a:rPr>
              <a:t>for (</a:t>
            </a:r>
            <a:r>
              <a:rPr lang="it-IT" dirty="0" err="1">
                <a:solidFill>
                  <a:srgbClr val="171FE2"/>
                </a:solidFill>
                <a:latin typeface="Consolas" panose="020B0609020204030204" pitchFamily="49" charset="0"/>
              </a:rPr>
              <a:t>TipoVariabile</a:t>
            </a:r>
            <a:r>
              <a:rPr lang="it-IT" dirty="0">
                <a:solidFill>
                  <a:srgbClr val="171FE2"/>
                </a:solidFill>
                <a:latin typeface="Consolas" panose="020B0609020204030204" pitchFamily="49" charset="0"/>
              </a:rPr>
              <a:t> elemento : </a:t>
            </a:r>
            <a:r>
              <a:rPr lang="it-IT" dirty="0" err="1">
                <a:solidFill>
                  <a:srgbClr val="171FE2"/>
                </a:solidFill>
                <a:latin typeface="Consolas" panose="020B0609020204030204" pitchFamily="49" charset="0"/>
              </a:rPr>
              <a:t>nomeArray</a:t>
            </a:r>
            <a:r>
              <a:rPr lang="it-IT" dirty="0">
                <a:solidFill>
                  <a:srgbClr val="171FE2"/>
                </a:solidFill>
                <a:latin typeface="Consolas" panose="020B0609020204030204" pitchFamily="49" charset="0"/>
              </a:rPr>
              <a:t>) { ... }</a:t>
            </a:r>
            <a:r>
              <a:rPr lang="it-IT" dirty="0"/>
              <a:t>. </a:t>
            </a:r>
          </a:p>
          <a:p>
            <a:r>
              <a:rPr lang="it-IT" dirty="0"/>
              <a:t>Ad ogni iterazione del ciclo, Java estrae automaticamente il valore della cella successiva dell'array e lo copia temporaneamente all'interno della variabile locale elemento. </a:t>
            </a:r>
          </a:p>
          <a:p>
            <a:r>
              <a:rPr lang="it-IT" dirty="0">
                <a:solidFill>
                  <a:srgbClr val="171FE2"/>
                </a:solidFill>
              </a:rPr>
              <a:t>Questo costrutto azzera completamente il rischio di generare eccezioni di fuori range in laboratorio</a:t>
            </a:r>
            <a:r>
              <a:rPr lang="it-IT" dirty="0"/>
              <a:t>. </a:t>
            </a:r>
          </a:p>
          <a:p>
            <a:r>
              <a:rPr lang="it-IT" dirty="0"/>
              <a:t>Tuttavia, presenta un limite ingegneristico: </a:t>
            </a:r>
            <a:r>
              <a:rPr lang="it-IT" b="1" dirty="0">
                <a:solidFill>
                  <a:srgbClr val="171FE2"/>
                </a:solidFill>
              </a:rPr>
              <a:t>il for-</a:t>
            </a:r>
            <a:r>
              <a:rPr lang="it-IT" b="1" dirty="0" err="1">
                <a:solidFill>
                  <a:srgbClr val="171FE2"/>
                </a:solidFill>
              </a:rPr>
              <a:t>each</a:t>
            </a:r>
            <a:r>
              <a:rPr lang="it-IT" b="1" dirty="0">
                <a:solidFill>
                  <a:srgbClr val="171FE2"/>
                </a:solidFill>
              </a:rPr>
              <a:t> è un ciclo a sola lettura; non può essere usato per modificare i valori interni delle celle dell'array</a:t>
            </a:r>
            <a:r>
              <a:rPr lang="it-IT" dirty="0"/>
              <a:t>.</a:t>
            </a:r>
          </a:p>
        </p:txBody>
      </p:sp>
    </p:spTree>
    <p:extLst>
      <p:ext uri="{BB962C8B-B14F-4D97-AF65-F5344CB8AC3E}">
        <p14:creationId xmlns:p14="http://schemas.microsoft.com/office/powerpoint/2010/main" val="3536408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5E790-E195-3829-1FC8-2E933CC96C3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310B09D-2B3E-4A87-3843-9FCBF79805AF}"/>
              </a:ext>
            </a:extLst>
          </p:cNvPr>
          <p:cNvSpPr>
            <a:spLocks noGrp="1"/>
          </p:cNvSpPr>
          <p:nvPr>
            <p:ph type="title"/>
          </p:nvPr>
        </p:nvSpPr>
        <p:spPr>
          <a:xfrm>
            <a:off x="838200" y="831206"/>
            <a:ext cx="10515600" cy="314198"/>
          </a:xfrm>
        </p:spPr>
        <p:txBody>
          <a:bodyPr/>
          <a:lstStyle/>
          <a:p>
            <a:r>
              <a:rPr lang="it-IT" dirty="0"/>
              <a:t>SLIDE 28: Introduzione alla Scomposizione in Metodi</a:t>
            </a:r>
          </a:p>
        </p:txBody>
      </p:sp>
      <p:sp>
        <p:nvSpPr>
          <p:cNvPr id="3" name="Contenuto della lezione">
            <a:extLst>
              <a:ext uri="{FF2B5EF4-FFF2-40B4-BE49-F238E27FC236}">
                <a16:creationId xmlns:a16="http://schemas.microsoft.com/office/drawing/2014/main" id="{4E6B35EC-BAF1-1597-0452-E8AFE695B501}"/>
              </a:ext>
            </a:extLst>
          </p:cNvPr>
          <p:cNvSpPr>
            <a:spLocks noGrp="1"/>
          </p:cNvSpPr>
          <p:nvPr>
            <p:ph idx="1"/>
          </p:nvPr>
        </p:nvSpPr>
        <p:spPr>
          <a:xfrm>
            <a:off x="1317319" y="1558742"/>
            <a:ext cx="9557362" cy="4803369"/>
          </a:xfrm>
        </p:spPr>
        <p:txBody>
          <a:bodyPr/>
          <a:lstStyle/>
          <a:p>
            <a:r>
              <a:rPr lang="it-IT" dirty="0"/>
              <a:t>Man mano che la complessità del software cresce, scrivere l'intero algoritmo all'interno del solo metodo </a:t>
            </a:r>
            <a:r>
              <a:rPr lang="it-IT" dirty="0" err="1"/>
              <a:t>main</a:t>
            </a:r>
            <a:r>
              <a:rPr lang="it-IT" dirty="0"/>
              <a:t> rende il codice un blocco monolitico illeggibile, difficile da testare e manutenere. </a:t>
            </a:r>
          </a:p>
          <a:p>
            <a:r>
              <a:rPr lang="it-IT" dirty="0"/>
              <a:t>Si applica quindi il principio ingegneristico del "Divide et Impera" (Dividi e Conquista) attraverso l'uso dei Metodi (chiamati anche funzioni o sottoprogrammi). </a:t>
            </a:r>
          </a:p>
          <a:p>
            <a:r>
              <a:rPr lang="it-IT" dirty="0"/>
              <a:t>Un metodo è un blocco di codice isolato a cui viene assegnato un nome descrittivo, che compie una specifica sotto-operazione ben definita all'interno del sistema. </a:t>
            </a:r>
          </a:p>
          <a:p>
            <a:r>
              <a:rPr lang="it-IT" dirty="0"/>
              <a:t>Dividere il software in metodi permette di evitare la duplicazione del codice, rispettando il principio DRY (</a:t>
            </a:r>
            <a:r>
              <a:rPr lang="it-IT" dirty="0" err="1"/>
              <a:t>Don't</a:t>
            </a:r>
            <a:r>
              <a:rPr lang="it-IT" dirty="0"/>
              <a:t> </a:t>
            </a:r>
            <a:r>
              <a:rPr lang="it-IT" dirty="0" err="1"/>
              <a:t>Repeat</a:t>
            </a:r>
            <a:r>
              <a:rPr lang="it-IT" dirty="0"/>
              <a:t> </a:t>
            </a:r>
            <a:r>
              <a:rPr lang="it-IT" dirty="0" err="1"/>
              <a:t>Yourself</a:t>
            </a:r>
            <a:r>
              <a:rPr lang="it-IT" dirty="0"/>
              <a:t>): un metodo scritto una sola volta può essere invocato e riutilizzato infinite volte da punti diversi dell'applicazione semplicemente richiamando il suo nome.</a:t>
            </a:r>
          </a:p>
        </p:txBody>
      </p:sp>
    </p:spTree>
    <p:extLst>
      <p:ext uri="{BB962C8B-B14F-4D97-AF65-F5344CB8AC3E}">
        <p14:creationId xmlns:p14="http://schemas.microsoft.com/office/powerpoint/2010/main" val="2418059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5C24-20A4-2FC3-F3DC-7E7183B6AE0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BED5572-46CF-B11B-93CB-D7F928912D9F}"/>
              </a:ext>
            </a:extLst>
          </p:cNvPr>
          <p:cNvSpPr>
            <a:spLocks noGrp="1"/>
          </p:cNvSpPr>
          <p:nvPr>
            <p:ph type="title"/>
          </p:nvPr>
        </p:nvSpPr>
        <p:spPr>
          <a:xfrm>
            <a:off x="838200" y="831206"/>
            <a:ext cx="10515600" cy="314198"/>
          </a:xfrm>
        </p:spPr>
        <p:txBody>
          <a:bodyPr/>
          <a:lstStyle/>
          <a:p>
            <a:r>
              <a:rPr lang="it-IT" dirty="0"/>
              <a:t>SLIDE 29: Anatomia della Firma di un Metodo Java</a:t>
            </a:r>
          </a:p>
        </p:txBody>
      </p:sp>
      <p:sp>
        <p:nvSpPr>
          <p:cNvPr id="3" name="Contenuto della lezione">
            <a:extLst>
              <a:ext uri="{FF2B5EF4-FFF2-40B4-BE49-F238E27FC236}">
                <a16:creationId xmlns:a16="http://schemas.microsoft.com/office/drawing/2014/main" id="{4339F43B-E023-1DDB-731E-CBC72B4151C3}"/>
              </a:ext>
            </a:extLst>
          </p:cNvPr>
          <p:cNvSpPr>
            <a:spLocks noGrp="1"/>
          </p:cNvSpPr>
          <p:nvPr>
            <p:ph idx="1"/>
          </p:nvPr>
        </p:nvSpPr>
        <p:spPr>
          <a:xfrm>
            <a:off x="1317319" y="1558742"/>
            <a:ext cx="9557362" cy="4803369"/>
          </a:xfrm>
        </p:spPr>
        <p:txBody>
          <a:bodyPr/>
          <a:lstStyle/>
          <a:p>
            <a:r>
              <a:rPr lang="it-IT" dirty="0"/>
              <a:t>La dichiarazione di un metodo segue regole sintattiche precise che ne definiscono la "firma" (o signature). </a:t>
            </a:r>
          </a:p>
          <a:p>
            <a:r>
              <a:rPr lang="it-IT" dirty="0"/>
              <a:t>In questa fase iniziale di fondamenti, ogni metodo sarà preceduto dalle parole chiave public </a:t>
            </a:r>
            <a:r>
              <a:rPr lang="it-IT" dirty="0" err="1"/>
              <a:t>static</a:t>
            </a:r>
            <a:r>
              <a:rPr lang="it-IT" dirty="0"/>
              <a:t>. </a:t>
            </a:r>
          </a:p>
          <a:p>
            <a:r>
              <a:rPr lang="it-IT" dirty="0"/>
              <a:t>La struttura prevede poi la definizione del "Tipo di Ritorno": specifica quale tipo di dato il metodo restituirà al chiamante al termine del suo lavoro (es. </a:t>
            </a:r>
            <a:r>
              <a:rPr lang="it-IT" dirty="0" err="1"/>
              <a:t>int</a:t>
            </a:r>
            <a:r>
              <a:rPr lang="it-IT" dirty="0"/>
              <a:t>, double, </a:t>
            </a:r>
            <a:r>
              <a:rPr lang="it-IT" dirty="0" err="1"/>
              <a:t>String</a:t>
            </a:r>
            <a:r>
              <a:rPr lang="it-IT" dirty="0"/>
              <a:t>). </a:t>
            </a:r>
          </a:p>
          <a:p>
            <a:r>
              <a:rPr lang="it-IT" dirty="0"/>
              <a:t>Se il metodo esegue solo un'azione (come stampare un testo) e non deve restituire alcun dato, il tipo di ritorno sarà </a:t>
            </a:r>
            <a:r>
              <a:rPr lang="it-IT" dirty="0" err="1"/>
              <a:t>void</a:t>
            </a:r>
            <a:r>
              <a:rPr lang="it-IT" dirty="0"/>
              <a:t>. </a:t>
            </a:r>
          </a:p>
          <a:p>
            <a:r>
              <a:rPr lang="it-IT" dirty="0"/>
              <a:t>Seguono il nome del metodo in formato </a:t>
            </a:r>
            <a:r>
              <a:rPr lang="it-IT" dirty="0" err="1"/>
              <a:t>camelCase</a:t>
            </a:r>
            <a:r>
              <a:rPr lang="it-IT" dirty="0"/>
              <a:t> (es. </a:t>
            </a:r>
            <a:r>
              <a:rPr lang="it-IT" dirty="0" err="1"/>
              <a:t>calcolaMedia</a:t>
            </a:r>
            <a:r>
              <a:rPr lang="it-IT" dirty="0"/>
              <a:t>) e, all'interno di parentesi tonde, la lista dei "Parametri di Ingresso", ovvero le variabili locali che il metodo richiede per poter funzionare, separate da virgole. </a:t>
            </a:r>
          </a:p>
          <a:p>
            <a:r>
              <a:rPr lang="it-IT" dirty="0"/>
              <a:t>Il corpo del metodo è racchiuso tra parentesi graffe.</a:t>
            </a:r>
          </a:p>
        </p:txBody>
      </p:sp>
    </p:spTree>
    <p:extLst>
      <p:ext uri="{BB962C8B-B14F-4D97-AF65-F5344CB8AC3E}">
        <p14:creationId xmlns:p14="http://schemas.microsoft.com/office/powerpoint/2010/main" val="2726316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7CA9-4E75-AD88-94F4-69604E51B1CE}"/>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78FB99A-99BA-AA49-CAD0-5EEE5F3F64E0}"/>
              </a:ext>
            </a:extLst>
          </p:cNvPr>
          <p:cNvSpPr>
            <a:spLocks noGrp="1"/>
          </p:cNvSpPr>
          <p:nvPr>
            <p:ph type="title"/>
          </p:nvPr>
        </p:nvSpPr>
        <p:spPr>
          <a:xfrm>
            <a:off x="838200" y="831206"/>
            <a:ext cx="10515600" cy="314198"/>
          </a:xfrm>
        </p:spPr>
        <p:txBody>
          <a:bodyPr/>
          <a:lstStyle/>
          <a:p>
            <a:r>
              <a:rPr lang="it-IT" dirty="0"/>
              <a:t>SLIDE 30: Il Meccanismo di Ritorno dei Dati: la Parola Chiave Return</a:t>
            </a:r>
          </a:p>
        </p:txBody>
      </p:sp>
      <p:sp>
        <p:nvSpPr>
          <p:cNvPr id="3" name="Contenuto della lezione">
            <a:extLst>
              <a:ext uri="{FF2B5EF4-FFF2-40B4-BE49-F238E27FC236}">
                <a16:creationId xmlns:a16="http://schemas.microsoft.com/office/drawing/2014/main" id="{6170C55E-C208-DA31-C73B-37E55501E7CF}"/>
              </a:ext>
            </a:extLst>
          </p:cNvPr>
          <p:cNvSpPr>
            <a:spLocks noGrp="1"/>
          </p:cNvSpPr>
          <p:nvPr>
            <p:ph idx="1"/>
          </p:nvPr>
        </p:nvSpPr>
        <p:spPr>
          <a:xfrm>
            <a:off x="1317319" y="1558742"/>
            <a:ext cx="9557362" cy="4803369"/>
          </a:xfrm>
        </p:spPr>
        <p:txBody>
          <a:bodyPr/>
          <a:lstStyle/>
          <a:p>
            <a:r>
              <a:rPr lang="it-IT" dirty="0"/>
              <a:t>Quando un metodo è progettato con un tipo di ritorno diverso da </a:t>
            </a:r>
            <a:r>
              <a:rPr lang="it-IT" dirty="0" err="1"/>
              <a:t>void</a:t>
            </a:r>
            <a:r>
              <a:rPr lang="it-IT" dirty="0"/>
              <a:t>, esso ha l'obbligo contrattuale nei confronti del compilatore di terminare la propria esecuzione restituendo un valore coerente con il tipo dichiarato. </a:t>
            </a:r>
          </a:p>
          <a:p>
            <a:r>
              <a:rPr lang="it-IT" dirty="0"/>
              <a:t>Questa operazione si realizza tramite la parola chiave </a:t>
            </a:r>
            <a:r>
              <a:rPr lang="it-IT" dirty="0" err="1"/>
              <a:t>return</a:t>
            </a:r>
            <a:r>
              <a:rPr lang="it-IT" dirty="0"/>
              <a:t> seguita dal valore o dalla variabile da trasmettere (es. </a:t>
            </a:r>
            <a:r>
              <a:rPr lang="it-IT" dirty="0" err="1"/>
              <a:t>return</a:t>
            </a:r>
            <a:r>
              <a:rPr lang="it-IT" dirty="0"/>
              <a:t> risultato;). </a:t>
            </a:r>
          </a:p>
          <a:p>
            <a:r>
              <a:rPr lang="it-IT" dirty="0"/>
              <a:t>L'istruzione </a:t>
            </a:r>
            <a:r>
              <a:rPr lang="it-IT" dirty="0" err="1"/>
              <a:t>return</a:t>
            </a:r>
            <a:r>
              <a:rPr lang="it-IT" dirty="0"/>
              <a:t> provoca l'interruzione immediata del metodo: qualsiasi riga di codice scritta successivamente all'interno dello stesso blocco non verrà eseguita, venendo considerata dal compilatore come codice irraggiungibile (</a:t>
            </a:r>
            <a:r>
              <a:rPr lang="it-IT" dirty="0" err="1"/>
              <a:t>Unreachable</a:t>
            </a:r>
            <a:r>
              <a:rPr lang="it-IT" dirty="0"/>
              <a:t> Code errore). </a:t>
            </a:r>
          </a:p>
          <a:p>
            <a:r>
              <a:rPr lang="it-IT" dirty="0"/>
              <a:t>Il valore restituito viene inviato al punto del programma in cui il metodo è stato invocato, dove può essere memorizzato in una variabile o stampato direttamente.</a:t>
            </a:r>
          </a:p>
        </p:txBody>
      </p:sp>
    </p:spTree>
    <p:extLst>
      <p:ext uri="{BB962C8B-B14F-4D97-AF65-F5344CB8AC3E}">
        <p14:creationId xmlns:p14="http://schemas.microsoft.com/office/powerpoint/2010/main" val="2003110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8D48-4E5A-ED5F-F59F-05F2CCE0F057}"/>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D22B0B86-E5EE-802E-1B86-3686E7D67243}"/>
              </a:ext>
            </a:extLst>
          </p:cNvPr>
          <p:cNvSpPr>
            <a:spLocks noGrp="1"/>
          </p:cNvSpPr>
          <p:nvPr>
            <p:ph type="title"/>
          </p:nvPr>
        </p:nvSpPr>
        <p:spPr>
          <a:xfrm>
            <a:off x="838200" y="831206"/>
            <a:ext cx="10515600" cy="314198"/>
          </a:xfrm>
        </p:spPr>
        <p:txBody>
          <a:bodyPr/>
          <a:lstStyle/>
          <a:p>
            <a:r>
              <a:rPr lang="it-IT" dirty="0"/>
              <a:t>SLIDE 31: Parametri Formali vs Argomenti Reali</a:t>
            </a:r>
          </a:p>
        </p:txBody>
      </p:sp>
      <p:sp>
        <p:nvSpPr>
          <p:cNvPr id="3" name="Contenuto della lezione">
            <a:extLst>
              <a:ext uri="{FF2B5EF4-FFF2-40B4-BE49-F238E27FC236}">
                <a16:creationId xmlns:a16="http://schemas.microsoft.com/office/drawing/2014/main" id="{F38EA1EA-F2F5-91FB-DDBC-A3692BAD83CE}"/>
              </a:ext>
            </a:extLst>
          </p:cNvPr>
          <p:cNvSpPr>
            <a:spLocks noGrp="1"/>
          </p:cNvSpPr>
          <p:nvPr>
            <p:ph idx="1"/>
          </p:nvPr>
        </p:nvSpPr>
        <p:spPr>
          <a:xfrm>
            <a:off x="1317319" y="1558742"/>
            <a:ext cx="9557362" cy="4803369"/>
          </a:xfrm>
        </p:spPr>
        <p:txBody>
          <a:bodyPr/>
          <a:lstStyle/>
          <a:p>
            <a:r>
              <a:rPr lang="it-IT" dirty="0"/>
              <a:t>È fondamentale comprendere la distinzione terminologica e logica tra parametri formali e argomenti reali nell'ingegneria del software. </a:t>
            </a:r>
          </a:p>
          <a:p>
            <a:r>
              <a:rPr lang="it-IT" dirty="0"/>
              <a:t>I parametri formali sono le variabili dichiarate nella firma del metodo, che fungono da segnaposto astratti (es. public </a:t>
            </a:r>
            <a:r>
              <a:rPr lang="it-IT" dirty="0" err="1"/>
              <a:t>static</a:t>
            </a:r>
            <a:r>
              <a:rPr lang="it-IT" dirty="0"/>
              <a:t> </a:t>
            </a:r>
            <a:r>
              <a:rPr lang="it-IT" dirty="0" err="1"/>
              <a:t>int</a:t>
            </a:r>
            <a:r>
              <a:rPr lang="it-IT" dirty="0"/>
              <a:t> somma(</a:t>
            </a:r>
            <a:r>
              <a:rPr lang="it-IT" dirty="0" err="1"/>
              <a:t>int</a:t>
            </a:r>
            <a:r>
              <a:rPr lang="it-IT" dirty="0"/>
              <a:t> a, </a:t>
            </a:r>
            <a:r>
              <a:rPr lang="it-IT" dirty="0" err="1"/>
              <a:t>int</a:t>
            </a:r>
            <a:r>
              <a:rPr lang="it-IT" dirty="0"/>
              <a:t> b): a e b sono parametri formali). </a:t>
            </a:r>
          </a:p>
          <a:p>
            <a:r>
              <a:rPr lang="it-IT" dirty="0"/>
              <a:t>Gli argomenti reali sono invece i valori effettivi che vengono passati concretamente al metodo nel momento in cui viene effettuata la chiamata nel programma (es. </a:t>
            </a:r>
            <a:r>
              <a:rPr lang="it-IT" dirty="0" err="1"/>
              <a:t>int</a:t>
            </a:r>
            <a:r>
              <a:rPr lang="it-IT" dirty="0"/>
              <a:t> </a:t>
            </a:r>
            <a:r>
              <a:rPr lang="it-IT" dirty="0" err="1"/>
              <a:t>ris</a:t>
            </a:r>
            <a:r>
              <a:rPr lang="it-IT" dirty="0"/>
              <a:t> = somma(5, 10);: 5 e 10 sono gli argomenti). </a:t>
            </a:r>
          </a:p>
          <a:p>
            <a:r>
              <a:rPr lang="it-IT" b="1" dirty="0">
                <a:solidFill>
                  <a:srgbClr val="171FE2"/>
                </a:solidFill>
              </a:rPr>
              <a:t>Java utilizza rigorosamente il "passaggio per valore"</a:t>
            </a:r>
            <a:r>
              <a:rPr lang="it-IT" dirty="0"/>
              <a:t>: quando invochiamo un metodo, il sistema operativo crea una copia esatta del valore dell'argomento e la inserisce nella variabile del parametro sullo </a:t>
            </a:r>
            <a:r>
              <a:rPr lang="it-IT" dirty="0" err="1"/>
              <a:t>Stack</a:t>
            </a:r>
            <a:r>
              <a:rPr lang="it-IT" dirty="0"/>
              <a:t>, isolando le variabili del metodo da quelle del </a:t>
            </a:r>
            <a:r>
              <a:rPr lang="it-IT" dirty="0" err="1"/>
              <a:t>main</a:t>
            </a:r>
            <a:r>
              <a:rPr lang="it-IT" dirty="0"/>
              <a:t>.</a:t>
            </a:r>
          </a:p>
        </p:txBody>
      </p:sp>
    </p:spTree>
    <p:extLst>
      <p:ext uri="{BB962C8B-B14F-4D97-AF65-F5344CB8AC3E}">
        <p14:creationId xmlns:p14="http://schemas.microsoft.com/office/powerpoint/2010/main" val="1115785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E1670-F940-FE5B-2DE7-724C6D1E26D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E2423D1-5156-091A-AF3E-264D9F14E963}"/>
              </a:ext>
            </a:extLst>
          </p:cNvPr>
          <p:cNvSpPr>
            <a:spLocks noGrp="1"/>
          </p:cNvSpPr>
          <p:nvPr>
            <p:ph type="title"/>
          </p:nvPr>
        </p:nvSpPr>
        <p:spPr>
          <a:xfrm>
            <a:off x="838200" y="831206"/>
            <a:ext cx="10515600" cy="314198"/>
          </a:xfrm>
        </p:spPr>
        <p:txBody>
          <a:bodyPr/>
          <a:lstStyle/>
          <a:p>
            <a:r>
              <a:rPr lang="it-IT" dirty="0"/>
              <a:t>SLIDE 32: Esercizio Guidato – Creazione di un Metodo di Calcolo Media</a:t>
            </a:r>
          </a:p>
        </p:txBody>
      </p:sp>
      <p:sp>
        <p:nvSpPr>
          <p:cNvPr id="3" name="Contenuto della lezione">
            <a:extLst>
              <a:ext uri="{FF2B5EF4-FFF2-40B4-BE49-F238E27FC236}">
                <a16:creationId xmlns:a16="http://schemas.microsoft.com/office/drawing/2014/main" id="{BC29099A-E44C-2B73-5A73-19B82863A316}"/>
              </a:ext>
            </a:extLst>
          </p:cNvPr>
          <p:cNvSpPr>
            <a:spLocks noGrp="1"/>
          </p:cNvSpPr>
          <p:nvPr>
            <p:ph idx="1"/>
          </p:nvPr>
        </p:nvSpPr>
        <p:spPr>
          <a:xfrm>
            <a:off x="1317319" y="1558742"/>
            <a:ext cx="9557362" cy="4803369"/>
          </a:xfrm>
        </p:spPr>
        <p:txBody>
          <a:bodyPr/>
          <a:lstStyle/>
          <a:p>
            <a:r>
              <a:rPr lang="it-IT" dirty="0"/>
              <a:t>Sviluppiamo l'abilità di isolare la logica algoritmica all'interno di un metodo personalizzato. </a:t>
            </a:r>
          </a:p>
          <a:p>
            <a:r>
              <a:rPr lang="it-IT" dirty="0"/>
              <a:t>Scriviamo all'esterno del </a:t>
            </a:r>
            <a:r>
              <a:rPr lang="it-IT" dirty="0" err="1"/>
              <a:t>main</a:t>
            </a:r>
            <a:r>
              <a:rPr lang="it-IT" dirty="0"/>
              <a:t>, ma dentro la classe, un metodo chiamato </a:t>
            </a:r>
            <a:r>
              <a:rPr lang="it-IT" dirty="0" err="1"/>
              <a:t>calcolaMedia</a:t>
            </a:r>
            <a:r>
              <a:rPr lang="it-IT" dirty="0"/>
              <a:t>. </a:t>
            </a:r>
          </a:p>
          <a:p>
            <a:r>
              <a:rPr lang="it-IT" dirty="0"/>
              <a:t>Il metodo deve accettare come parametro formale in ingresso un array di numeri interi: public </a:t>
            </a:r>
            <a:r>
              <a:rPr lang="it-IT" dirty="0" err="1"/>
              <a:t>static</a:t>
            </a:r>
            <a:r>
              <a:rPr lang="it-IT" dirty="0"/>
              <a:t> double </a:t>
            </a:r>
            <a:r>
              <a:rPr lang="it-IT" dirty="0" err="1"/>
              <a:t>calcolaMedia</a:t>
            </a:r>
            <a:r>
              <a:rPr lang="it-IT" dirty="0"/>
              <a:t>(</a:t>
            </a:r>
            <a:r>
              <a:rPr lang="it-IT" dirty="0" err="1"/>
              <a:t>int</a:t>
            </a:r>
            <a:r>
              <a:rPr lang="it-IT" dirty="0"/>
              <a:t>[] numeri). </a:t>
            </a:r>
          </a:p>
          <a:p>
            <a:r>
              <a:rPr lang="it-IT" dirty="0"/>
              <a:t>Al suo interno, implementate la logica per sommare tutti gli elementi dell'array e dividere il totale per la lunghezza dell'array (</a:t>
            </a:r>
            <a:r>
              <a:rPr lang="it-IT" dirty="0" err="1"/>
              <a:t>numeri.length</a:t>
            </a:r>
            <a:r>
              <a:rPr lang="it-IT" dirty="0"/>
              <a:t>). </a:t>
            </a:r>
          </a:p>
          <a:p>
            <a:r>
              <a:rPr lang="it-IT" dirty="0"/>
              <a:t>Ricordatevi di effettuare il casting a double durante la divisione per non perdere la precisione decimale. </a:t>
            </a:r>
          </a:p>
          <a:p>
            <a:r>
              <a:rPr lang="it-IT" dirty="0"/>
              <a:t>Restituite il risultato tramite </a:t>
            </a:r>
            <a:r>
              <a:rPr lang="it-IT" dirty="0" err="1"/>
              <a:t>return</a:t>
            </a:r>
            <a:r>
              <a:rPr lang="it-IT" dirty="0"/>
              <a:t>. </a:t>
            </a:r>
          </a:p>
          <a:p>
            <a:r>
              <a:rPr lang="it-IT" dirty="0"/>
              <a:t>Nel metodo </a:t>
            </a:r>
            <a:r>
              <a:rPr lang="it-IT" dirty="0" err="1"/>
              <a:t>main</a:t>
            </a:r>
            <a:r>
              <a:rPr lang="it-IT" dirty="0"/>
              <a:t>, create un array di voti scolastici, invocate il metodo passando l'array come argomento e visualizzate il risultato finale della media a console.</a:t>
            </a:r>
          </a:p>
        </p:txBody>
      </p:sp>
    </p:spTree>
    <p:extLst>
      <p:ext uri="{BB962C8B-B14F-4D97-AF65-F5344CB8AC3E}">
        <p14:creationId xmlns:p14="http://schemas.microsoft.com/office/powerpoint/2010/main" val="1735260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52AEB-E0E7-C38F-020D-EC31CB11A879}"/>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9A34197A-EA62-D82A-07E7-21CBA0F11B64}"/>
              </a:ext>
            </a:extLst>
          </p:cNvPr>
          <p:cNvSpPr>
            <a:spLocks noGrp="1"/>
          </p:cNvSpPr>
          <p:nvPr>
            <p:ph type="title"/>
          </p:nvPr>
        </p:nvSpPr>
        <p:spPr>
          <a:xfrm>
            <a:off x="838200" y="831206"/>
            <a:ext cx="10515600" cy="314198"/>
          </a:xfrm>
        </p:spPr>
        <p:txBody>
          <a:bodyPr/>
          <a:lstStyle/>
          <a:p>
            <a:r>
              <a:rPr lang="it-IT" dirty="0"/>
              <a:t>SLIDE 33: Gestione Robustezza: Introduzione alle Eccezioni </a:t>
            </a:r>
            <a:r>
              <a:rPr lang="it-IT" dirty="0" err="1"/>
              <a:t>RunTime</a:t>
            </a:r>
            <a:endParaRPr lang="it-IT" dirty="0"/>
          </a:p>
        </p:txBody>
      </p:sp>
      <p:sp>
        <p:nvSpPr>
          <p:cNvPr id="3" name="Contenuto della lezione">
            <a:extLst>
              <a:ext uri="{FF2B5EF4-FFF2-40B4-BE49-F238E27FC236}">
                <a16:creationId xmlns:a16="http://schemas.microsoft.com/office/drawing/2014/main" id="{8112A2C2-BD78-9650-8AA9-9108968FD8C9}"/>
              </a:ext>
            </a:extLst>
          </p:cNvPr>
          <p:cNvSpPr>
            <a:spLocks noGrp="1"/>
          </p:cNvSpPr>
          <p:nvPr>
            <p:ph idx="1"/>
          </p:nvPr>
        </p:nvSpPr>
        <p:spPr>
          <a:xfrm>
            <a:off x="1317319" y="1558742"/>
            <a:ext cx="9557362" cy="4803369"/>
          </a:xfrm>
        </p:spPr>
        <p:txBody>
          <a:bodyPr/>
          <a:lstStyle/>
          <a:p>
            <a:r>
              <a:rPr lang="it-IT" dirty="0"/>
              <a:t>Durante l'esecuzione di un programma, anche se sintatticamente perfetto alla compilazione, possono verificarsi anomalie hardware o logiche causate da input errati dell'utente che provocano l'interruzione immediata dell'applicazione. </a:t>
            </a:r>
          </a:p>
          <a:p>
            <a:r>
              <a:rPr lang="it-IT" dirty="0"/>
              <a:t>Questi eventi sono chiamati Eccezioni (Runtime </a:t>
            </a:r>
            <a:r>
              <a:rPr lang="it-IT" dirty="0" err="1"/>
              <a:t>Exceptions</a:t>
            </a:r>
            <a:r>
              <a:rPr lang="it-IT" dirty="0"/>
              <a:t>). </a:t>
            </a:r>
          </a:p>
          <a:p>
            <a:r>
              <a:rPr lang="it-IT" dirty="0"/>
              <a:t>Esempi classici che lo studente affronta nei laboratori di informatica sono la divisione per zero (</a:t>
            </a:r>
            <a:r>
              <a:rPr lang="it-IT" dirty="0" err="1"/>
              <a:t>ArithmeticException</a:t>
            </a:r>
            <a:r>
              <a:rPr lang="it-IT" dirty="0"/>
              <a:t>) o il tentativo di accedere a un indice inesistente di un array (</a:t>
            </a:r>
            <a:r>
              <a:rPr lang="it-IT" dirty="0" err="1"/>
              <a:t>ArrayIndexOutOfBoundsException</a:t>
            </a:r>
            <a:r>
              <a:rPr lang="it-IT" dirty="0"/>
              <a:t>). </a:t>
            </a:r>
          </a:p>
          <a:p>
            <a:r>
              <a:rPr lang="it-IT" dirty="0"/>
              <a:t>Java gestisce la robustezza del codice attraverso un meccanismo di intercettazione strutturato basato sulle parole chiave </a:t>
            </a:r>
            <a:r>
              <a:rPr lang="it-IT" dirty="0" err="1"/>
              <a:t>try</a:t>
            </a:r>
            <a:r>
              <a:rPr lang="it-IT" dirty="0"/>
              <a:t> e catch.</a:t>
            </a:r>
          </a:p>
          <a:p>
            <a:r>
              <a:rPr lang="it-IT" dirty="0"/>
              <a:t>Imparare a prevedere e gestire le eccezioni permette di evitare che il software rilasciato all'utente finale si blocchi improvvisamente con schermate di errore incomprensibili.</a:t>
            </a:r>
          </a:p>
        </p:txBody>
      </p:sp>
    </p:spTree>
    <p:extLst>
      <p:ext uri="{BB962C8B-B14F-4D97-AF65-F5344CB8AC3E}">
        <p14:creationId xmlns:p14="http://schemas.microsoft.com/office/powerpoint/2010/main" val="2000341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62097-CC86-4CD3-4460-AA499D23D9B6}"/>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FD25C9E-A201-71D8-400F-1F3080FFFBA6}"/>
              </a:ext>
            </a:extLst>
          </p:cNvPr>
          <p:cNvSpPr>
            <a:spLocks noGrp="1"/>
          </p:cNvSpPr>
          <p:nvPr>
            <p:ph type="title"/>
          </p:nvPr>
        </p:nvSpPr>
        <p:spPr>
          <a:xfrm>
            <a:off x="838200" y="831206"/>
            <a:ext cx="10515600" cy="314198"/>
          </a:xfrm>
        </p:spPr>
        <p:txBody>
          <a:bodyPr/>
          <a:lstStyle/>
          <a:p>
            <a:r>
              <a:rPr lang="it-IT" dirty="0"/>
              <a:t>SEZIONE 5: PROVA PRATICA DI VALUTAZIONE (Slide 34 - 40)</a:t>
            </a:r>
            <a:br>
              <a:rPr lang="it-IT" dirty="0"/>
            </a:br>
            <a:r>
              <a:rPr lang="it-IT" dirty="0"/>
              <a:t>SLIDE 34: Unità Didattica 3 – Laboratorio Finale e Compito Autentico</a:t>
            </a:r>
          </a:p>
        </p:txBody>
      </p:sp>
      <p:sp>
        <p:nvSpPr>
          <p:cNvPr id="3" name="Contenuto della lezione">
            <a:extLst>
              <a:ext uri="{FF2B5EF4-FFF2-40B4-BE49-F238E27FC236}">
                <a16:creationId xmlns:a16="http://schemas.microsoft.com/office/drawing/2014/main" id="{C8EE6940-62FA-E956-2EA3-8AB7C6F0066A}"/>
              </a:ext>
            </a:extLst>
          </p:cNvPr>
          <p:cNvSpPr>
            <a:spLocks noGrp="1"/>
          </p:cNvSpPr>
          <p:nvPr>
            <p:ph idx="1"/>
          </p:nvPr>
        </p:nvSpPr>
        <p:spPr>
          <a:xfrm>
            <a:off x="1317319" y="1558742"/>
            <a:ext cx="9557362" cy="4803369"/>
          </a:xfrm>
        </p:spPr>
        <p:txBody>
          <a:bodyPr/>
          <a:lstStyle/>
          <a:p>
            <a:r>
              <a:rPr lang="it-IT" dirty="0"/>
              <a:t>Per dimostrare il raggiungimento della micro-competenza richiesta, siete chiamati a sviluppare in totale autonomia un'applicazione software desktop strutturata denominata "Analizzatore Rendimento Scolastico". </a:t>
            </a:r>
          </a:p>
          <a:p>
            <a:r>
              <a:rPr lang="it-IT" dirty="0"/>
              <a:t>Il programma simulerà un modulo aziendale di calcolo statistiche voti. </a:t>
            </a:r>
          </a:p>
          <a:p>
            <a:r>
              <a:rPr lang="it-IT" dirty="0"/>
              <a:t>Non dovrà trattarsi di una sequenza disordinata di righe, ma di un software ingegnerizzato, suddiviso in metodi specializzati con precise responsabilità, protetto da sistemi di validazione iterativa per impedire l'inserimento di dati corrotti in memoria RAM e strutturato per manipolare in sicurezza array monodimensionali di dati. </a:t>
            </a:r>
          </a:p>
          <a:p>
            <a:r>
              <a:rPr lang="it-IT" dirty="0"/>
              <a:t>Questo laboratorio rappresenta il superamento formale della programmazione procedurale.</a:t>
            </a:r>
          </a:p>
        </p:txBody>
      </p:sp>
    </p:spTree>
    <p:extLst>
      <p:ext uri="{BB962C8B-B14F-4D97-AF65-F5344CB8AC3E}">
        <p14:creationId xmlns:p14="http://schemas.microsoft.com/office/powerpoint/2010/main" val="3353171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468A-2113-8CB2-D4DF-E2839614469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6384A1A-E51C-0DCC-F9C4-33E7D25DCA7A}"/>
              </a:ext>
            </a:extLst>
          </p:cNvPr>
          <p:cNvSpPr>
            <a:spLocks noGrp="1"/>
          </p:cNvSpPr>
          <p:nvPr>
            <p:ph type="title"/>
          </p:nvPr>
        </p:nvSpPr>
        <p:spPr>
          <a:xfrm>
            <a:off x="838200" y="831206"/>
            <a:ext cx="10515600" cy="314198"/>
          </a:xfrm>
        </p:spPr>
        <p:txBody>
          <a:bodyPr/>
          <a:lstStyle/>
          <a:p>
            <a:r>
              <a:rPr lang="it-IT" dirty="0"/>
              <a:t>SLIDE 35: Specifiche Tecniche del Laboratorio – Fase Input</a:t>
            </a:r>
          </a:p>
        </p:txBody>
      </p:sp>
      <p:sp>
        <p:nvSpPr>
          <p:cNvPr id="3" name="Contenuto della lezione">
            <a:extLst>
              <a:ext uri="{FF2B5EF4-FFF2-40B4-BE49-F238E27FC236}">
                <a16:creationId xmlns:a16="http://schemas.microsoft.com/office/drawing/2014/main" id="{4DA9D785-D533-F1D8-F37F-1EECC2DE1DC2}"/>
              </a:ext>
            </a:extLst>
          </p:cNvPr>
          <p:cNvSpPr>
            <a:spLocks noGrp="1"/>
          </p:cNvSpPr>
          <p:nvPr>
            <p:ph idx="1"/>
          </p:nvPr>
        </p:nvSpPr>
        <p:spPr>
          <a:xfrm>
            <a:off x="1317319" y="1558742"/>
            <a:ext cx="9557362" cy="4803369"/>
          </a:xfrm>
        </p:spPr>
        <p:txBody>
          <a:bodyPr/>
          <a:lstStyle/>
          <a:p>
            <a:r>
              <a:rPr lang="it-IT" dirty="0"/>
              <a:t>L'applicazione deve implementare le seguenti specifiche tecniche tassative nella prima fase di esecuzione all'interno del file sorgente:</a:t>
            </a:r>
          </a:p>
          <a:p>
            <a:r>
              <a:rPr lang="it-IT" dirty="0"/>
              <a:t>All'avvio il programma deve richiedere all'utente, tramite l'uso controllato della classe Scanner, quanti voti desidera registrare nel sistema.</a:t>
            </a:r>
          </a:p>
          <a:p>
            <a:r>
              <a:rPr lang="it-IT" dirty="0"/>
              <a:t>In base alla risposta ricevuta, il programma deve allocare dinamicamente nello Heap un array di interi della dimensione esatta richiesta.</a:t>
            </a:r>
          </a:p>
          <a:p>
            <a:r>
              <a:rPr lang="it-IT" dirty="0"/>
              <a:t>Successivamente, tramite un ciclo for standard, l'applicazione richiederà l'inserimento di ciascun voto.</a:t>
            </a:r>
          </a:p>
          <a:p>
            <a:r>
              <a:rPr lang="it-IT" dirty="0"/>
              <a:t>Ogni inserimento deve essere protetto da un ciclo di validazione post-condizionale do-</a:t>
            </a:r>
            <a:r>
              <a:rPr lang="it-IT" dirty="0" err="1"/>
              <a:t>while</a:t>
            </a:r>
            <a:r>
              <a:rPr lang="it-IT" dirty="0"/>
              <a:t>: il sistema rifiuterà l'inserimento e </a:t>
            </a:r>
            <a:r>
              <a:rPr lang="it-IT" dirty="0" err="1"/>
              <a:t>reitrererà</a:t>
            </a:r>
            <a:r>
              <a:rPr lang="it-IT" dirty="0"/>
              <a:t> la richiesta a schermo se il voto digitato non è un numero intero compreso strettamente nel range scolastico tra 2 e 10.</a:t>
            </a:r>
          </a:p>
        </p:txBody>
      </p:sp>
    </p:spTree>
    <p:extLst>
      <p:ext uri="{BB962C8B-B14F-4D97-AF65-F5344CB8AC3E}">
        <p14:creationId xmlns:p14="http://schemas.microsoft.com/office/powerpoint/2010/main" val="880409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5B9E4-FCF1-0D26-9F0F-F69BFDDE661C}"/>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9C70A80-EF9C-8A41-EE27-4BF3504C74BC}"/>
              </a:ext>
            </a:extLst>
          </p:cNvPr>
          <p:cNvSpPr>
            <a:spLocks noGrp="1"/>
          </p:cNvSpPr>
          <p:nvPr>
            <p:ph type="title"/>
          </p:nvPr>
        </p:nvSpPr>
        <p:spPr>
          <a:xfrm>
            <a:off x="838200" y="831206"/>
            <a:ext cx="10515600" cy="314198"/>
          </a:xfrm>
        </p:spPr>
        <p:txBody>
          <a:bodyPr/>
          <a:lstStyle/>
          <a:p>
            <a:r>
              <a:rPr lang="it-IT" dirty="0"/>
              <a:t>SLIDE 36: Specifiche Tecniche – Fase Elaborazione tramite Metodi</a:t>
            </a:r>
          </a:p>
        </p:txBody>
      </p:sp>
      <p:sp>
        <p:nvSpPr>
          <p:cNvPr id="3" name="Contenuto della lezione">
            <a:extLst>
              <a:ext uri="{FF2B5EF4-FFF2-40B4-BE49-F238E27FC236}">
                <a16:creationId xmlns:a16="http://schemas.microsoft.com/office/drawing/2014/main" id="{8D5B0502-8D36-F03C-D8FA-E2D8D4703925}"/>
              </a:ext>
            </a:extLst>
          </p:cNvPr>
          <p:cNvSpPr>
            <a:spLocks noGrp="1"/>
          </p:cNvSpPr>
          <p:nvPr>
            <p:ph idx="1"/>
          </p:nvPr>
        </p:nvSpPr>
        <p:spPr>
          <a:xfrm>
            <a:off x="1317319" y="1558742"/>
            <a:ext cx="9557362" cy="4803369"/>
          </a:xfrm>
        </p:spPr>
        <p:txBody>
          <a:bodyPr/>
          <a:lstStyle/>
          <a:p>
            <a:r>
              <a:rPr lang="it-IT" dirty="0"/>
              <a:t>La fase di elaborazione statistica dei dati inseriti nell'array non deve avvenire all'interno del metodo </a:t>
            </a:r>
            <a:r>
              <a:rPr lang="it-IT" dirty="0" err="1"/>
              <a:t>main</a:t>
            </a:r>
            <a:r>
              <a:rPr lang="it-IT" dirty="0"/>
              <a:t>. Siete obbligati a strutturare due metodi statici dedicati all'esterno del punto di ingresso:</a:t>
            </a:r>
          </a:p>
          <a:p>
            <a:r>
              <a:rPr lang="it-IT" b="1" dirty="0"/>
              <a:t>Metodo </a:t>
            </a:r>
            <a:r>
              <a:rPr lang="it-IT" b="1" dirty="0" err="1"/>
              <a:t>trovaVotoMigliore</a:t>
            </a:r>
            <a:r>
              <a:rPr lang="it-IT" b="1" dirty="0"/>
              <a:t>:</a:t>
            </a:r>
            <a:r>
              <a:rPr lang="it-IT" dirty="0"/>
              <a:t> deve ricevere l'array come parametro formale e restituire un intero (</a:t>
            </a:r>
            <a:r>
              <a:rPr lang="it-IT" dirty="0" err="1"/>
              <a:t>int</a:t>
            </a:r>
            <a:r>
              <a:rPr lang="it-IT" dirty="0"/>
              <a:t>) rappresentante il voto massimo rilevato applicando l'algoritmo di ricerca lineare sequenziale analizzato a lezione.</a:t>
            </a:r>
          </a:p>
          <a:p>
            <a:r>
              <a:rPr lang="it-IT" b="1" dirty="0"/>
              <a:t>Metodo </a:t>
            </a:r>
            <a:r>
              <a:rPr lang="it-IT" b="1" dirty="0" err="1"/>
              <a:t>contaInsufficienze</a:t>
            </a:r>
            <a:r>
              <a:rPr lang="it-IT" b="1" dirty="0"/>
              <a:t>:</a:t>
            </a:r>
            <a:r>
              <a:rPr lang="it-IT" dirty="0"/>
              <a:t> deve ricevere l'array come parametro formale e scansionarlo integralmente utilizzando esclusivamente il costrutto semplificato for-</a:t>
            </a:r>
            <a:r>
              <a:rPr lang="it-IT" dirty="0" err="1"/>
              <a:t>each</a:t>
            </a:r>
            <a:r>
              <a:rPr lang="it-IT" dirty="0"/>
              <a:t>. Il metodo calcolerà il numero di elementi che hanno un valore strettamente inferiore a 6, restituendo questo conteggio totale come valore intero al chiamante.</a:t>
            </a:r>
          </a:p>
        </p:txBody>
      </p:sp>
    </p:spTree>
    <p:extLst>
      <p:ext uri="{BB962C8B-B14F-4D97-AF65-F5344CB8AC3E}">
        <p14:creationId xmlns:p14="http://schemas.microsoft.com/office/powerpoint/2010/main" val="3968651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1E7F5-F760-FE3A-D500-CD42560E3DE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25D42E9E-F80D-16C5-BCB0-D81621D1F892}"/>
              </a:ext>
            </a:extLst>
          </p:cNvPr>
          <p:cNvSpPr>
            <a:spLocks noGrp="1"/>
          </p:cNvSpPr>
          <p:nvPr>
            <p:ph type="title"/>
          </p:nvPr>
        </p:nvSpPr>
        <p:spPr>
          <a:xfrm>
            <a:off x="838200" y="831206"/>
            <a:ext cx="10515600" cy="314198"/>
          </a:xfrm>
        </p:spPr>
        <p:txBody>
          <a:bodyPr/>
          <a:lstStyle/>
          <a:p>
            <a:r>
              <a:rPr lang="it-IT" dirty="0"/>
              <a:t>SLIDE 37: Fase Output e Formattazione del Report Finale</a:t>
            </a:r>
          </a:p>
        </p:txBody>
      </p:sp>
      <p:sp>
        <p:nvSpPr>
          <p:cNvPr id="3" name="Contenuto della lezione">
            <a:extLst>
              <a:ext uri="{FF2B5EF4-FFF2-40B4-BE49-F238E27FC236}">
                <a16:creationId xmlns:a16="http://schemas.microsoft.com/office/drawing/2014/main" id="{993CBF39-0865-4D74-0677-EDB1ABE8BB8F}"/>
              </a:ext>
            </a:extLst>
          </p:cNvPr>
          <p:cNvSpPr>
            <a:spLocks noGrp="1"/>
          </p:cNvSpPr>
          <p:nvPr>
            <p:ph idx="1"/>
          </p:nvPr>
        </p:nvSpPr>
        <p:spPr>
          <a:xfrm>
            <a:off x="1317319" y="1558742"/>
            <a:ext cx="9557362" cy="4803369"/>
          </a:xfrm>
        </p:spPr>
        <p:txBody>
          <a:bodyPr/>
          <a:lstStyle/>
          <a:p>
            <a:r>
              <a:rPr lang="it-IT" dirty="0"/>
              <a:t>Al termine dell'elaborazione, il metodo principale </a:t>
            </a:r>
            <a:r>
              <a:rPr lang="it-IT" dirty="0" err="1"/>
              <a:t>main</a:t>
            </a:r>
            <a:r>
              <a:rPr lang="it-IT" dirty="0"/>
              <a:t> richiamerà i metodi statistici creati passando l'array come argomento reale e raccogliendo i valori restituiti.</a:t>
            </a:r>
          </a:p>
          <a:p>
            <a:r>
              <a:rPr lang="it-IT" dirty="0"/>
              <a:t>L'applicazione dovrà stampare a console un report riassuntivo finale elegante, strutturato con linee di separazione testuali per simulare un'interfaccia professionale.</a:t>
            </a:r>
          </a:p>
          <a:p>
            <a:r>
              <a:rPr lang="it-IT" dirty="0"/>
              <a:t>Il report deve mostrare in sequenza: l'elenco completo dei voti memorizzati stampati sulla stessa riga, il valore del voto più alto conseguito dallo studente, il numero complessivo di insufficienze registrate nel registro temporaneo e, infine, un verdetto condizionale. </a:t>
            </a:r>
          </a:p>
          <a:p>
            <a:r>
              <a:rPr lang="it-IT" dirty="0"/>
              <a:t>Se le insufficienze sono pari a zero, il sistema visualizzerà il messaggio "Rendimento Eccellente!"; in caso contrario mostrerà il testo "Attenzione: Recuperare le carenze formative!".</a:t>
            </a:r>
          </a:p>
        </p:txBody>
      </p:sp>
    </p:spTree>
    <p:extLst>
      <p:ext uri="{BB962C8B-B14F-4D97-AF65-F5344CB8AC3E}">
        <p14:creationId xmlns:p14="http://schemas.microsoft.com/office/powerpoint/2010/main" val="2264214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9D2E7-60A8-5E29-E7C3-7BF6C9B0FF2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F9D9887-253A-0DCA-08DB-7F7C763261C4}"/>
              </a:ext>
            </a:extLst>
          </p:cNvPr>
          <p:cNvSpPr>
            <a:spLocks noGrp="1"/>
          </p:cNvSpPr>
          <p:nvPr>
            <p:ph type="title"/>
          </p:nvPr>
        </p:nvSpPr>
        <p:spPr>
          <a:xfrm>
            <a:off x="838200" y="831206"/>
            <a:ext cx="10515600" cy="314198"/>
          </a:xfrm>
        </p:spPr>
        <p:txBody>
          <a:bodyPr/>
          <a:lstStyle/>
          <a:p>
            <a:r>
              <a:rPr lang="it-IT" dirty="0"/>
              <a:t>SLIDE 38: Protezione del Sistema tramite Gestione Eccezioni</a:t>
            </a:r>
          </a:p>
        </p:txBody>
      </p:sp>
      <p:sp>
        <p:nvSpPr>
          <p:cNvPr id="3" name="Contenuto della lezione">
            <a:extLst>
              <a:ext uri="{FF2B5EF4-FFF2-40B4-BE49-F238E27FC236}">
                <a16:creationId xmlns:a16="http://schemas.microsoft.com/office/drawing/2014/main" id="{CE18472E-24D1-1BD1-325C-5D3F614B0636}"/>
              </a:ext>
            </a:extLst>
          </p:cNvPr>
          <p:cNvSpPr>
            <a:spLocks noGrp="1"/>
          </p:cNvSpPr>
          <p:nvPr>
            <p:ph idx="1"/>
          </p:nvPr>
        </p:nvSpPr>
        <p:spPr>
          <a:xfrm>
            <a:off x="1317319" y="1558742"/>
            <a:ext cx="9557362" cy="4803369"/>
          </a:xfrm>
        </p:spPr>
        <p:txBody>
          <a:bodyPr/>
          <a:lstStyle/>
          <a:p>
            <a:r>
              <a:rPr lang="it-IT" dirty="0"/>
              <a:t>Per gli studenti che puntano alla massima valutazione (fascia di eccellenza) nella griglia scolastica, viene richiesto un upgrade di sicurezza applicando le conoscenze sulla robustezza del codice. </a:t>
            </a:r>
          </a:p>
          <a:p>
            <a:r>
              <a:rPr lang="it-IT" dirty="0"/>
              <a:t>La fase iniziale in cui l'utente digita il numero di celle dell'array tramite </a:t>
            </a:r>
            <a:r>
              <a:rPr lang="it-IT" dirty="0" err="1"/>
              <a:t>tastiera.nextInt</a:t>
            </a:r>
            <a:r>
              <a:rPr lang="it-IT" dirty="0"/>
              <a:t>() è altamente critica: se l'utente, per errore o dolo, digita una lettera alfabetica al posto di un numero, la JVM lancerà un'eccezione di tipo </a:t>
            </a:r>
            <a:r>
              <a:rPr lang="it-IT" dirty="0" err="1"/>
              <a:t>InputMismatchException</a:t>
            </a:r>
            <a:r>
              <a:rPr lang="it-IT" dirty="0"/>
              <a:t> provocando il crash immediato del programma. </a:t>
            </a:r>
          </a:p>
          <a:p>
            <a:r>
              <a:rPr lang="it-IT" dirty="0"/>
              <a:t>Siete richiesti di racchiudere l'operazione di inizializzazione all'interno di un blocco </a:t>
            </a:r>
            <a:r>
              <a:rPr lang="it-IT" dirty="0" err="1"/>
              <a:t>try</a:t>
            </a:r>
            <a:r>
              <a:rPr lang="it-IT" dirty="0"/>
              <a:t>-catch dedicato. </a:t>
            </a:r>
          </a:p>
          <a:p>
            <a:r>
              <a:rPr lang="it-IT" dirty="0"/>
              <a:t>In caso di errore intercettato dal catch, il programma non deve crashare, ma deve mostrare un avviso formattato di errore hardware e impostare la dimensione dell'array a un valore sicuro di default pari a 3 elementi.</a:t>
            </a:r>
          </a:p>
        </p:txBody>
      </p:sp>
    </p:spTree>
    <p:extLst>
      <p:ext uri="{BB962C8B-B14F-4D97-AF65-F5344CB8AC3E}">
        <p14:creationId xmlns:p14="http://schemas.microsoft.com/office/powerpoint/2010/main" val="3023797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64788-4F5C-CE34-9A84-B6DDA292B491}"/>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6B1A3756-E3D8-67D9-F044-E1B7A61C337F}"/>
              </a:ext>
            </a:extLst>
          </p:cNvPr>
          <p:cNvSpPr>
            <a:spLocks noGrp="1"/>
          </p:cNvSpPr>
          <p:nvPr>
            <p:ph type="title"/>
          </p:nvPr>
        </p:nvSpPr>
        <p:spPr>
          <a:xfrm>
            <a:off x="838200" y="831206"/>
            <a:ext cx="10515600" cy="314198"/>
          </a:xfrm>
        </p:spPr>
        <p:txBody>
          <a:bodyPr/>
          <a:lstStyle/>
          <a:p>
            <a:r>
              <a:rPr lang="it-IT" dirty="0"/>
              <a:t>SLIDE 39: Criteri di Valutazione della Consegna di Laboratorio</a:t>
            </a:r>
          </a:p>
        </p:txBody>
      </p:sp>
      <p:sp>
        <p:nvSpPr>
          <p:cNvPr id="3" name="Contenuto della lezione">
            <a:extLst>
              <a:ext uri="{FF2B5EF4-FFF2-40B4-BE49-F238E27FC236}">
                <a16:creationId xmlns:a16="http://schemas.microsoft.com/office/drawing/2014/main" id="{CE65DC2B-1A94-5200-76B5-CF9033EF0B21}"/>
              </a:ext>
            </a:extLst>
          </p:cNvPr>
          <p:cNvSpPr>
            <a:spLocks noGrp="1"/>
          </p:cNvSpPr>
          <p:nvPr>
            <p:ph idx="1"/>
          </p:nvPr>
        </p:nvSpPr>
        <p:spPr>
          <a:xfrm>
            <a:off x="1317319" y="1558742"/>
            <a:ext cx="9557362" cy="4803369"/>
          </a:xfrm>
        </p:spPr>
        <p:txBody>
          <a:bodyPr/>
          <a:lstStyle/>
          <a:p>
            <a:r>
              <a:rPr lang="it-IT" dirty="0"/>
              <a:t>La correzione dell'elaborato finale seguirà una rubrica di valutazione analitica conforme agli standard ministeriali degli istituti tecnici industriali, suddivisa in quattro indicatori precisi:</a:t>
            </a:r>
          </a:p>
          <a:p>
            <a:r>
              <a:rPr lang="it-IT" b="1" dirty="0"/>
              <a:t>Sintassi e Compilazione (25%):</a:t>
            </a:r>
            <a:r>
              <a:rPr lang="it-IT" dirty="0"/>
              <a:t> Assenza totale di errori sintattici. Rispetto delle convenzioni di Naming (</a:t>
            </a:r>
            <a:r>
              <a:rPr lang="it-IT" dirty="0" err="1"/>
              <a:t>PascalCase</a:t>
            </a:r>
            <a:r>
              <a:rPr lang="it-IT" dirty="0"/>
              <a:t> per classi, </a:t>
            </a:r>
            <a:r>
              <a:rPr lang="it-IT" dirty="0" err="1"/>
              <a:t>camelCase</a:t>
            </a:r>
            <a:r>
              <a:rPr lang="it-IT" dirty="0"/>
              <a:t> per metodi).</a:t>
            </a:r>
          </a:p>
          <a:p>
            <a:r>
              <a:rPr lang="it-IT" b="1" dirty="0"/>
              <a:t>Modularità (25%):</a:t>
            </a:r>
            <a:r>
              <a:rPr lang="it-IT" dirty="0"/>
              <a:t> Corretto passaggio dei parametri e firma dei metodi statistici richiesti.</a:t>
            </a:r>
          </a:p>
          <a:p>
            <a:r>
              <a:rPr lang="it-IT" b="1" dirty="0"/>
              <a:t>Logica Algoritmica (25%):</a:t>
            </a:r>
            <a:r>
              <a:rPr lang="it-IT" dirty="0"/>
              <a:t> Efficacia dei cicli di validazione del range dei voti e correttezza degli algoritmi di ricerca del massimo.</a:t>
            </a:r>
          </a:p>
          <a:p>
            <a:r>
              <a:rPr lang="it-IT" b="1" dirty="0"/>
              <a:t>Robustezza (25%):</a:t>
            </a:r>
            <a:r>
              <a:rPr lang="it-IT" dirty="0"/>
              <a:t> Presenza e corretta implementazione dei controlli sulle eccezioni di input della tastiera per prevenire i crash di esecuzione.</a:t>
            </a:r>
          </a:p>
        </p:txBody>
      </p:sp>
    </p:spTree>
    <p:extLst>
      <p:ext uri="{BB962C8B-B14F-4D97-AF65-F5344CB8AC3E}">
        <p14:creationId xmlns:p14="http://schemas.microsoft.com/office/powerpoint/2010/main" val="2029195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45346-6C82-3C1A-611D-3F819702876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F3B187A7-FB6C-30E4-68E6-9CBA301F54BB}"/>
              </a:ext>
            </a:extLst>
          </p:cNvPr>
          <p:cNvSpPr>
            <a:spLocks noGrp="1"/>
          </p:cNvSpPr>
          <p:nvPr>
            <p:ph type="title"/>
          </p:nvPr>
        </p:nvSpPr>
        <p:spPr>
          <a:xfrm>
            <a:off x="838200" y="831206"/>
            <a:ext cx="10515600" cy="314198"/>
          </a:xfrm>
        </p:spPr>
        <p:txBody>
          <a:bodyPr/>
          <a:lstStyle/>
          <a:p>
            <a:r>
              <a:rPr lang="it-IT" dirty="0"/>
              <a:t>SLIDE 40: Conclusione del Modulo e Introduzione al Successivo</a:t>
            </a:r>
          </a:p>
        </p:txBody>
      </p:sp>
      <p:sp>
        <p:nvSpPr>
          <p:cNvPr id="3" name="Contenuto della lezione">
            <a:extLst>
              <a:ext uri="{FF2B5EF4-FFF2-40B4-BE49-F238E27FC236}">
                <a16:creationId xmlns:a16="http://schemas.microsoft.com/office/drawing/2014/main" id="{BD7EC0EE-D30F-E079-6F2B-7B1172D235DC}"/>
              </a:ext>
            </a:extLst>
          </p:cNvPr>
          <p:cNvSpPr>
            <a:spLocks noGrp="1"/>
          </p:cNvSpPr>
          <p:nvPr>
            <p:ph idx="1"/>
          </p:nvPr>
        </p:nvSpPr>
        <p:spPr>
          <a:xfrm>
            <a:off x="1317319" y="1558742"/>
            <a:ext cx="9557362" cy="4803369"/>
          </a:xfrm>
        </p:spPr>
        <p:txBody>
          <a:bodyPr/>
          <a:lstStyle/>
          <a:p>
            <a:r>
              <a:rPr lang="it-IT" dirty="0"/>
              <a:t>Congratulazioni per aver completato il modulo SF03PR02 dedicato ai Fondamenti di Java. </a:t>
            </a:r>
          </a:p>
          <a:p>
            <a:r>
              <a:rPr lang="it-IT" dirty="0"/>
              <a:t>Saper dominare le variabili, i cicli, gli array e la scomposizione in metodi significa aver acquisito le competenze logiche e strutturali fondamentali dell'informatica industriale.</a:t>
            </a:r>
          </a:p>
          <a:p>
            <a:r>
              <a:rPr lang="it-IT"/>
              <a:t>Siete </a:t>
            </a:r>
            <a:r>
              <a:rPr lang="it-IT" dirty="0"/>
              <a:t>ora in possesso degli strumenti mentali necessari per compiere il passo successivo e più importante nel percorso dei programmatori: l'abbandono della vecchia logica procedurale e sequenziale per entrare nel potente mondo dell'architettura software aziendale</a:t>
            </a:r>
            <a:r>
              <a:rPr lang="it-IT"/>
              <a:t>. </a:t>
            </a:r>
          </a:p>
          <a:p>
            <a:r>
              <a:rPr lang="it-IT"/>
              <a:t>Nel </a:t>
            </a:r>
            <a:r>
              <a:rPr lang="it-IT" dirty="0"/>
              <a:t>prossimo modulo, SF03PR03 (Java Object </a:t>
            </a:r>
            <a:r>
              <a:rPr lang="it-IT" dirty="0" err="1"/>
              <a:t>Oriented</a:t>
            </a:r>
            <a:r>
              <a:rPr lang="it-IT" dirty="0"/>
              <a:t>), vedremo come fondere insieme i dati e le funzioni all'interno di strutture intelligenti chiamate Classi e Oggetti, applicando i pilastri dell'Incapsulamento e dell'Astrazione. Continuate a esercitarvi in laboratorio e buon codice!</a:t>
            </a:r>
          </a:p>
        </p:txBody>
      </p:sp>
    </p:spTree>
    <p:extLst>
      <p:ext uri="{BB962C8B-B14F-4D97-AF65-F5344CB8AC3E}">
        <p14:creationId xmlns:p14="http://schemas.microsoft.com/office/powerpoint/2010/main" val="3471468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E02355-4941-9C10-CA1D-649F04DB5143}"/>
              </a:ext>
            </a:extLst>
          </p:cNvPr>
          <p:cNvSpPr>
            <a:spLocks noGrp="1"/>
          </p:cNvSpPr>
          <p:nvPr>
            <p:ph type="title"/>
          </p:nvPr>
        </p:nvSpPr>
        <p:spPr/>
        <p:txBody>
          <a:bodyPr/>
          <a:lstStyle/>
          <a:p>
            <a:r>
              <a:rPr lang="it-IT" spc="0" dirty="0">
                <a:latin typeface="Neue Haas Grotesk Text Pro" panose="020B0504020202020204" pitchFamily="34" charset="0"/>
              </a:rPr>
              <a:t>GRAZIE PER L’ATTENZIONE</a:t>
            </a:r>
          </a:p>
        </p:txBody>
      </p:sp>
    </p:spTree>
    <p:extLst>
      <p:ext uri="{BB962C8B-B14F-4D97-AF65-F5344CB8AC3E}">
        <p14:creationId xmlns:p14="http://schemas.microsoft.com/office/powerpoint/2010/main" val="3003246572"/>
      </p:ext>
    </p:extLst>
  </p:cSld>
  <p:clrMapOvr>
    <a:masterClrMapping/>
  </p:clrMapOvr>
</p:sld>
</file>

<file path=ppt/theme/theme1.xml><?xml version="1.0" encoding="utf-8"?>
<a:theme xmlns:a="http://schemas.openxmlformats.org/drawingml/2006/main" name="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455C6CD0B9BF4DB2CA3009677D9668" ma:contentTypeVersion="17" ma:contentTypeDescription="Create a new document." ma:contentTypeScope="" ma:versionID="6361f2605a906a42d9630ca59d277a8b">
  <xsd:schema xmlns:xsd="http://www.w3.org/2001/XMLSchema" xmlns:xs="http://www.w3.org/2001/XMLSchema" xmlns:p="http://schemas.microsoft.com/office/2006/metadata/properties" xmlns:ns2="8b3acf13-3a58-43b2-a29e-f23503de136d" xmlns:ns3="21b72fd8-e7d0-49ac-9795-d1b0bc6b7e1c" targetNamespace="http://schemas.microsoft.com/office/2006/metadata/properties" ma:root="true" ma:fieldsID="ae4eb9e2c998b5efed80ec6126f835fa" ns2:_="" ns3:_="">
    <xsd:import namespace="8b3acf13-3a58-43b2-a29e-f23503de136d"/>
    <xsd:import namespace="21b72fd8-e7d0-49ac-9795-d1b0bc6b7e1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Argoment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acf13-3a58-43b2-a29e-f23503de1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f31c764-9f90-46cb-b927-e7c76de0672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Argomento" ma:index="24" nillable="true" ma:displayName="Argomento" ma:format="Dropdown" ma:internalName="Argoment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b72fd8-e7d0-49ac-9795-d1b0bc6b7e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0603bf2-5c45-4900-ad6d-aa2e93470d68}" ma:internalName="TaxCatchAll" ma:showField="CatchAllData" ma:web="21b72fd8-e7d0-49ac-9795-d1b0bc6b7e1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1b72fd8-e7d0-49ac-9795-d1b0bc6b7e1c" xsi:nil="true"/>
    <lcf76f155ced4ddcb4097134ff3c332f xmlns="8b3acf13-3a58-43b2-a29e-f23503de136d">
      <Terms xmlns="http://schemas.microsoft.com/office/infopath/2007/PartnerControls"/>
    </lcf76f155ced4ddcb4097134ff3c332f>
    <Argomento xmlns="8b3acf13-3a58-43b2-a29e-f23503de136d" xsi:nil="true"/>
  </documentManagement>
</p:properties>
</file>

<file path=customXml/itemProps1.xml><?xml version="1.0" encoding="utf-8"?>
<ds:datastoreItem xmlns:ds="http://schemas.openxmlformats.org/officeDocument/2006/customXml" ds:itemID="{70468F63-B318-4D5F-A1DF-86BE98AC22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3acf13-3a58-43b2-a29e-f23503de136d"/>
    <ds:schemaRef ds:uri="21b72fd8-e7d0-49ac-9795-d1b0bc6b7e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C65656-B2D8-4C19-A873-091B25A5212E}">
  <ds:schemaRefs>
    <ds:schemaRef ds:uri="http://schemas.microsoft.com/sharepoint/v3/contenttype/forms"/>
  </ds:schemaRefs>
</ds:datastoreItem>
</file>

<file path=customXml/itemProps3.xml><?xml version="1.0" encoding="utf-8"?>
<ds:datastoreItem xmlns:ds="http://schemas.openxmlformats.org/officeDocument/2006/customXml" ds:itemID="{6766878A-54ED-4867-B478-72A29DC19B89}">
  <ds:schemaRefs>
    <ds:schemaRef ds:uri="http://schemas.microsoft.com/office/2006/metadata/properties"/>
    <ds:schemaRef ds:uri="http://schemas.microsoft.com/office/infopath/2007/PartnerControls"/>
    <ds:schemaRef ds:uri="21b72fd8-e7d0-49ac-9795-d1b0bc6b7e1c"/>
    <ds:schemaRef ds:uri="8b3acf13-3a58-43b2-a29e-f23503de136d"/>
  </ds:schemaRefs>
</ds:datastoreItem>
</file>

<file path=docProps/app.xml><?xml version="1.0" encoding="utf-8"?>
<Properties xmlns="http://schemas.openxmlformats.org/officeDocument/2006/extended-properties" xmlns:vt="http://schemas.openxmlformats.org/officeDocument/2006/docPropsVTypes">
  <Template/>
  <TotalTime>1407</TotalTime>
  <Words>6096</Words>
  <Application>Microsoft Office PowerPoint</Application>
  <PresentationFormat>Widescreen</PresentationFormat>
  <Paragraphs>269</Paragraphs>
  <Slides>44</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44</vt:i4>
      </vt:variant>
    </vt:vector>
  </HeadingPairs>
  <TitlesOfParts>
    <vt:vector size="50" baseType="lpstr">
      <vt:lpstr>Arial</vt:lpstr>
      <vt:lpstr>Calibri</vt:lpstr>
      <vt:lpstr>Consolas</vt:lpstr>
      <vt:lpstr>Neue Haas Grotesk Display Pro</vt:lpstr>
      <vt:lpstr>Neue Haas Grotesk Text Pro</vt:lpstr>
      <vt:lpstr>Intro</vt:lpstr>
      <vt:lpstr>Presentazione standard di PowerPoint</vt:lpstr>
      <vt:lpstr>Presentazione standard di PowerPoint</vt:lpstr>
      <vt:lpstr>SEZIONE 1: INTRODUZIONE ALL'AMBIENTE E ARCHITETTURA (Slide 1 - 6) Slide 1: Lo Sviluppo Software Tradizionale e il Muro della Diffidenza</vt:lpstr>
      <vt:lpstr>Slide 2: La Filosofia di Java – Il Principio WORA</vt:lpstr>
      <vt:lpstr>SLIDE 3: Architettura Java – JDK, JRE e JVM</vt:lpstr>
      <vt:lpstr>SLIDE 4: Il Processo di Compilazione ed Esecuzione</vt:lpstr>
      <vt:lpstr>SLIDE 5: Struttura di un Programma Java e il Metodo main</vt:lpstr>
      <vt:lpstr>SLIDE 6: Esercizio Guidato – Primo Avvio da Riga di Comando</vt:lpstr>
      <vt:lpstr>SEZIONE 2: : VARIABILI, TIPI DI DATO E OPERATORI (Slide 7 - 15) SLIDE 7: Unità Didattica 1 – Variabili e Tipizzazione Forte</vt:lpstr>
      <vt:lpstr>SLIDE 8: I Tipi di Dato Primitivi in Java</vt:lpstr>
      <vt:lpstr>SLIDE 9: Casting Implicito ed Esplicito tra Tipi Numerici</vt:lpstr>
      <vt:lpstr>SLIDE 10: Operatori Aritmetici e la Divisione Intera</vt:lpstr>
      <vt:lpstr>SLIDE 11: Operatori di Incremento, Decremento e Assegnazione Composta</vt:lpstr>
      <vt:lpstr>SLIDE 12: Gli Operatori Relazionali e Logici (Booleani)</vt:lpstr>
      <vt:lpstr>SLIDE 13: Il Tipo di Dato String e la Concatenazione</vt:lpstr>
      <vt:lpstr>SLIDE 14: Esercizio Guidato – Calcolo della Conversione di Temperatura</vt:lpstr>
      <vt:lpstr>SLIDE 14: Esercizio Svolto</vt:lpstr>
      <vt:lpstr>SLIDE 15: Input Dati da Console tramite la Classe Scanner</vt:lpstr>
      <vt:lpstr>SEZIONE 3: STRUTTURE DI CONTROLLO CONDIZIONALI E ITERATIVE (Slide 16 - 24) SLIDE 16: Unità Didattica 2 – Selezione Condizionale: If-Else Multivio</vt:lpstr>
      <vt:lpstr>SLIDE 17: La Selezione Multipla tramite il Costrutto Switch</vt:lpstr>
      <vt:lpstr>SLIDE 18: Il Concetto di Iterazione e il Ciclo While (Pre-condizionale)</vt:lpstr>
      <vt:lpstr>SLIDE 19: Il Ciclo Do-While (Post-condizionale)</vt:lpstr>
      <vt:lpstr>SLIDE 20: Il Ciclo For (Iterazione Definita o Enumerativa)</vt:lpstr>
      <vt:lpstr>SLIDE 21: Esercizio Guidato – Validazione del Voto Scolastico</vt:lpstr>
      <vt:lpstr>SLIDE 22: Controllo del Flusso Avanzato: Break e Continue</vt:lpstr>
      <vt:lpstr>SLIDE 23: Cicli Annidati e Algoritmi di Visualizzazione Grafica</vt:lpstr>
      <vt:lpstr>SLIDE 24: Array Monodimensionali (Vettori) come Strutture Dati Statiche</vt:lpstr>
      <vt:lpstr>SEZIONE 4: ELABORAZIONE DATI E METODI (Slide 25 - 33) SLIDE 25: Scansione di un Array tramite Ciclo For e la Proprietà Length</vt:lpstr>
      <vt:lpstr>SLIDE 26: Algoritmi di Ricerca del Massimo e del Minimo</vt:lpstr>
      <vt:lpstr>SLIDE 27: Il Ciclo For-Each (Enhanced For Loop)</vt:lpstr>
      <vt:lpstr>SLIDE 28: Introduzione alla Scomposizione in Metodi</vt:lpstr>
      <vt:lpstr>SLIDE 29: Anatomia della Firma di un Metodo Java</vt:lpstr>
      <vt:lpstr>SLIDE 30: Il Meccanismo di Ritorno dei Dati: la Parola Chiave Return</vt:lpstr>
      <vt:lpstr>SLIDE 31: Parametri Formali vs Argomenti Reali</vt:lpstr>
      <vt:lpstr>SLIDE 32: Esercizio Guidato – Creazione di un Metodo di Calcolo Media</vt:lpstr>
      <vt:lpstr>SLIDE 33: Gestione Robustezza: Introduzione alle Eccezioni RunTime</vt:lpstr>
      <vt:lpstr>SEZIONE 5: PROVA PRATICA DI VALUTAZIONE (Slide 34 - 40) SLIDE 34: Unità Didattica 3 – Laboratorio Finale e Compito Autentico</vt:lpstr>
      <vt:lpstr>SLIDE 35: Specifiche Tecniche del Laboratorio – Fase Input</vt:lpstr>
      <vt:lpstr>SLIDE 36: Specifiche Tecniche – Fase Elaborazione tramite Metodi</vt:lpstr>
      <vt:lpstr>SLIDE 37: Fase Output e Formattazione del Report Finale</vt:lpstr>
      <vt:lpstr>SLIDE 38: Protezione del Sistema tramite Gestione Eccezioni</vt:lpstr>
      <vt:lpstr>SLIDE 39: Criteri di Valutazione della Consegna di Laboratorio</vt:lpstr>
      <vt:lpstr>SLIDE 40: Conclusione del Modulo e Introduzione al Successivo</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Davide Grillo</dc:creator>
  <cp:lastModifiedBy>Mirko Ony</cp:lastModifiedBy>
  <cp:revision>259</cp:revision>
  <dcterms:created xsi:type="dcterms:W3CDTF">2023-09-21T07:59:23Z</dcterms:created>
  <dcterms:modified xsi:type="dcterms:W3CDTF">2026-07-07T17:30:11Z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0x010100D3455C6CD0B9BF4DB2CA3009677D9668</vt:lpwstr>
  </property>
</Properties>
</file>