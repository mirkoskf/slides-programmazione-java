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48"/>
  </p:notesMasterIdLst>
  <p:handoutMasterIdLst>
    <p:handoutMasterId r:id="rId49"/>
  </p:handoutMasterIdLst>
  <p:sldIdLst>
    <p:sldId id="262" r:id="rId5"/>
    <p:sldId id="259" r:id="rId6"/>
    <p:sldId id="258" r:id="rId7"/>
    <p:sldId id="263" r:id="rId8"/>
    <p:sldId id="264" r:id="rId9"/>
    <p:sldId id="265" r:id="rId10"/>
    <p:sldId id="266" r:id="rId11"/>
    <p:sldId id="267" r:id="rId12"/>
    <p:sldId id="268" r:id="rId13"/>
    <p:sldId id="269" r:id="rId14"/>
    <p:sldId id="270" r:id="rId15"/>
    <p:sldId id="272"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261" r:id="rId4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ko Ony" initials="MO" lastIdx="3" clrIdx="0">
    <p:extLst>
      <p:ext uri="{19B8F6BF-5375-455C-9EA6-DF929625EA0E}">
        <p15:presenceInfo xmlns:p15="http://schemas.microsoft.com/office/powerpoint/2012/main" userId="cdc90d7e3e97d3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FE2"/>
    <a:srgbClr val="0C0C0D"/>
    <a:srgbClr val="FFD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0" autoAdjust="0"/>
    <p:restoredTop sz="92907" autoAdjust="0"/>
  </p:normalViewPr>
  <p:slideViewPr>
    <p:cSldViewPr snapToGrid="0" showGuides="1">
      <p:cViewPr varScale="1">
        <p:scale>
          <a:sx n="105" d="100"/>
          <a:sy n="105" d="100"/>
        </p:scale>
        <p:origin x="630"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6" d="100"/>
          <a:sy n="56" d="100"/>
        </p:scale>
        <p:origin x="190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BF59EF6-0FF4-3C26-C2BB-DB4C816469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A684938-E2E5-17C8-EF87-D39DC23A0C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567D21-D55F-4A7B-94FF-7608FD989819}" type="datetimeFigureOut">
              <a:rPr lang="it-IT" smtClean="0"/>
              <a:t>07/07/2026</a:t>
            </a:fld>
            <a:endParaRPr lang="it-IT"/>
          </a:p>
        </p:txBody>
      </p:sp>
      <p:sp>
        <p:nvSpPr>
          <p:cNvPr id="4" name="Segnaposto piè di pagina 3">
            <a:extLst>
              <a:ext uri="{FF2B5EF4-FFF2-40B4-BE49-F238E27FC236}">
                <a16:creationId xmlns:a16="http://schemas.microsoft.com/office/drawing/2014/main" id="{71588DC1-54E0-DA10-6330-B5B85E54BE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4BF496F1-A8FC-84F6-A381-661BDD027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1F2323-8915-4474-89BB-0944B80755B1}" type="slidenum">
              <a:rPr lang="it-IT" smtClean="0"/>
              <a:t>‹N›</a:t>
            </a:fld>
            <a:endParaRPr lang="it-IT"/>
          </a:p>
        </p:txBody>
      </p:sp>
    </p:spTree>
    <p:extLst>
      <p:ext uri="{BB962C8B-B14F-4D97-AF65-F5344CB8AC3E}">
        <p14:creationId xmlns:p14="http://schemas.microsoft.com/office/powerpoint/2010/main" val="451458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B2B73-14A8-482F-9803-A95CC73B5B34}" type="datetimeFigureOut">
              <a:rPr lang="it-IT" smtClean="0"/>
              <a:t>07/07/2026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FDE81-C331-4896-AC61-55381248B14B}" type="slidenum">
              <a:rPr lang="it-IT" smtClean="0"/>
              <a:t>‹N›</a:t>
            </a:fld>
            <a:endParaRPr lang="it-IT"/>
          </a:p>
        </p:txBody>
      </p:sp>
    </p:spTree>
    <p:extLst>
      <p:ext uri="{BB962C8B-B14F-4D97-AF65-F5344CB8AC3E}">
        <p14:creationId xmlns:p14="http://schemas.microsoft.com/office/powerpoint/2010/main" val="44680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88FDE81-C331-4896-AC61-55381248B14B}" type="slidenum">
              <a:rPr lang="it-IT" smtClean="0"/>
              <a:t>2</a:t>
            </a:fld>
            <a:endParaRPr lang="it-IT"/>
          </a:p>
        </p:txBody>
      </p:sp>
    </p:spTree>
    <p:extLst>
      <p:ext uri="{BB962C8B-B14F-4D97-AF65-F5344CB8AC3E}">
        <p14:creationId xmlns:p14="http://schemas.microsoft.com/office/powerpoint/2010/main" val="1347248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jp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pic>
        <p:nvPicPr>
          <p:cNvPr id="3" name="Logo">
            <a:extLst>
              <a:ext uri="{FF2B5EF4-FFF2-40B4-BE49-F238E27FC236}">
                <a16:creationId xmlns:a16="http://schemas.microsoft.com/office/drawing/2014/main" id="{4C834844-A2F7-AC9C-2087-6061FCF61E4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1312" y="3055807"/>
            <a:ext cx="6429375" cy="746384"/>
          </a:xfrm>
          <a:prstGeom prst="rect">
            <a:avLst/>
          </a:prstGeom>
        </p:spPr>
      </p:pic>
      <p:sp>
        <p:nvSpPr>
          <p:cNvPr id="2" name="Segnaposto numero diapositiva 1">
            <a:extLst>
              <a:ext uri="{FF2B5EF4-FFF2-40B4-BE49-F238E27FC236}">
                <a16:creationId xmlns:a16="http://schemas.microsoft.com/office/drawing/2014/main" id="{38E5D1B6-A890-892D-9858-91BBCF4C4D74}"/>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tx1"/>
                </a:solidFill>
              </a:defRPr>
            </a:lvl1pPr>
          </a:lstStyle>
          <a:p>
            <a:fld id="{EE05E91E-B103-4211-9892-B5CF4BF06646}" type="slidenum">
              <a:rPr lang="it-IT" smtClean="0"/>
              <a:pPr/>
              <a:t>‹N›</a:t>
            </a:fld>
            <a:endParaRPr lang="it-IT"/>
          </a:p>
        </p:txBody>
      </p:sp>
    </p:spTree>
    <p:extLst>
      <p:ext uri="{BB962C8B-B14F-4D97-AF65-F5344CB8AC3E}">
        <p14:creationId xmlns:p14="http://schemas.microsoft.com/office/powerpoint/2010/main" val="318316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olo della lezione">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03BCE473-8FC3-9F4F-E292-BFC28ABE7B2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100000"/>
                    </a14:imgEffect>
                    <a14:imgEffect>
                      <a14:saturation sat="66000"/>
                    </a14:imgEffect>
                  </a14:imgLayer>
                </a14:imgProps>
              </a:ext>
              <a:ext uri="{28A0092B-C50C-407E-A947-70E740481C1C}">
                <a14:useLocalDpi xmlns:a14="http://schemas.microsoft.com/office/drawing/2010/main" val="0"/>
              </a:ext>
            </a:extLst>
          </a:blip>
          <a:srcRect t="7498" b="7498"/>
          <a:stretch/>
        </p:blipFill>
        <p:spPr>
          <a:xfrm>
            <a:off x="8" y="4"/>
            <a:ext cx="12191984" cy="6857991"/>
          </a:xfrm>
          <a:prstGeom prst="rect">
            <a:avLst/>
          </a:prstGeom>
        </p:spPr>
      </p:pic>
      <p:sp>
        <p:nvSpPr>
          <p:cNvPr id="2" name="Titolo 1">
            <a:extLst>
              <a:ext uri="{FF2B5EF4-FFF2-40B4-BE49-F238E27FC236}">
                <a16:creationId xmlns:a16="http://schemas.microsoft.com/office/drawing/2014/main" id="{D46FDB36-122C-6ED3-0E68-A04440759196}"/>
              </a:ext>
            </a:extLst>
          </p:cNvPr>
          <p:cNvSpPr>
            <a:spLocks noGrp="1"/>
          </p:cNvSpPr>
          <p:nvPr>
            <p:ph type="ctrTitle" hasCustomPrompt="1"/>
          </p:nvPr>
        </p:nvSpPr>
        <p:spPr>
          <a:xfrm>
            <a:off x="4749604" y="2315869"/>
            <a:ext cx="2692791" cy="55802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2800" b="1" kern="1200">
                <a:solidFill>
                  <a:schemeClr val="bg1"/>
                </a:solidFill>
                <a:latin typeface="Neue Haas Grotesk Display Pro" panose="020D0304030502050203" pitchFamily="34" charset="0"/>
                <a:ea typeface="+mj-ea"/>
                <a:cs typeface="+mj-cs"/>
              </a:defRPr>
            </a:lvl1pPr>
          </a:lstStyle>
          <a:p>
            <a:r>
              <a:rPr lang="it-IT" dirty="0"/>
              <a:t>Lezione n</a:t>
            </a:r>
          </a:p>
        </p:txBody>
      </p:sp>
      <p:sp>
        <p:nvSpPr>
          <p:cNvPr id="3" name="Sottotitolo 2">
            <a:extLst>
              <a:ext uri="{FF2B5EF4-FFF2-40B4-BE49-F238E27FC236}">
                <a16:creationId xmlns:a16="http://schemas.microsoft.com/office/drawing/2014/main" id="{C0F8F589-6BFD-59A4-6E34-32CA9C30E50B}"/>
              </a:ext>
            </a:extLst>
          </p:cNvPr>
          <p:cNvSpPr>
            <a:spLocks noGrp="1"/>
          </p:cNvSpPr>
          <p:nvPr>
            <p:ph type="subTitle" idx="1" hasCustomPrompt="1"/>
          </p:nvPr>
        </p:nvSpPr>
        <p:spPr>
          <a:xfrm>
            <a:off x="838200" y="3152912"/>
            <a:ext cx="10515600" cy="6728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4400" b="1" kern="1200">
                <a:solidFill>
                  <a:schemeClr val="bg1"/>
                </a:solidFill>
                <a:latin typeface="Neue Haas Grotesk Display Pro" panose="020D030403050205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TITOLO DELLA LEZIONE</a:t>
            </a:r>
          </a:p>
        </p:txBody>
      </p:sp>
      <p:sp>
        <p:nvSpPr>
          <p:cNvPr id="7" name="Autore">
            <a:extLst>
              <a:ext uri="{FF2B5EF4-FFF2-40B4-BE49-F238E27FC236}">
                <a16:creationId xmlns:a16="http://schemas.microsoft.com/office/drawing/2014/main" id="{21C9F551-AFE9-0973-2117-C6CBF8585A06}"/>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bg1"/>
                </a:solidFill>
                <a:latin typeface="Arial"/>
                <a:cs typeface="Arial"/>
              </a:rPr>
              <a:t>Autore: Mirko Onorato</a:t>
            </a:r>
            <a:endParaRPr lang="it-IT" sz="950" spc="300" dirty="0">
              <a:solidFill>
                <a:schemeClr val="bg1"/>
              </a:solidFill>
              <a:latin typeface="Arial"/>
              <a:cs typeface="Arial"/>
            </a:endParaRPr>
          </a:p>
        </p:txBody>
      </p:sp>
      <p:pic>
        <p:nvPicPr>
          <p:cNvPr id="8" name="Logo">
            <a:extLst>
              <a:ext uri="{FF2B5EF4-FFF2-40B4-BE49-F238E27FC236}">
                <a16:creationId xmlns:a16="http://schemas.microsoft.com/office/drawing/2014/main" id="{C4425D4D-A67B-8DB9-9A03-E768C2FD3E34}"/>
              </a:ext>
            </a:extLst>
          </p:cNvPr>
          <p:cNvPicPr>
            <a:picLocks noChangeAspect="1"/>
          </p:cNvPicPr>
          <p:nvPr userDrawn="1"/>
        </p:nvPicPr>
        <p:blipFill>
          <a:blip r:embed="rId4">
            <a:lum bright="10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8488" y="285335"/>
            <a:ext cx="2211023" cy="314198"/>
          </a:xfrm>
          <a:prstGeom prst="rect">
            <a:avLst/>
          </a:prstGeom>
        </p:spPr>
      </p:pic>
      <p:sp>
        <p:nvSpPr>
          <p:cNvPr id="13" name="Segnaposto numero diapositiva 6" hidden="1">
            <a:extLst>
              <a:ext uri="{FF2B5EF4-FFF2-40B4-BE49-F238E27FC236}">
                <a16:creationId xmlns:a16="http://schemas.microsoft.com/office/drawing/2014/main" id="{F8AAF250-B3FA-F808-9996-FA310B7EEAE0}"/>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bg1"/>
                </a:solidFill>
              </a:defRPr>
            </a:lvl1pPr>
          </a:lstStyle>
          <a:p>
            <a:fld id="{EE05E91E-B103-4211-9892-B5CF4BF06646}" type="slidenum">
              <a:rPr lang="it-IT" smtClean="0"/>
              <a:pPr/>
              <a:t>‹N›</a:t>
            </a:fld>
            <a:endParaRPr lang="it-IT"/>
          </a:p>
        </p:txBody>
      </p:sp>
      <p:pic>
        <p:nvPicPr>
          <p:cNvPr id="4" name="object 2">
            <a:extLst>
              <a:ext uri="{FF2B5EF4-FFF2-40B4-BE49-F238E27FC236}">
                <a16:creationId xmlns:a16="http://schemas.microsoft.com/office/drawing/2014/main" id="{481FF4BB-6EC3-F2A7-6542-58D51086A02D}"/>
              </a:ext>
            </a:extLst>
          </p:cNvPr>
          <p:cNvPicPr preferRelativeResize="0"/>
          <p:nvPr userDrawn="1"/>
        </p:nvPicPr>
        <p:blipFill rotWithShape="1">
          <a:blip r:embed="rId6" cstate="print"/>
          <a:srcRect l="1386" t="187" r="342" b="95555"/>
          <a:stretch/>
        </p:blipFill>
        <p:spPr>
          <a:xfrm>
            <a:off x="0" y="0"/>
            <a:ext cx="12191992" cy="203059"/>
          </a:xfrm>
          <a:prstGeom prst="rect">
            <a:avLst/>
          </a:prstGeom>
        </p:spPr>
      </p:pic>
    </p:spTree>
    <p:extLst>
      <p:ext uri="{BB962C8B-B14F-4D97-AF65-F5344CB8AC3E}">
        <p14:creationId xmlns:p14="http://schemas.microsoft.com/office/powerpoint/2010/main" val="368228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L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98DC6F-CD43-0811-A979-B271C0C3AF9E}"/>
              </a:ext>
            </a:extLst>
          </p:cNvPr>
          <p:cNvSpPr>
            <a:spLocks noGrp="1"/>
          </p:cNvSpPr>
          <p:nvPr>
            <p:ph type="title"/>
          </p:nvPr>
        </p:nvSpPr>
        <p:spPr>
          <a:xfrm>
            <a:off x="838200" y="831206"/>
            <a:ext cx="10515600" cy="314198"/>
          </a:xfrm>
          <a:prstGeom prst="rect">
            <a:avLst/>
          </a:prstGeom>
        </p:spPr>
        <p:txBody>
          <a:bodyPr/>
          <a:lstStyle>
            <a:lvl1pPr>
              <a:defRPr sz="2200" b="1">
                <a:solidFill>
                  <a:srgbClr val="171FE2"/>
                </a:solidFill>
                <a:latin typeface="Neue Haas Grotesk Text Pro" panose="020B0504020202020204" pitchFamily="34" charset="0"/>
              </a:defRPr>
            </a:lvl1pPr>
          </a:lstStyle>
          <a:p>
            <a:endParaRPr lang="it-IT" dirty="0"/>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Contenuto della lezione</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dirty="0"/>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rgbClr val="171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Mirko Onorato</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402256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Laboratorio">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5DB3A6F7-B730-F638-2762-1FD1042E5DD4}"/>
              </a:ext>
            </a:extLst>
          </p:cNvPr>
          <p:cNvSpPr/>
          <p:nvPr userDrawn="1"/>
        </p:nvSpPr>
        <p:spPr>
          <a:xfrm>
            <a:off x="0" y="0"/>
            <a:ext cx="12192000" cy="6858000"/>
          </a:xfrm>
          <a:prstGeom prst="rect">
            <a:avLst/>
          </a:prstGeom>
          <a:solidFill>
            <a:srgbClr val="FFD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98DC6F-CD43-0811-A979-B271C0C3AF9E}"/>
              </a:ext>
            </a:extLst>
          </p:cNvPr>
          <p:cNvSpPr>
            <a:spLocks noGrp="1"/>
          </p:cNvSpPr>
          <p:nvPr>
            <p:ph type="title" hasCustomPrompt="1"/>
          </p:nvPr>
        </p:nvSpPr>
        <p:spPr>
          <a:xfrm>
            <a:off x="838200" y="831206"/>
            <a:ext cx="10515600" cy="314198"/>
          </a:xfrm>
          <a:prstGeom prst="rect">
            <a:avLst/>
          </a:prstGeom>
        </p:spPr>
        <p:txBody>
          <a:bodyPr/>
          <a:lstStyle>
            <a:lvl1pPr>
              <a:defRPr sz="2200" b="1">
                <a:solidFill>
                  <a:schemeClr val="tx1"/>
                </a:solidFill>
                <a:latin typeface="Neue Haas Grotesk Text Pro" panose="020B0504020202020204" pitchFamily="34" charset="0"/>
              </a:defRPr>
            </a:lvl1pPr>
          </a:lstStyle>
          <a:p>
            <a:r>
              <a:rPr lang="it-IT" dirty="0"/>
              <a:t>Titolo del laboratorio</a:t>
            </a:r>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Traccia del laboratorio</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Nome Cognome</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23827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Ou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GRAZIE PER L’ATTENZIONE</a:t>
            </a:r>
          </a:p>
        </p:txBody>
      </p:sp>
    </p:spTree>
    <p:extLst>
      <p:ext uri="{BB962C8B-B14F-4D97-AF65-F5344CB8AC3E}">
        <p14:creationId xmlns:p14="http://schemas.microsoft.com/office/powerpoint/2010/main" val="128854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Break">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BREAK</a:t>
            </a:r>
          </a:p>
        </p:txBody>
      </p:sp>
    </p:spTree>
    <p:extLst>
      <p:ext uri="{BB962C8B-B14F-4D97-AF65-F5344CB8AC3E}">
        <p14:creationId xmlns:p14="http://schemas.microsoft.com/office/powerpoint/2010/main" val="736105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9" name="Sfondo">
            <a:extLst>
              <a:ext uri="{FF2B5EF4-FFF2-40B4-BE49-F238E27FC236}">
                <a16:creationId xmlns:a16="http://schemas.microsoft.com/office/drawing/2014/main" id="{0871CBC8-6163-D253-2648-0C5B2A35DADC}"/>
              </a:ext>
            </a:extLst>
          </p:cNvPr>
          <p:cNvGrpSpPr/>
          <p:nvPr userDrawn="1"/>
        </p:nvGrpSpPr>
        <p:grpSpPr>
          <a:xfrm>
            <a:off x="0" y="0"/>
            <a:ext cx="12191999" cy="6857998"/>
            <a:chOff x="0" y="0"/>
            <a:chExt cx="12191999" cy="6857998"/>
          </a:xfrm>
        </p:grpSpPr>
        <p:pic>
          <p:nvPicPr>
            <p:cNvPr id="7" name="bg object 16">
              <a:extLst>
                <a:ext uri="{FF2B5EF4-FFF2-40B4-BE49-F238E27FC236}">
                  <a16:creationId xmlns:a16="http://schemas.microsoft.com/office/drawing/2014/main" id="{D3B481F3-FDD2-E9B0-AAF0-6B05C97B7493}"/>
                </a:ext>
              </a:extLst>
            </p:cNvPr>
            <p:cNvPicPr/>
            <p:nvPr userDrawn="1"/>
          </p:nvPicPr>
          <p:blipFill>
            <a:blip r:embed="rId8" cstate="print"/>
            <a:stretch>
              <a:fillRect/>
            </a:stretch>
          </p:blipFill>
          <p:spPr>
            <a:xfrm>
              <a:off x="0" y="0"/>
              <a:ext cx="12191999" cy="6857998"/>
            </a:xfrm>
            <a:prstGeom prst="rect">
              <a:avLst/>
            </a:prstGeom>
          </p:spPr>
        </p:pic>
        <p:sp>
          <p:nvSpPr>
            <p:cNvPr id="8" name="Sfondo nero">
              <a:extLst>
                <a:ext uri="{FF2B5EF4-FFF2-40B4-BE49-F238E27FC236}">
                  <a16:creationId xmlns:a16="http://schemas.microsoft.com/office/drawing/2014/main" id="{2B2124EE-D2EC-EB26-C788-2D1671E2C0D4}"/>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6" name="Segnaposto numero diapositiva 5" hidden="1">
            <a:extLst>
              <a:ext uri="{FF2B5EF4-FFF2-40B4-BE49-F238E27FC236}">
                <a16:creationId xmlns:a16="http://schemas.microsoft.com/office/drawing/2014/main" id="{8BF62DA6-567D-9738-C9B4-B35130FB0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latin typeface="Neue Haas Grotesk Text Pro" panose="020B0504020202020204" pitchFamily="34" charset="0"/>
              </a:defRPr>
            </a:lvl1pPr>
          </a:lstStyle>
          <a:p>
            <a:fld id="{EE05E91E-B103-4211-9892-B5CF4BF06646}" type="slidenum">
              <a:rPr lang="it-IT" smtClean="0"/>
              <a:pPr/>
              <a:t>‹N›</a:t>
            </a:fld>
            <a:endParaRPr lang="it-IT"/>
          </a:p>
        </p:txBody>
      </p:sp>
      <p:pic>
        <p:nvPicPr>
          <p:cNvPr id="10" name="Logo">
            <a:extLst>
              <a:ext uri="{FF2B5EF4-FFF2-40B4-BE49-F238E27FC236}">
                <a16:creationId xmlns:a16="http://schemas.microsoft.com/office/drawing/2014/main" id="{08AF4DDA-AF5C-9192-0A90-B2EE16B19797}"/>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1312" y="3055807"/>
            <a:ext cx="6429375" cy="746384"/>
          </a:xfrm>
          <a:prstGeom prst="rect">
            <a:avLst/>
          </a:prstGeom>
        </p:spPr>
      </p:pic>
    </p:spTree>
    <p:extLst>
      <p:ext uri="{BB962C8B-B14F-4D97-AF65-F5344CB8AC3E}">
        <p14:creationId xmlns:p14="http://schemas.microsoft.com/office/powerpoint/2010/main" val="3447315000"/>
      </p:ext>
    </p:extLst>
  </p:cSld>
  <p:clrMap bg1="lt1" tx1="dk1" bg2="lt2" tx2="dk2" accent1="accent1" accent2="accent2" accent3="accent3" accent4="accent4" accent5="accent5" accent6="accent6" hlink="hlink" folHlink="folHlink"/>
  <p:sldLayoutIdLst>
    <p:sldLayoutId id="2147483693" r:id="rId1"/>
    <p:sldLayoutId id="2147483691" r:id="rId2"/>
    <p:sldLayoutId id="2147483674" r:id="rId3"/>
    <p:sldLayoutId id="2147483692" r:id="rId4"/>
    <p:sldLayoutId id="2147483678" r:id="rId5"/>
    <p:sldLayoutId id="214748369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65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614AE908-95ED-7A3B-515A-275CA8318424}"/>
              </a:ext>
            </a:extLst>
          </p:cNvPr>
          <p:cNvSpPr>
            <a:spLocks noGrp="1"/>
          </p:cNvSpPr>
          <p:nvPr>
            <p:ph type="subTitle" idx="1"/>
          </p:nvPr>
        </p:nvSpPr>
        <p:spPr>
          <a:xfrm>
            <a:off x="838200" y="2795046"/>
            <a:ext cx="10515600" cy="1445982"/>
          </a:xfrm>
        </p:spPr>
        <p:txBody>
          <a:bodyPr/>
          <a:lstStyle/>
          <a:p>
            <a:r>
              <a:rPr lang="it-IT" dirty="0"/>
              <a:t>Java OOP</a:t>
            </a:r>
          </a:p>
        </p:txBody>
      </p:sp>
      <p:sp>
        <p:nvSpPr>
          <p:cNvPr id="7" name="Segnaposto numero diapositiva 6">
            <a:extLst>
              <a:ext uri="{FF2B5EF4-FFF2-40B4-BE49-F238E27FC236}">
                <a16:creationId xmlns:a16="http://schemas.microsoft.com/office/drawing/2014/main" id="{EDAC5512-E772-1D07-1956-6544F2732AF4}"/>
              </a:ext>
            </a:extLst>
          </p:cNvPr>
          <p:cNvSpPr>
            <a:spLocks noGrp="1"/>
          </p:cNvSpPr>
          <p:nvPr>
            <p:ph type="sldNum" sz="quarter" idx="10"/>
          </p:nvPr>
        </p:nvSpPr>
        <p:spPr/>
        <p:txBody>
          <a:bodyPr/>
          <a:lstStyle/>
          <a:p>
            <a:fld id="{EE05E91E-B103-4211-9892-B5CF4BF06646}" type="slidenum">
              <a:rPr lang="it-IT" smtClean="0">
                <a:solidFill>
                  <a:srgbClr val="0C0C0D"/>
                </a:solidFill>
              </a:rPr>
              <a:pPr/>
              <a:t>2</a:t>
            </a:fld>
            <a:endParaRPr lang="it-IT" dirty="0">
              <a:solidFill>
                <a:srgbClr val="0C0C0D"/>
              </a:solidFill>
            </a:endParaRPr>
          </a:p>
        </p:txBody>
      </p:sp>
    </p:spTree>
    <p:extLst>
      <p:ext uri="{BB962C8B-B14F-4D97-AF65-F5344CB8AC3E}">
        <p14:creationId xmlns:p14="http://schemas.microsoft.com/office/powerpoint/2010/main" val="339079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della lezione">
            <a:extLst>
              <a:ext uri="{FF2B5EF4-FFF2-40B4-BE49-F238E27FC236}">
                <a16:creationId xmlns:a16="http://schemas.microsoft.com/office/drawing/2014/main" id="{C232A863-9AB2-F1DD-0EBE-01D055E0CAD3}"/>
              </a:ext>
            </a:extLst>
          </p:cNvPr>
          <p:cNvSpPr>
            <a:spLocks noGrp="1"/>
          </p:cNvSpPr>
          <p:nvPr>
            <p:ph type="title"/>
          </p:nvPr>
        </p:nvSpPr>
        <p:spPr>
          <a:xfrm>
            <a:off x="838200" y="831206"/>
            <a:ext cx="10515600" cy="314198"/>
          </a:xfrm>
        </p:spPr>
        <p:txBody>
          <a:bodyPr/>
          <a:lstStyle/>
          <a:p>
            <a:r>
              <a:rPr lang="it-IT" dirty="0"/>
              <a:t>SEZIONE 1: INTRODUZIONE E IL PASSAGGIO DI PARADIGMA (Slide 1 - 6)</a:t>
            </a:r>
            <a:br>
              <a:rPr lang="it-IT" dirty="0"/>
            </a:br>
            <a:r>
              <a:rPr lang="it-IT" dirty="0"/>
              <a:t>SLIDE 1: Titolo del Modulo e Obiettivi Competitivi</a:t>
            </a:r>
          </a:p>
        </p:txBody>
      </p:sp>
      <p:sp>
        <p:nvSpPr>
          <p:cNvPr id="3" name="Contenuto della lezione">
            <a:extLst>
              <a:ext uri="{FF2B5EF4-FFF2-40B4-BE49-F238E27FC236}">
                <a16:creationId xmlns:a16="http://schemas.microsoft.com/office/drawing/2014/main" id="{4B7AE27A-7139-F647-C23C-B014C3A3B6AE}"/>
              </a:ext>
            </a:extLst>
          </p:cNvPr>
          <p:cNvSpPr>
            <a:spLocks noGrp="1"/>
          </p:cNvSpPr>
          <p:nvPr>
            <p:ph idx="1"/>
          </p:nvPr>
        </p:nvSpPr>
        <p:spPr>
          <a:xfrm>
            <a:off x="1317319" y="1800042"/>
            <a:ext cx="9557362" cy="4803369"/>
          </a:xfrm>
        </p:spPr>
        <p:txBody>
          <a:bodyPr/>
          <a:lstStyle/>
          <a:p>
            <a:r>
              <a:rPr lang="it-IT" dirty="0"/>
              <a:t>Questo percorso è progettato per compiere il salto qualitativo dalla programmazione procedurale e sequenziale a quella architetturale. </a:t>
            </a:r>
          </a:p>
          <a:p>
            <a:r>
              <a:rPr lang="it-IT" dirty="0"/>
              <a:t>L'obiettivo fondamentale di questo modulo non è semplicemente imparare nuove parole chiave della sintassi Java, ma acquisire una nuova forma mentis. </a:t>
            </a:r>
          </a:p>
          <a:p>
            <a:r>
              <a:rPr lang="it-IT" dirty="0"/>
              <a:t>Al termine di queste lezioni, la micro-competenza che dovrete dimostrare non sarà solo saper scrivere una classe, ma saper modellare autonomamente un dominio software reale, strutturando il codice in entità discrete che interagiscono tra loro secondo i pilastri dell'incapsulamento e dell'astrazione. </a:t>
            </a:r>
          </a:p>
          <a:p>
            <a:r>
              <a:rPr lang="it-IT" dirty="0"/>
              <a:t>Nel contesto professionale odierno, lo sviluppo aziendale (dalle web </a:t>
            </a:r>
            <a:r>
              <a:rPr lang="it-IT" dirty="0" err="1"/>
              <a:t>application</a:t>
            </a:r>
            <a:r>
              <a:rPr lang="it-IT" dirty="0"/>
              <a:t> ai sistemi </a:t>
            </a:r>
            <a:r>
              <a:rPr lang="it-IT" dirty="0" err="1"/>
              <a:t>enterprise</a:t>
            </a:r>
            <a:r>
              <a:rPr lang="it-IT" dirty="0"/>
              <a:t>) si basa interamente su questi concetti. </a:t>
            </a:r>
          </a:p>
          <a:p>
            <a:r>
              <a:rPr lang="it-IT" dirty="0">
                <a:solidFill>
                  <a:srgbClr val="171FE2"/>
                </a:solidFill>
              </a:rPr>
              <a:t>Capire l'OOP significa gettare le basi per scrivere codice </a:t>
            </a:r>
            <a:r>
              <a:rPr lang="it-IT" dirty="0" err="1">
                <a:solidFill>
                  <a:srgbClr val="171FE2"/>
                </a:solidFill>
              </a:rPr>
              <a:t>manutenibile</a:t>
            </a:r>
            <a:r>
              <a:rPr lang="it-IT" dirty="0">
                <a:solidFill>
                  <a:srgbClr val="171FE2"/>
                </a:solidFill>
              </a:rPr>
              <a:t>, scalabile e riutilizzabile</a:t>
            </a:r>
            <a:r>
              <a:rPr lang="it-IT" dirty="0"/>
              <a:t>.</a:t>
            </a:r>
          </a:p>
        </p:txBody>
      </p:sp>
    </p:spTree>
    <p:extLst>
      <p:ext uri="{BB962C8B-B14F-4D97-AF65-F5344CB8AC3E}">
        <p14:creationId xmlns:p14="http://schemas.microsoft.com/office/powerpoint/2010/main" val="526178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13D6B-BD2F-B471-7E8F-CF0474D48A8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F1615EE-D98F-7ADC-4C21-8A49D0C5BAE9}"/>
              </a:ext>
            </a:extLst>
          </p:cNvPr>
          <p:cNvSpPr>
            <a:spLocks noGrp="1"/>
          </p:cNvSpPr>
          <p:nvPr>
            <p:ph type="title"/>
          </p:nvPr>
        </p:nvSpPr>
        <p:spPr>
          <a:xfrm>
            <a:off x="838200" y="831206"/>
            <a:ext cx="10515600" cy="314198"/>
          </a:xfrm>
        </p:spPr>
        <p:txBody>
          <a:bodyPr/>
          <a:lstStyle/>
          <a:p>
            <a:r>
              <a:rPr lang="it-IT" dirty="0"/>
              <a:t>SLIDE 2: Limiti della Programmazione Procedurale negli ITI</a:t>
            </a:r>
          </a:p>
        </p:txBody>
      </p:sp>
      <p:sp>
        <p:nvSpPr>
          <p:cNvPr id="3" name="Contenuto della lezione">
            <a:extLst>
              <a:ext uri="{FF2B5EF4-FFF2-40B4-BE49-F238E27FC236}">
                <a16:creationId xmlns:a16="http://schemas.microsoft.com/office/drawing/2014/main" id="{4FE7F4FA-E9AC-6C3A-A02B-8575F802E154}"/>
              </a:ext>
            </a:extLst>
          </p:cNvPr>
          <p:cNvSpPr>
            <a:spLocks noGrp="1"/>
          </p:cNvSpPr>
          <p:nvPr>
            <p:ph idx="1"/>
          </p:nvPr>
        </p:nvSpPr>
        <p:spPr>
          <a:xfrm>
            <a:off x="1317319" y="1800042"/>
            <a:ext cx="9557362" cy="4803369"/>
          </a:xfrm>
        </p:spPr>
        <p:txBody>
          <a:bodyPr/>
          <a:lstStyle/>
          <a:p>
            <a:r>
              <a:rPr lang="it-IT" dirty="0"/>
              <a:t>Nell'approccio procedurale (tipico del linguaggio C o di Java Fondamenti), il software è visto come una sequenza di istruzioni e funzioni che operano su variabili globali o passate come parametri. </a:t>
            </a:r>
          </a:p>
          <a:p>
            <a:r>
              <a:rPr lang="it-IT" dirty="0"/>
              <a:t>Sebbene efficace per algoritmi matematici o piccoli script, l'approccio procedurale mostra forti limiti quando la complessità del software aziendale cresce. </a:t>
            </a:r>
          </a:p>
          <a:p>
            <a:r>
              <a:rPr lang="it-IT" dirty="0"/>
              <a:t>Il problema principale è la separazione netta tra i dati (le variabili) e le funzioni che li manipolano. </a:t>
            </a:r>
          </a:p>
          <a:p>
            <a:r>
              <a:rPr lang="it-IT" dirty="0"/>
              <a:t>Questo legame debole rende il codice fragile: se la struttura di una variabile cambia, tutte le funzioni che la utilizzano rischiano di rompersi, generando un effetto domino di bug difficili da tracciare. </a:t>
            </a:r>
          </a:p>
          <a:p>
            <a:r>
              <a:rPr lang="it-IT" dirty="0">
                <a:solidFill>
                  <a:srgbClr val="171FE2"/>
                </a:solidFill>
              </a:rPr>
              <a:t>Inoltre, il riuso del codice è limitato al "copia e incolla" o all'inclusione di librerie di funzioni generiche, senza una reale modularità</a:t>
            </a:r>
            <a:r>
              <a:rPr lang="it-IT" dirty="0"/>
              <a:t>.</a:t>
            </a:r>
          </a:p>
        </p:txBody>
      </p:sp>
    </p:spTree>
    <p:extLst>
      <p:ext uri="{BB962C8B-B14F-4D97-AF65-F5344CB8AC3E}">
        <p14:creationId xmlns:p14="http://schemas.microsoft.com/office/powerpoint/2010/main" val="461835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48FF-1AC0-E1DE-CBA9-C5DE509F121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6E39D0D-D683-B01C-B8C5-27A6FDBA52EB}"/>
              </a:ext>
            </a:extLst>
          </p:cNvPr>
          <p:cNvSpPr>
            <a:spLocks noGrp="1"/>
          </p:cNvSpPr>
          <p:nvPr>
            <p:ph type="title"/>
          </p:nvPr>
        </p:nvSpPr>
        <p:spPr>
          <a:xfrm>
            <a:off x="838200" y="831206"/>
            <a:ext cx="10515600" cy="314198"/>
          </a:xfrm>
        </p:spPr>
        <p:txBody>
          <a:bodyPr/>
          <a:lstStyle/>
          <a:p>
            <a:r>
              <a:rPr lang="it-IT" dirty="0"/>
              <a:t>SLIDE 3: La Filosofia Object-</a:t>
            </a:r>
            <a:r>
              <a:rPr lang="it-IT" dirty="0" err="1"/>
              <a:t>Oriented</a:t>
            </a:r>
            <a:r>
              <a:rPr lang="it-IT" dirty="0"/>
              <a:t> e i Sistemi Reali</a:t>
            </a:r>
          </a:p>
        </p:txBody>
      </p:sp>
      <p:sp>
        <p:nvSpPr>
          <p:cNvPr id="3" name="Contenuto della lezione">
            <a:extLst>
              <a:ext uri="{FF2B5EF4-FFF2-40B4-BE49-F238E27FC236}">
                <a16:creationId xmlns:a16="http://schemas.microsoft.com/office/drawing/2014/main" id="{7A11C880-CF07-C4AD-E897-6AE45598B73F}"/>
              </a:ext>
            </a:extLst>
          </p:cNvPr>
          <p:cNvSpPr>
            <a:spLocks noGrp="1"/>
          </p:cNvSpPr>
          <p:nvPr>
            <p:ph idx="1"/>
          </p:nvPr>
        </p:nvSpPr>
        <p:spPr>
          <a:xfrm>
            <a:off x="1317319" y="1800042"/>
            <a:ext cx="9557362" cy="4803369"/>
          </a:xfrm>
        </p:spPr>
        <p:txBody>
          <a:bodyPr/>
          <a:lstStyle/>
          <a:p>
            <a:r>
              <a:rPr lang="it-IT" dirty="0"/>
              <a:t>La programmazione orientata agli oggetti nasce per superare la crisi del software procedurale, introducendo un modo di progettare più vicino alla realtà umana. </a:t>
            </a:r>
          </a:p>
          <a:p>
            <a:r>
              <a:rPr lang="it-IT" dirty="0"/>
              <a:t>Nel mondo reale, noi non pensiamo in termini di funzioni separate da dati; pensiamo in termini di "oggetti" che possiedono caratteristiche e comportamenti. </a:t>
            </a:r>
          </a:p>
          <a:p>
            <a:r>
              <a:rPr lang="it-IT" dirty="0"/>
              <a:t>Ad esempio, un'automobile ha caratteristiche (colore, targa, velocità attuale) e comportamenti (accendi, accelera, frena). </a:t>
            </a:r>
          </a:p>
          <a:p>
            <a:r>
              <a:rPr lang="it-IT" dirty="0"/>
              <a:t>L'OOP applica esattamente questa filosofia all'ingegneria del software. Un programma diventa una simulazione di un ecosistema in cui tanti oggetti software cooperano scambiandosi messaggi (invocazione di metodi). </a:t>
            </a:r>
          </a:p>
          <a:p>
            <a:r>
              <a:rPr lang="it-IT" dirty="0"/>
              <a:t>I dati e le funzioni non sono più entità separate, ma vengono fusi insieme all'interno di un unico guscio protettivo. </a:t>
            </a:r>
          </a:p>
          <a:p>
            <a:r>
              <a:rPr lang="it-IT" dirty="0"/>
              <a:t>Questo cambio di paradigma riduce la complessità complessiva del software, rendendolo più intuitivo da progettare, modificare e manutenere nel tempo.</a:t>
            </a:r>
          </a:p>
        </p:txBody>
      </p:sp>
    </p:spTree>
    <p:extLst>
      <p:ext uri="{BB962C8B-B14F-4D97-AF65-F5344CB8AC3E}">
        <p14:creationId xmlns:p14="http://schemas.microsoft.com/office/powerpoint/2010/main" val="345903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416E3-130A-B610-82A1-F30CFD7125C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F84938E-81F2-6DFC-EC82-CAA94AC37584}"/>
              </a:ext>
            </a:extLst>
          </p:cNvPr>
          <p:cNvSpPr>
            <a:spLocks noGrp="1"/>
          </p:cNvSpPr>
          <p:nvPr>
            <p:ph type="title"/>
          </p:nvPr>
        </p:nvSpPr>
        <p:spPr>
          <a:xfrm>
            <a:off x="838200" y="831206"/>
            <a:ext cx="10515600" cy="314198"/>
          </a:xfrm>
        </p:spPr>
        <p:txBody>
          <a:bodyPr/>
          <a:lstStyle/>
          <a:p>
            <a:r>
              <a:rPr lang="it-IT" dirty="0"/>
              <a:t>SLIDE 4: I Quattro Pilastri dell'OOP – Una Mappa Concettuale</a:t>
            </a:r>
          </a:p>
        </p:txBody>
      </p:sp>
      <p:sp>
        <p:nvSpPr>
          <p:cNvPr id="3" name="Contenuto della lezione">
            <a:extLst>
              <a:ext uri="{FF2B5EF4-FFF2-40B4-BE49-F238E27FC236}">
                <a16:creationId xmlns:a16="http://schemas.microsoft.com/office/drawing/2014/main" id="{55FAF77C-B0E7-49C9-DDE1-BF8CE8ADD1B6}"/>
              </a:ext>
            </a:extLst>
          </p:cNvPr>
          <p:cNvSpPr>
            <a:spLocks noGrp="1"/>
          </p:cNvSpPr>
          <p:nvPr>
            <p:ph idx="1"/>
          </p:nvPr>
        </p:nvSpPr>
        <p:spPr>
          <a:xfrm>
            <a:off x="1317319" y="1800042"/>
            <a:ext cx="9557362" cy="4803369"/>
          </a:xfrm>
        </p:spPr>
        <p:txBody>
          <a:bodyPr/>
          <a:lstStyle/>
          <a:p>
            <a:r>
              <a:rPr lang="it-IT" dirty="0"/>
              <a:t>L'intero ecosistema della programmazione orientata agli oggetti si regge su quattro pilastri fondamentali, riconosciuti universalmente nell'ingegneria del software: </a:t>
            </a:r>
            <a:r>
              <a:rPr lang="it-IT" b="1" dirty="0">
                <a:solidFill>
                  <a:srgbClr val="171FE2"/>
                </a:solidFill>
              </a:rPr>
              <a:t>Incapsulamento, Astrazione, Ereditarietà e Polimorfismo</a:t>
            </a:r>
            <a:r>
              <a:rPr lang="it-IT" dirty="0"/>
              <a:t>. </a:t>
            </a:r>
          </a:p>
          <a:p>
            <a:r>
              <a:rPr lang="it-IT" dirty="0"/>
              <a:t>In questo specifico modulo ci concentreremo in modo approfondito sui primi due: l'Incapsulamento e l'Astrazione di base delle classi. </a:t>
            </a:r>
          </a:p>
          <a:p>
            <a:r>
              <a:rPr lang="it-IT" dirty="0"/>
              <a:t>L'</a:t>
            </a:r>
            <a:r>
              <a:rPr lang="it-IT" dirty="0">
                <a:solidFill>
                  <a:srgbClr val="171FE2"/>
                </a:solidFill>
              </a:rPr>
              <a:t>Incapsulamento</a:t>
            </a:r>
            <a:r>
              <a:rPr lang="it-IT" dirty="0"/>
              <a:t> definisce la capacità di nascondere i dettagli interni di un oggetto, mostrando all'esterno solo un'interfaccia controllata. </a:t>
            </a:r>
          </a:p>
          <a:p>
            <a:r>
              <a:rPr lang="it-IT" dirty="0"/>
              <a:t>L'</a:t>
            </a:r>
            <a:r>
              <a:rPr lang="it-IT" dirty="0">
                <a:solidFill>
                  <a:srgbClr val="171FE2"/>
                </a:solidFill>
              </a:rPr>
              <a:t>Astrazione</a:t>
            </a:r>
            <a:r>
              <a:rPr lang="it-IT" dirty="0"/>
              <a:t> permette di isolare le caratteristiche essenziali di un'entità, tralasciando i dettagli superflui per il contesto d'uso. </a:t>
            </a:r>
          </a:p>
          <a:p>
            <a:r>
              <a:rPr lang="it-IT" dirty="0"/>
              <a:t>L'</a:t>
            </a:r>
            <a:r>
              <a:rPr lang="it-IT" dirty="0">
                <a:solidFill>
                  <a:srgbClr val="171FE2"/>
                </a:solidFill>
              </a:rPr>
              <a:t>Ereditarietà </a:t>
            </a:r>
            <a:r>
              <a:rPr lang="it-IT" dirty="0"/>
              <a:t>(che vedremo nei moduli successivi) gestisce le gerarchie e il riuso del codice, mentre il </a:t>
            </a:r>
            <a:r>
              <a:rPr lang="it-IT" dirty="0">
                <a:solidFill>
                  <a:srgbClr val="171FE2"/>
                </a:solidFill>
              </a:rPr>
              <a:t>Polimorfismo</a:t>
            </a:r>
            <a:r>
              <a:rPr lang="it-IT" dirty="0"/>
              <a:t> permette a oggetti diversi di rispondere allo stesso messaggio in modi differenti. </a:t>
            </a:r>
          </a:p>
        </p:txBody>
      </p:sp>
    </p:spTree>
    <p:extLst>
      <p:ext uri="{BB962C8B-B14F-4D97-AF65-F5344CB8AC3E}">
        <p14:creationId xmlns:p14="http://schemas.microsoft.com/office/powerpoint/2010/main" val="2001848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8EFFC-FA4A-F51C-B3D6-05C1923EB54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A860BBA-A3F0-8CAD-0EF6-931B2C960DC5}"/>
              </a:ext>
            </a:extLst>
          </p:cNvPr>
          <p:cNvSpPr>
            <a:spLocks noGrp="1"/>
          </p:cNvSpPr>
          <p:nvPr>
            <p:ph type="title"/>
          </p:nvPr>
        </p:nvSpPr>
        <p:spPr>
          <a:xfrm>
            <a:off x="838200" y="831206"/>
            <a:ext cx="10515600" cy="314198"/>
          </a:xfrm>
        </p:spPr>
        <p:txBody>
          <a:bodyPr/>
          <a:lstStyle/>
          <a:p>
            <a:r>
              <a:rPr lang="it-IT" dirty="0"/>
              <a:t>SLIDE 5: Gestione della Memoria in Java: </a:t>
            </a:r>
            <a:r>
              <a:rPr lang="it-IT" dirty="0" err="1"/>
              <a:t>Stack</a:t>
            </a:r>
            <a:r>
              <a:rPr lang="it-IT" dirty="0"/>
              <a:t> vs Heap</a:t>
            </a:r>
          </a:p>
        </p:txBody>
      </p:sp>
      <p:sp>
        <p:nvSpPr>
          <p:cNvPr id="3" name="Contenuto della lezione">
            <a:extLst>
              <a:ext uri="{FF2B5EF4-FFF2-40B4-BE49-F238E27FC236}">
                <a16:creationId xmlns:a16="http://schemas.microsoft.com/office/drawing/2014/main" id="{D5801CAF-58DA-96C5-85D5-468A8D759788}"/>
              </a:ext>
            </a:extLst>
          </p:cNvPr>
          <p:cNvSpPr>
            <a:spLocks noGrp="1"/>
          </p:cNvSpPr>
          <p:nvPr>
            <p:ph idx="1"/>
          </p:nvPr>
        </p:nvSpPr>
        <p:spPr>
          <a:xfrm>
            <a:off x="1317319" y="1800042"/>
            <a:ext cx="9557362" cy="4803369"/>
          </a:xfrm>
        </p:spPr>
        <p:txBody>
          <a:bodyPr/>
          <a:lstStyle/>
          <a:p>
            <a:r>
              <a:rPr lang="it-IT" dirty="0"/>
              <a:t>Java gestisce la memoria </a:t>
            </a:r>
            <a:r>
              <a:rPr lang="it-IT" dirty="0" err="1"/>
              <a:t>runtime</a:t>
            </a:r>
            <a:r>
              <a:rPr lang="it-IT" dirty="0"/>
              <a:t> (la RAM) dividendola principalmente in due macro-aree: lo </a:t>
            </a:r>
            <a:r>
              <a:rPr lang="it-IT" dirty="0" err="1"/>
              <a:t>Stack</a:t>
            </a:r>
            <a:r>
              <a:rPr lang="it-IT" dirty="0"/>
              <a:t> e lo Heap. </a:t>
            </a:r>
          </a:p>
          <a:p>
            <a:r>
              <a:rPr lang="it-IT" dirty="0"/>
              <a:t>Lo </a:t>
            </a:r>
            <a:r>
              <a:rPr lang="it-IT" dirty="0" err="1"/>
              <a:t>Stack</a:t>
            </a:r>
            <a:r>
              <a:rPr lang="it-IT" dirty="0"/>
              <a:t> è un'area di memoria veloce e strutturata in modo LIFO (Last In, First Out). Qui vengono memorizzate le chiamate ai metodi e </a:t>
            </a:r>
            <a:r>
              <a:rPr lang="it-IT" dirty="0">
                <a:solidFill>
                  <a:srgbClr val="171FE2"/>
                </a:solidFill>
              </a:rPr>
              <a:t>tutte le variabili locali di tipo primitivo </a:t>
            </a:r>
            <a:r>
              <a:rPr lang="it-IT" dirty="0"/>
              <a:t>(come </a:t>
            </a:r>
            <a:r>
              <a:rPr lang="it-IT" dirty="0" err="1"/>
              <a:t>int</a:t>
            </a:r>
            <a:r>
              <a:rPr lang="it-IT" dirty="0"/>
              <a:t>, double, </a:t>
            </a:r>
            <a:r>
              <a:rPr lang="it-IT" dirty="0" err="1"/>
              <a:t>boolean</a:t>
            </a:r>
            <a:r>
              <a:rPr lang="it-IT" dirty="0"/>
              <a:t>). </a:t>
            </a:r>
          </a:p>
          <a:p>
            <a:r>
              <a:rPr lang="it-IT" dirty="0"/>
              <a:t>Lo Heap, invece, è un'area di memoria dinamica molto più grande e meno strutturata. In Java, tutti, senza eccezione, gli oggetti e gli array vengono allocati nello Heap. Quando dichiariamo una variabile di tipo oggetto, lo </a:t>
            </a:r>
            <a:r>
              <a:rPr lang="it-IT" dirty="0" err="1"/>
              <a:t>Stack</a:t>
            </a:r>
            <a:r>
              <a:rPr lang="it-IT" dirty="0"/>
              <a:t> conterrà solo il "riferimento" (l'indirizzo di memoria) che punta alla cella effettiva allocata nello Heap. </a:t>
            </a:r>
          </a:p>
          <a:p>
            <a:r>
              <a:rPr lang="it-IT" dirty="0">
                <a:solidFill>
                  <a:srgbClr val="171FE2"/>
                </a:solidFill>
              </a:rPr>
              <a:t>Capire questa distinzione è cruciale: copiare una variabile oggetto non duplica l'oggetto nello Heap, ma duplica solo il puntatore nello </a:t>
            </a:r>
            <a:r>
              <a:rPr lang="it-IT" dirty="0" err="1">
                <a:solidFill>
                  <a:srgbClr val="171FE2"/>
                </a:solidFill>
              </a:rPr>
              <a:t>Stack</a:t>
            </a:r>
            <a:r>
              <a:rPr lang="it-IT" dirty="0"/>
              <a:t>.</a:t>
            </a:r>
          </a:p>
        </p:txBody>
      </p:sp>
    </p:spTree>
    <p:extLst>
      <p:ext uri="{BB962C8B-B14F-4D97-AF65-F5344CB8AC3E}">
        <p14:creationId xmlns:p14="http://schemas.microsoft.com/office/powerpoint/2010/main" val="345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05D1A-924A-F9A3-1EF7-8218595D0B7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1F8504C-0CED-F8EE-439E-F656600D1928}"/>
              </a:ext>
            </a:extLst>
          </p:cNvPr>
          <p:cNvSpPr>
            <a:spLocks noGrp="1"/>
          </p:cNvSpPr>
          <p:nvPr>
            <p:ph type="title"/>
          </p:nvPr>
        </p:nvSpPr>
        <p:spPr>
          <a:xfrm>
            <a:off x="838200" y="831206"/>
            <a:ext cx="10515600" cy="314198"/>
          </a:xfrm>
        </p:spPr>
        <p:txBody>
          <a:bodyPr/>
          <a:lstStyle/>
          <a:p>
            <a:r>
              <a:rPr lang="it-IT" dirty="0"/>
              <a:t>SLIDE 6: Il Ruolo del Garbage </a:t>
            </a:r>
            <a:r>
              <a:rPr lang="it-IT" dirty="0" err="1"/>
              <a:t>Collector</a:t>
            </a:r>
            <a:r>
              <a:rPr lang="it-IT" dirty="0"/>
              <a:t> nella Gestione dello Heap</a:t>
            </a:r>
          </a:p>
        </p:txBody>
      </p:sp>
      <p:sp>
        <p:nvSpPr>
          <p:cNvPr id="3" name="Contenuto della lezione">
            <a:extLst>
              <a:ext uri="{FF2B5EF4-FFF2-40B4-BE49-F238E27FC236}">
                <a16:creationId xmlns:a16="http://schemas.microsoft.com/office/drawing/2014/main" id="{E79DF896-0C00-A817-5285-E83417405DE0}"/>
              </a:ext>
            </a:extLst>
          </p:cNvPr>
          <p:cNvSpPr>
            <a:spLocks noGrp="1"/>
          </p:cNvSpPr>
          <p:nvPr>
            <p:ph idx="1"/>
          </p:nvPr>
        </p:nvSpPr>
        <p:spPr>
          <a:xfrm>
            <a:off x="1317319" y="1800042"/>
            <a:ext cx="9557362" cy="4803369"/>
          </a:xfrm>
        </p:spPr>
        <p:txBody>
          <a:bodyPr/>
          <a:lstStyle/>
          <a:p>
            <a:r>
              <a:rPr lang="it-IT" dirty="0"/>
              <a:t>A differenza di linguaggi come il C o il C++, dove il programmatore deve gestire manualmente la </a:t>
            </a:r>
            <a:r>
              <a:rPr lang="it-IT" dirty="0" err="1"/>
              <a:t>deallocazione</a:t>
            </a:r>
            <a:r>
              <a:rPr lang="it-IT" dirty="0"/>
              <a:t> della memoria (tramite istruzioni come free o delete) rischiando di causare pericolosi Memory Leak, Java introduce un componente automatico della Virtual Machine: il Garbage </a:t>
            </a:r>
            <a:r>
              <a:rPr lang="it-IT" dirty="0" err="1"/>
              <a:t>Collector</a:t>
            </a:r>
            <a:r>
              <a:rPr lang="it-IT" dirty="0"/>
              <a:t> (GC). </a:t>
            </a:r>
          </a:p>
          <a:p>
            <a:r>
              <a:rPr lang="it-IT" dirty="0"/>
              <a:t>Il Garbage </a:t>
            </a:r>
            <a:r>
              <a:rPr lang="it-IT" dirty="0" err="1"/>
              <a:t>Collector</a:t>
            </a:r>
            <a:r>
              <a:rPr lang="it-IT" dirty="0"/>
              <a:t> è un </a:t>
            </a:r>
            <a:r>
              <a:rPr lang="it-IT" dirty="0" err="1"/>
              <a:t>thread</a:t>
            </a:r>
            <a:r>
              <a:rPr lang="it-IT" dirty="0"/>
              <a:t> a bassa priorità che scansiona periodicamente la memoria Heap alla ricerca di oggetti "orfani". </a:t>
            </a:r>
          </a:p>
          <a:p>
            <a:r>
              <a:rPr lang="it-IT" dirty="0"/>
              <a:t>Un oggetto viene definito orfano quando non esiste più alcuna variabile di riferimento nello </a:t>
            </a:r>
            <a:r>
              <a:rPr lang="it-IT" dirty="0" err="1"/>
              <a:t>Stack</a:t>
            </a:r>
            <a:r>
              <a:rPr lang="it-IT" dirty="0"/>
              <a:t> che punti ad esso (</a:t>
            </a:r>
            <a:r>
              <a:rPr lang="it-IT" dirty="0">
                <a:solidFill>
                  <a:srgbClr val="171FE2"/>
                </a:solidFill>
              </a:rPr>
              <a:t>ad esempio perché la variabile locale che lo conteneva è uscita dal suo scope di validità</a:t>
            </a:r>
            <a:r>
              <a:rPr lang="it-IT" dirty="0"/>
              <a:t>). </a:t>
            </a:r>
          </a:p>
          <a:p>
            <a:r>
              <a:rPr lang="it-IT" dirty="0">
                <a:solidFill>
                  <a:srgbClr val="171FE2"/>
                </a:solidFill>
              </a:rPr>
              <a:t>Quando il GC individua questi oggetti non più raggiungibili, provvede automaticamente a liberare lo spazio occupato nello Heap</a:t>
            </a:r>
            <a:r>
              <a:rPr lang="it-IT" dirty="0"/>
              <a:t>. </a:t>
            </a:r>
          </a:p>
          <a:p>
            <a:r>
              <a:rPr lang="it-IT" dirty="0"/>
              <a:t>Sebbene sollevi il programmatore da compiti complessi, il GC consuma risorse CPU: scrivere codice che crea inutilmente milioni di oggetti può rallentare l'applicazione.</a:t>
            </a:r>
          </a:p>
        </p:txBody>
      </p:sp>
    </p:spTree>
    <p:extLst>
      <p:ext uri="{BB962C8B-B14F-4D97-AF65-F5344CB8AC3E}">
        <p14:creationId xmlns:p14="http://schemas.microsoft.com/office/powerpoint/2010/main" val="1352908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5D9F5-5DFF-A5AC-8179-D742155307D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2B5891B-D497-D3D3-7346-1B9CDC9DEDFD}"/>
              </a:ext>
            </a:extLst>
          </p:cNvPr>
          <p:cNvSpPr>
            <a:spLocks noGrp="1"/>
          </p:cNvSpPr>
          <p:nvPr>
            <p:ph type="title"/>
          </p:nvPr>
        </p:nvSpPr>
        <p:spPr>
          <a:xfrm>
            <a:off x="838200" y="831206"/>
            <a:ext cx="10515600" cy="314198"/>
          </a:xfrm>
        </p:spPr>
        <p:txBody>
          <a:bodyPr/>
          <a:lstStyle/>
          <a:p>
            <a:r>
              <a:rPr lang="it-IT" dirty="0"/>
              <a:t>SEZIONE 2: CLASSI, OGGETTI E CONTRATTI SINTATTICI (Slide 7 - 15)</a:t>
            </a:r>
            <a:br>
              <a:rPr lang="it-IT" dirty="0"/>
            </a:br>
            <a:r>
              <a:rPr lang="it-IT" dirty="0"/>
              <a:t>SLIDE 7: Unità Didattica 1 – Definizione di Classe come Tipo di Dato</a:t>
            </a:r>
            <a:br>
              <a:rPr lang="it-IT" dirty="0"/>
            </a:br>
            <a:r>
              <a:rPr lang="it-IT" dirty="0"/>
              <a:t>Tag Didattico: Conoscenza (Paragrafo 1)</a:t>
            </a:r>
          </a:p>
        </p:txBody>
      </p:sp>
      <p:sp>
        <p:nvSpPr>
          <p:cNvPr id="3" name="Contenuto della lezione">
            <a:extLst>
              <a:ext uri="{FF2B5EF4-FFF2-40B4-BE49-F238E27FC236}">
                <a16:creationId xmlns:a16="http://schemas.microsoft.com/office/drawing/2014/main" id="{C6D00277-00AC-1FE4-5043-A1622747FE81}"/>
              </a:ext>
            </a:extLst>
          </p:cNvPr>
          <p:cNvSpPr>
            <a:spLocks noGrp="1"/>
          </p:cNvSpPr>
          <p:nvPr>
            <p:ph idx="1"/>
          </p:nvPr>
        </p:nvSpPr>
        <p:spPr>
          <a:xfrm>
            <a:off x="1317319" y="2054631"/>
            <a:ext cx="9557362" cy="4803369"/>
          </a:xfrm>
        </p:spPr>
        <p:txBody>
          <a:bodyPr/>
          <a:lstStyle/>
          <a:p>
            <a:r>
              <a:rPr lang="it-IT" dirty="0"/>
              <a:t>Nel paradigma Object-</a:t>
            </a:r>
            <a:r>
              <a:rPr lang="it-IT" dirty="0" err="1"/>
              <a:t>Oriented</a:t>
            </a:r>
            <a:r>
              <a:rPr lang="it-IT" dirty="0"/>
              <a:t>, la realtà viene modellata tramite due concetti cardine: </a:t>
            </a:r>
            <a:r>
              <a:rPr lang="it-IT" dirty="0">
                <a:solidFill>
                  <a:srgbClr val="171FE2"/>
                </a:solidFill>
              </a:rPr>
              <a:t>la Classe e l'Oggetto</a:t>
            </a:r>
            <a:r>
              <a:rPr lang="it-IT" dirty="0"/>
              <a:t>. </a:t>
            </a:r>
          </a:p>
          <a:p>
            <a:r>
              <a:rPr lang="it-IT" dirty="0"/>
              <a:t>La classe può essere definita come il progetto architettonico, lo stampo astratto o il "tipo di dato personalizzato" definito dal programmatore. Essa specifica quali attributi (dati, variabili di istanza) e quali metodi (funzioni, comportamenti) caratterizzeranno le entità di quel tipo. </a:t>
            </a:r>
          </a:p>
          <a:p>
            <a:r>
              <a:rPr lang="it-IT" dirty="0"/>
              <a:t>L'oggetto, invece, è l'istanza concreta di una classe, creata in memoria RAM durante l'esecuzione del programma tramite l'operatore new. </a:t>
            </a:r>
          </a:p>
          <a:p>
            <a:r>
              <a:rPr lang="it-IT" dirty="0"/>
              <a:t>Facendo un parallelo con il mondo scolastico: la classe "Studente" definisce che ogni studente ha un nome, un cognome e una media voti; l'oggetto "</a:t>
            </a:r>
            <a:r>
              <a:rPr lang="it-IT" dirty="0" err="1"/>
              <a:t>mario</a:t>
            </a:r>
            <a:r>
              <a:rPr lang="it-IT" dirty="0"/>
              <a:t>" sarà l'istanza reale con nome "Mario", cognome "Rossi" e media "7.5". </a:t>
            </a:r>
          </a:p>
          <a:p>
            <a:r>
              <a:rPr lang="it-IT" dirty="0">
                <a:solidFill>
                  <a:srgbClr val="171FE2"/>
                </a:solidFill>
              </a:rPr>
              <a:t>Gli oggetti hanno tre caratteristiche fondamentali</a:t>
            </a:r>
            <a:r>
              <a:rPr lang="it-IT" dirty="0"/>
              <a:t>: uno </a:t>
            </a:r>
            <a:r>
              <a:rPr lang="it-IT" b="1" dirty="0">
                <a:solidFill>
                  <a:srgbClr val="171FE2"/>
                </a:solidFill>
              </a:rPr>
              <a:t>stato</a:t>
            </a:r>
            <a:r>
              <a:rPr lang="it-IT" dirty="0"/>
              <a:t> (i valori correnti dei suoi attributi), un </a:t>
            </a:r>
            <a:r>
              <a:rPr lang="it-IT" b="1" dirty="0">
                <a:solidFill>
                  <a:srgbClr val="171FE2"/>
                </a:solidFill>
              </a:rPr>
              <a:t>comportamento</a:t>
            </a:r>
            <a:r>
              <a:rPr lang="it-IT" dirty="0"/>
              <a:t> (i metodi che può eseguire) e un'</a:t>
            </a:r>
            <a:r>
              <a:rPr lang="it-IT" b="1" dirty="0">
                <a:solidFill>
                  <a:srgbClr val="171FE2"/>
                </a:solidFill>
              </a:rPr>
              <a:t>identità unica in memoria</a:t>
            </a:r>
            <a:r>
              <a:rPr lang="it-IT" dirty="0"/>
              <a:t>, distinta da quella di qualsiasi altro oggetto.</a:t>
            </a:r>
          </a:p>
        </p:txBody>
      </p:sp>
    </p:spTree>
    <p:extLst>
      <p:ext uri="{BB962C8B-B14F-4D97-AF65-F5344CB8AC3E}">
        <p14:creationId xmlns:p14="http://schemas.microsoft.com/office/powerpoint/2010/main" val="867680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8168D-986E-CDE5-03C3-A71AC340112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8283258-D86B-3E21-81AD-EEA2E012A1EB}"/>
              </a:ext>
            </a:extLst>
          </p:cNvPr>
          <p:cNvSpPr>
            <a:spLocks noGrp="1"/>
          </p:cNvSpPr>
          <p:nvPr>
            <p:ph type="title"/>
          </p:nvPr>
        </p:nvSpPr>
        <p:spPr>
          <a:xfrm>
            <a:off x="838200" y="831206"/>
            <a:ext cx="10515600" cy="314198"/>
          </a:xfrm>
        </p:spPr>
        <p:txBody>
          <a:bodyPr/>
          <a:lstStyle/>
          <a:p>
            <a:r>
              <a:rPr lang="it-IT" dirty="0"/>
              <a:t>SLIDE 8: Dichiarare una Classe: Regole di Naming e Struttura File</a:t>
            </a:r>
          </a:p>
        </p:txBody>
      </p:sp>
      <p:sp>
        <p:nvSpPr>
          <p:cNvPr id="3" name="Contenuto della lezione">
            <a:extLst>
              <a:ext uri="{FF2B5EF4-FFF2-40B4-BE49-F238E27FC236}">
                <a16:creationId xmlns:a16="http://schemas.microsoft.com/office/drawing/2014/main" id="{4E5DBF2F-9688-0325-496B-1F44B1F1B1EF}"/>
              </a:ext>
            </a:extLst>
          </p:cNvPr>
          <p:cNvSpPr>
            <a:spLocks noGrp="1"/>
          </p:cNvSpPr>
          <p:nvPr>
            <p:ph idx="1"/>
          </p:nvPr>
        </p:nvSpPr>
        <p:spPr>
          <a:xfrm>
            <a:off x="1317319" y="1800042"/>
            <a:ext cx="9557362" cy="4803369"/>
          </a:xfrm>
        </p:spPr>
        <p:txBody>
          <a:bodyPr/>
          <a:lstStyle/>
          <a:p>
            <a:r>
              <a:rPr lang="it-IT" dirty="0"/>
              <a:t>In Java, la dichiarazione di una classe segue regole sintattiche e convenzioni di Naming molto rigide, fondamentali per superare la compilazione senza errori. </a:t>
            </a:r>
          </a:p>
          <a:p>
            <a:r>
              <a:rPr lang="it-IT" dirty="0"/>
              <a:t>Una classe pubblica deve obbligatoriamente essere salvata in un file che ha lo stesso identico nome della classe, inclusa la corretta gestione delle maiuscole e minuscole (case-sensitivity), con estensione .java. </a:t>
            </a:r>
          </a:p>
          <a:p>
            <a:r>
              <a:rPr lang="it-IT" dirty="0"/>
              <a:t>La convenzione internazionale prevede l'uso del </a:t>
            </a:r>
            <a:r>
              <a:rPr lang="it-IT" dirty="0" err="1"/>
              <a:t>PascalCase</a:t>
            </a:r>
            <a:r>
              <a:rPr lang="it-IT" dirty="0"/>
              <a:t> (o </a:t>
            </a:r>
            <a:r>
              <a:rPr lang="it-IT" dirty="0" err="1"/>
              <a:t>UpperCamelCase</a:t>
            </a:r>
            <a:r>
              <a:rPr lang="it-IT" dirty="0"/>
              <a:t>) per i nomi delle classi: la prima lettera di ogni parola deve essere maiuscola (es. </a:t>
            </a:r>
            <a:r>
              <a:rPr lang="it-IT" dirty="0" err="1"/>
              <a:t>StudenteTecnico</a:t>
            </a:r>
            <a:r>
              <a:rPr lang="it-IT" dirty="0"/>
              <a:t>, </a:t>
            </a:r>
            <a:r>
              <a:rPr lang="it-IT" dirty="0" err="1"/>
              <a:t>ContoCorrente</a:t>
            </a:r>
            <a:r>
              <a:rPr lang="it-IT" dirty="0"/>
              <a:t>). </a:t>
            </a:r>
          </a:p>
          <a:p>
            <a:r>
              <a:rPr lang="it-IT" dirty="0"/>
              <a:t>La struttura interna prevede che la parola chiave public class </a:t>
            </a:r>
            <a:r>
              <a:rPr lang="it-IT" dirty="0" err="1"/>
              <a:t>NomeClasse</a:t>
            </a:r>
            <a:r>
              <a:rPr lang="it-IT" dirty="0"/>
              <a:t> apra un blocco di parentesi graffe. All'interno di questo blocco, l'ordine logico raccomandato per la pulizia del codice prevede </a:t>
            </a:r>
            <a:r>
              <a:rPr lang="it-IT" dirty="0">
                <a:solidFill>
                  <a:srgbClr val="171FE2"/>
                </a:solidFill>
              </a:rPr>
              <a:t>prima la dichiarazione delle variabili di istanza </a:t>
            </a:r>
            <a:r>
              <a:rPr lang="it-IT" dirty="0"/>
              <a:t>(campi o attributi), </a:t>
            </a:r>
            <a:r>
              <a:rPr lang="it-IT" dirty="0">
                <a:solidFill>
                  <a:srgbClr val="171FE2"/>
                </a:solidFill>
              </a:rPr>
              <a:t>seguita dai costruttori </a:t>
            </a:r>
            <a:r>
              <a:rPr lang="it-IT" dirty="0"/>
              <a:t>e, </a:t>
            </a:r>
            <a:r>
              <a:rPr lang="it-IT" dirty="0">
                <a:solidFill>
                  <a:srgbClr val="171FE2"/>
                </a:solidFill>
              </a:rPr>
              <a:t>infine</a:t>
            </a:r>
            <a:r>
              <a:rPr lang="it-IT" dirty="0"/>
              <a:t>, </a:t>
            </a:r>
            <a:r>
              <a:rPr lang="it-IT" dirty="0">
                <a:solidFill>
                  <a:srgbClr val="171FE2"/>
                </a:solidFill>
              </a:rPr>
              <a:t>dai metodi che definiscono le azioni </a:t>
            </a:r>
            <a:r>
              <a:rPr lang="it-IT" dirty="0"/>
              <a:t>eseguibili dall'oggetto.</a:t>
            </a:r>
          </a:p>
        </p:txBody>
      </p:sp>
    </p:spTree>
    <p:extLst>
      <p:ext uri="{BB962C8B-B14F-4D97-AF65-F5344CB8AC3E}">
        <p14:creationId xmlns:p14="http://schemas.microsoft.com/office/powerpoint/2010/main" val="2970170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B9E7C-016A-20E0-47A0-14BA9C6F59D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B2B63C5-3FB6-27F5-6EA1-D4BC6FF85459}"/>
              </a:ext>
            </a:extLst>
          </p:cNvPr>
          <p:cNvSpPr>
            <a:spLocks noGrp="1"/>
          </p:cNvSpPr>
          <p:nvPr>
            <p:ph type="title"/>
          </p:nvPr>
        </p:nvSpPr>
        <p:spPr>
          <a:xfrm>
            <a:off x="838200" y="831206"/>
            <a:ext cx="10515600" cy="314198"/>
          </a:xfrm>
        </p:spPr>
        <p:txBody>
          <a:bodyPr/>
          <a:lstStyle/>
          <a:p>
            <a:r>
              <a:rPr lang="it-IT" dirty="0"/>
              <a:t>SLIDE 9: Variabili di Istanza vs Variabili Locali</a:t>
            </a:r>
          </a:p>
        </p:txBody>
      </p:sp>
      <p:sp>
        <p:nvSpPr>
          <p:cNvPr id="3" name="Contenuto della lezione">
            <a:extLst>
              <a:ext uri="{FF2B5EF4-FFF2-40B4-BE49-F238E27FC236}">
                <a16:creationId xmlns:a16="http://schemas.microsoft.com/office/drawing/2014/main" id="{22B7063A-45E8-80C9-3A0A-49BE473F3748}"/>
              </a:ext>
            </a:extLst>
          </p:cNvPr>
          <p:cNvSpPr>
            <a:spLocks noGrp="1"/>
          </p:cNvSpPr>
          <p:nvPr>
            <p:ph idx="1"/>
          </p:nvPr>
        </p:nvSpPr>
        <p:spPr>
          <a:xfrm>
            <a:off x="1317319" y="1800042"/>
            <a:ext cx="9557362" cy="4803369"/>
          </a:xfrm>
        </p:spPr>
        <p:txBody>
          <a:bodyPr/>
          <a:lstStyle/>
          <a:p>
            <a:r>
              <a:rPr lang="it-IT" b="1" dirty="0">
                <a:solidFill>
                  <a:srgbClr val="171FE2"/>
                </a:solidFill>
              </a:rPr>
              <a:t>Le variabili di istanza</a:t>
            </a:r>
            <a:r>
              <a:rPr lang="it-IT" dirty="0"/>
              <a:t> sono dichiarate direttamente all'interno della classe, ma fuori da qualsiasi metodo. Esse definiscono le proprietà strutturali dell'oggetto (lo stato) e rimangono in vita finché l'oggetto stesso esiste nello Heap; inoltre, </a:t>
            </a:r>
            <a:r>
              <a:rPr lang="it-IT" dirty="0">
                <a:solidFill>
                  <a:srgbClr val="171FE2"/>
                </a:solidFill>
              </a:rPr>
              <a:t>vengono inizializzate automaticamente a valori di default se non specificato altrimenti</a:t>
            </a:r>
            <a:r>
              <a:rPr lang="it-IT" dirty="0"/>
              <a:t>. </a:t>
            </a:r>
          </a:p>
          <a:p>
            <a:endParaRPr lang="it-IT" dirty="0"/>
          </a:p>
          <a:p>
            <a:r>
              <a:rPr lang="it-IT" b="1" dirty="0">
                <a:solidFill>
                  <a:srgbClr val="171FE2"/>
                </a:solidFill>
              </a:rPr>
              <a:t>Le variabili locali</a:t>
            </a:r>
            <a:r>
              <a:rPr lang="it-IT" dirty="0"/>
              <a:t>, invece, sono dichiarate all'interno di un singolo metodo o blocco di codice (come un ciclo for). Esse nascono quando il metodo viene eseguito sullo </a:t>
            </a:r>
            <a:r>
              <a:rPr lang="it-IT" dirty="0" err="1"/>
              <a:t>Stack</a:t>
            </a:r>
            <a:r>
              <a:rPr lang="it-IT" dirty="0"/>
              <a:t> e muoiono immediatamente quando il metodo termina. Le variabili locali non hanno un valore di default: </a:t>
            </a:r>
            <a:r>
              <a:rPr lang="it-IT" dirty="0">
                <a:solidFill>
                  <a:srgbClr val="171FE2"/>
                </a:solidFill>
              </a:rPr>
              <a:t>il compilatore Java bloccherà l'esecuzione con un errore se si tenta di usare una variabile locale non esplicitamente inizializzata dal codice</a:t>
            </a:r>
            <a:r>
              <a:rPr lang="it-IT" dirty="0"/>
              <a:t>.</a:t>
            </a:r>
          </a:p>
        </p:txBody>
      </p:sp>
    </p:spTree>
    <p:extLst>
      <p:ext uri="{BB962C8B-B14F-4D97-AF65-F5344CB8AC3E}">
        <p14:creationId xmlns:p14="http://schemas.microsoft.com/office/powerpoint/2010/main" val="2845984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08D29-D692-2C5C-8C70-6A0DCDCDE96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10FE7A8-8674-F586-6051-25EB47CC2301}"/>
              </a:ext>
            </a:extLst>
          </p:cNvPr>
          <p:cNvSpPr>
            <a:spLocks noGrp="1"/>
          </p:cNvSpPr>
          <p:nvPr>
            <p:ph type="title"/>
          </p:nvPr>
        </p:nvSpPr>
        <p:spPr>
          <a:xfrm>
            <a:off x="838200" y="831206"/>
            <a:ext cx="10515600" cy="314198"/>
          </a:xfrm>
        </p:spPr>
        <p:txBody>
          <a:bodyPr/>
          <a:lstStyle/>
          <a:p>
            <a:r>
              <a:rPr lang="it-IT" dirty="0"/>
              <a:t>SLIDE 10: Anatomia dei Metodi e il Riferimento '</a:t>
            </a:r>
            <a:r>
              <a:rPr lang="it-IT" dirty="0" err="1"/>
              <a:t>this</a:t>
            </a:r>
            <a:r>
              <a:rPr lang="it-IT" dirty="0"/>
              <a:t>'</a:t>
            </a:r>
          </a:p>
        </p:txBody>
      </p:sp>
      <p:sp>
        <p:nvSpPr>
          <p:cNvPr id="3" name="Contenuto della lezione">
            <a:extLst>
              <a:ext uri="{FF2B5EF4-FFF2-40B4-BE49-F238E27FC236}">
                <a16:creationId xmlns:a16="http://schemas.microsoft.com/office/drawing/2014/main" id="{ACDA6131-F307-699E-3D83-919AD4503EF2}"/>
              </a:ext>
            </a:extLst>
          </p:cNvPr>
          <p:cNvSpPr>
            <a:spLocks noGrp="1"/>
          </p:cNvSpPr>
          <p:nvPr>
            <p:ph idx="1"/>
          </p:nvPr>
        </p:nvSpPr>
        <p:spPr>
          <a:xfrm>
            <a:off x="1317319" y="1800042"/>
            <a:ext cx="9557362" cy="4803369"/>
          </a:xfrm>
        </p:spPr>
        <p:txBody>
          <a:bodyPr/>
          <a:lstStyle/>
          <a:p>
            <a:r>
              <a:rPr lang="it-IT" dirty="0"/>
              <a:t>La struttura sintattica di una classe Java prevede la dichiarazione dei campi (attributi) e dei metodi all'interno del blocco delimitato dalle parentesi graffe. </a:t>
            </a:r>
          </a:p>
          <a:p>
            <a:r>
              <a:rPr lang="it-IT" dirty="0">
                <a:solidFill>
                  <a:srgbClr val="171FE2"/>
                </a:solidFill>
              </a:rPr>
              <a:t>I campi definiscono lo stato dell'oggetto</a:t>
            </a:r>
            <a:r>
              <a:rPr lang="it-IT" dirty="0"/>
              <a:t>. </a:t>
            </a:r>
          </a:p>
          <a:p>
            <a:r>
              <a:rPr lang="it-IT" dirty="0">
                <a:solidFill>
                  <a:srgbClr val="171FE2"/>
                </a:solidFill>
              </a:rPr>
              <a:t>Quando i metodi di una classe devono fare riferimento esplicito ai campi dell'oggetto che sta eseguendo il metodo stesso, si utilizza la parola chiave </a:t>
            </a:r>
            <a:r>
              <a:rPr lang="it-IT" dirty="0" err="1">
                <a:solidFill>
                  <a:srgbClr val="171FE2"/>
                </a:solidFill>
              </a:rPr>
              <a:t>this</a:t>
            </a:r>
            <a:r>
              <a:rPr lang="it-IT" dirty="0"/>
              <a:t>. </a:t>
            </a:r>
          </a:p>
          <a:p>
            <a:r>
              <a:rPr lang="it-IT" dirty="0"/>
              <a:t>Il </a:t>
            </a:r>
            <a:r>
              <a:rPr lang="it-IT" dirty="0" err="1"/>
              <a:t>this</a:t>
            </a:r>
            <a:r>
              <a:rPr lang="it-IT" dirty="0"/>
              <a:t> è un riferimento implicito all'istanza corrente. Il suo utilizzo è cruciale soprattutto nel costruttore o nei metodi di modifica (setter) quando si verifica un fenomeno chiamato </a:t>
            </a:r>
            <a:r>
              <a:rPr lang="it-IT" b="1" dirty="0">
                <a:solidFill>
                  <a:srgbClr val="171FE2"/>
                </a:solidFill>
              </a:rPr>
              <a:t>"</a:t>
            </a:r>
            <a:r>
              <a:rPr lang="it-IT" b="1" dirty="0" err="1">
                <a:solidFill>
                  <a:srgbClr val="171FE2"/>
                </a:solidFill>
              </a:rPr>
              <a:t>shadowing</a:t>
            </a:r>
            <a:r>
              <a:rPr lang="it-IT" b="1" dirty="0">
                <a:solidFill>
                  <a:srgbClr val="171FE2"/>
                </a:solidFill>
              </a:rPr>
              <a:t>" </a:t>
            </a:r>
            <a:r>
              <a:rPr lang="it-IT" dirty="0"/>
              <a:t>(oscuramento). </a:t>
            </a:r>
          </a:p>
          <a:p>
            <a:r>
              <a:rPr lang="it-IT" dirty="0"/>
              <a:t>Lo </a:t>
            </a:r>
            <a:r>
              <a:rPr lang="it-IT" dirty="0" err="1"/>
              <a:t>shadowing</a:t>
            </a:r>
            <a:r>
              <a:rPr lang="it-IT" dirty="0"/>
              <a:t> avviene quando il nome di un parametro passato al metodo è identico al nome di un attributo della classe. </a:t>
            </a:r>
          </a:p>
          <a:p>
            <a:r>
              <a:rPr lang="it-IT" dirty="0"/>
              <a:t>Ad esempio, nel costruttore </a:t>
            </a:r>
            <a:r>
              <a:rPr lang="it-IT" dirty="0">
                <a:solidFill>
                  <a:srgbClr val="171FE2"/>
                </a:solidFill>
                <a:latin typeface="Consolas" panose="020B0609020204030204" pitchFamily="49" charset="0"/>
              </a:rPr>
              <a:t>public Studente(</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nome)</a:t>
            </a:r>
            <a:r>
              <a:rPr lang="it-IT" dirty="0"/>
              <a:t>, scrivere </a:t>
            </a:r>
            <a:r>
              <a:rPr lang="it-IT" dirty="0">
                <a:solidFill>
                  <a:srgbClr val="171FE2"/>
                </a:solidFill>
                <a:latin typeface="Consolas" panose="020B0609020204030204" pitchFamily="49" charset="0"/>
              </a:rPr>
              <a:t>nome = nome</a:t>
            </a:r>
            <a:r>
              <a:rPr lang="it-IT" dirty="0"/>
              <a:t>; creerebbe un'ambiguità in cui la variabile locale assegna se stessa a se stessa. Scrivendo invece </a:t>
            </a:r>
            <a:r>
              <a:rPr lang="it-IT" dirty="0" err="1">
                <a:solidFill>
                  <a:srgbClr val="171FE2"/>
                </a:solidFill>
                <a:latin typeface="Consolas" panose="020B0609020204030204" pitchFamily="49" charset="0"/>
              </a:rPr>
              <a:t>this.nome</a:t>
            </a:r>
            <a:r>
              <a:rPr lang="it-IT" dirty="0">
                <a:solidFill>
                  <a:srgbClr val="171FE2"/>
                </a:solidFill>
                <a:latin typeface="Consolas" panose="020B0609020204030204" pitchFamily="49" charset="0"/>
              </a:rPr>
              <a:t> = nome;</a:t>
            </a:r>
            <a:r>
              <a:rPr lang="it-IT" dirty="0"/>
              <a:t>, indichiamo esplicitamente a Java che vogliamo modificare l'attributo dell'oggetto corrente.</a:t>
            </a:r>
          </a:p>
        </p:txBody>
      </p:sp>
    </p:spTree>
    <p:extLst>
      <p:ext uri="{BB962C8B-B14F-4D97-AF65-F5344CB8AC3E}">
        <p14:creationId xmlns:p14="http://schemas.microsoft.com/office/powerpoint/2010/main" val="3855961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7DEF-DB29-E217-65F6-2916EFD51E1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A067240-07D5-859C-25E0-2CAB53FAAAEF}"/>
              </a:ext>
            </a:extLst>
          </p:cNvPr>
          <p:cNvSpPr>
            <a:spLocks noGrp="1"/>
          </p:cNvSpPr>
          <p:nvPr>
            <p:ph type="title"/>
          </p:nvPr>
        </p:nvSpPr>
        <p:spPr>
          <a:xfrm>
            <a:off x="838200" y="831206"/>
            <a:ext cx="10515600" cy="314198"/>
          </a:xfrm>
        </p:spPr>
        <p:txBody>
          <a:bodyPr/>
          <a:lstStyle/>
          <a:p>
            <a:r>
              <a:rPr lang="it-IT" dirty="0"/>
              <a:t>SLIDE 11: Il Ruolo dei Costruttori nel Ciclo di Vita dell'Oggetto</a:t>
            </a:r>
          </a:p>
        </p:txBody>
      </p:sp>
      <p:sp>
        <p:nvSpPr>
          <p:cNvPr id="3" name="Contenuto della lezione">
            <a:extLst>
              <a:ext uri="{FF2B5EF4-FFF2-40B4-BE49-F238E27FC236}">
                <a16:creationId xmlns:a16="http://schemas.microsoft.com/office/drawing/2014/main" id="{3632046F-E16D-4667-2025-941DB27B5E40}"/>
              </a:ext>
            </a:extLst>
          </p:cNvPr>
          <p:cNvSpPr>
            <a:spLocks noGrp="1"/>
          </p:cNvSpPr>
          <p:nvPr>
            <p:ph idx="1"/>
          </p:nvPr>
        </p:nvSpPr>
        <p:spPr>
          <a:xfrm>
            <a:off x="1317319" y="1800042"/>
            <a:ext cx="9557362" cy="4803369"/>
          </a:xfrm>
        </p:spPr>
        <p:txBody>
          <a:bodyPr/>
          <a:lstStyle/>
          <a:p>
            <a:r>
              <a:rPr lang="it-IT" dirty="0"/>
              <a:t>Il costruttore è un metodo speciale all'interno di una classe che viene invocato automaticamente ed esclusivamente nel momento in cui viene istanziato un nuovo oggetto tramite la parola chiave </a:t>
            </a:r>
            <a:r>
              <a:rPr lang="it-IT" b="1" dirty="0">
                <a:solidFill>
                  <a:srgbClr val="171FE2"/>
                </a:solidFill>
              </a:rPr>
              <a:t>new</a:t>
            </a:r>
            <a:r>
              <a:rPr lang="it-IT" dirty="0"/>
              <a:t>. </a:t>
            </a:r>
          </a:p>
          <a:p>
            <a:r>
              <a:rPr lang="it-IT" dirty="0"/>
              <a:t>La sua funzione primaria è quella di inizializzare lo stato iniziale dell'oggetto, allocando lo spazio necessario in memoria e assegnando valori coerenti ai suoi attributi. </a:t>
            </a:r>
          </a:p>
          <a:p>
            <a:r>
              <a:rPr lang="it-IT" dirty="0">
                <a:solidFill>
                  <a:srgbClr val="171FE2"/>
                </a:solidFill>
              </a:rPr>
              <a:t>Dal punto di vista sintattico, il costruttore ha due regole ferree: deve avere lo stesso identico nome della classe in cui è dichiarato e non deve avere alcun tipo di ritorno, nemmeno </a:t>
            </a:r>
            <a:r>
              <a:rPr lang="it-IT" dirty="0" err="1">
                <a:solidFill>
                  <a:srgbClr val="171FE2"/>
                </a:solidFill>
              </a:rPr>
              <a:t>void</a:t>
            </a:r>
            <a:r>
              <a:rPr lang="it-IT" dirty="0"/>
              <a:t>. </a:t>
            </a:r>
          </a:p>
          <a:p>
            <a:r>
              <a:rPr lang="it-IT" dirty="0"/>
              <a:t>Se il programmatore non scrive esplicitamente alcun costruttore all'interno della classe, il compilatore Java genera automaticamente un "</a:t>
            </a:r>
            <a:r>
              <a:rPr lang="it-IT" b="1" dirty="0">
                <a:solidFill>
                  <a:srgbClr val="171FE2"/>
                </a:solidFill>
              </a:rPr>
              <a:t>costruttore di default</a:t>
            </a:r>
            <a:r>
              <a:rPr lang="it-IT" dirty="0"/>
              <a:t>". Questo costruttore non accetta parametri e inizializza i campi numerici a zero, i booleani a false e i riferimenti a oggetti (comprese le stringhe) a </a:t>
            </a:r>
            <a:r>
              <a:rPr lang="it-IT" dirty="0" err="1"/>
              <a:t>null</a:t>
            </a:r>
            <a:r>
              <a:rPr lang="it-IT" dirty="0"/>
              <a:t>. </a:t>
            </a:r>
          </a:p>
          <a:p>
            <a:r>
              <a:rPr lang="it-IT" dirty="0">
                <a:solidFill>
                  <a:srgbClr val="171FE2"/>
                </a:solidFill>
              </a:rPr>
              <a:t>Tuttavia, nel momento in cui viene definito anche un solo costruttore personalizzato, quello di default sparisce</a:t>
            </a:r>
            <a:r>
              <a:rPr lang="it-IT" dirty="0"/>
              <a:t>.</a:t>
            </a:r>
          </a:p>
        </p:txBody>
      </p:sp>
    </p:spTree>
    <p:extLst>
      <p:ext uri="{BB962C8B-B14F-4D97-AF65-F5344CB8AC3E}">
        <p14:creationId xmlns:p14="http://schemas.microsoft.com/office/powerpoint/2010/main" val="1226992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BFDE-FCB9-D1EE-E665-06B67620C70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8E9A912-702A-2581-9EC2-E375A6AE7C84}"/>
              </a:ext>
            </a:extLst>
          </p:cNvPr>
          <p:cNvSpPr>
            <a:spLocks noGrp="1"/>
          </p:cNvSpPr>
          <p:nvPr>
            <p:ph type="title"/>
          </p:nvPr>
        </p:nvSpPr>
        <p:spPr>
          <a:xfrm>
            <a:off x="838200" y="831206"/>
            <a:ext cx="10515600" cy="314198"/>
          </a:xfrm>
        </p:spPr>
        <p:txBody>
          <a:bodyPr/>
          <a:lstStyle/>
          <a:p>
            <a:r>
              <a:rPr lang="it-IT" dirty="0"/>
              <a:t>SLIDE 12: Il Meccanismo di </a:t>
            </a:r>
            <a:r>
              <a:rPr lang="it-IT" dirty="0" err="1"/>
              <a:t>Overloading</a:t>
            </a:r>
            <a:r>
              <a:rPr lang="it-IT" dirty="0"/>
              <a:t> dei Costruttori</a:t>
            </a:r>
          </a:p>
        </p:txBody>
      </p:sp>
      <p:sp>
        <p:nvSpPr>
          <p:cNvPr id="3" name="Contenuto della lezione">
            <a:extLst>
              <a:ext uri="{FF2B5EF4-FFF2-40B4-BE49-F238E27FC236}">
                <a16:creationId xmlns:a16="http://schemas.microsoft.com/office/drawing/2014/main" id="{960148CF-0A8D-52EB-BA6B-55EC4744EF74}"/>
              </a:ext>
            </a:extLst>
          </p:cNvPr>
          <p:cNvSpPr>
            <a:spLocks noGrp="1"/>
          </p:cNvSpPr>
          <p:nvPr>
            <p:ph idx="1"/>
          </p:nvPr>
        </p:nvSpPr>
        <p:spPr>
          <a:xfrm>
            <a:off x="1317319" y="1800042"/>
            <a:ext cx="9557362" cy="4803369"/>
          </a:xfrm>
        </p:spPr>
        <p:txBody>
          <a:bodyPr/>
          <a:lstStyle/>
          <a:p>
            <a:r>
              <a:rPr lang="it-IT" dirty="0"/>
              <a:t>In Java, una classe non è limitata ad avere un solo costruttore. </a:t>
            </a:r>
          </a:p>
          <a:p>
            <a:r>
              <a:rPr lang="it-IT" dirty="0"/>
              <a:t>È possibile definire più costruttori grazie al meccanismo dell'</a:t>
            </a:r>
            <a:r>
              <a:rPr lang="it-IT" dirty="0" err="1"/>
              <a:t>Overloading</a:t>
            </a:r>
            <a:r>
              <a:rPr lang="it-IT" dirty="0"/>
              <a:t> (</a:t>
            </a:r>
            <a:r>
              <a:rPr lang="it-IT" dirty="0" err="1"/>
              <a:t>sovraccaricamento</a:t>
            </a:r>
            <a:r>
              <a:rPr lang="it-IT" dirty="0"/>
              <a:t>). </a:t>
            </a:r>
          </a:p>
          <a:p>
            <a:r>
              <a:rPr lang="it-IT" dirty="0"/>
              <a:t>L'</a:t>
            </a:r>
            <a:r>
              <a:rPr lang="it-IT" dirty="0" err="1"/>
              <a:t>overloading</a:t>
            </a:r>
            <a:r>
              <a:rPr lang="it-IT" dirty="0"/>
              <a:t> si verifica quando all'interno dello stesso perimetro d'azione esistono più metodi o costruttori con lo stesso nome, ma con una diversa "firma" (signature). </a:t>
            </a:r>
          </a:p>
          <a:p>
            <a:r>
              <a:rPr lang="it-IT" dirty="0"/>
              <a:t>La firma di un metodo è determinata dal numero, dal tipo e dall'ordine dei suoi parametri d'ingresso (</a:t>
            </a:r>
            <a:r>
              <a:rPr lang="it-IT" b="1" dirty="0">
                <a:solidFill>
                  <a:srgbClr val="171FE2"/>
                </a:solidFill>
              </a:rPr>
              <a:t>il tipo di ritorno non fa parte della firma</a:t>
            </a:r>
            <a:r>
              <a:rPr lang="it-IT" dirty="0"/>
              <a:t>). </a:t>
            </a:r>
          </a:p>
          <a:p>
            <a:r>
              <a:rPr lang="it-IT" dirty="0"/>
              <a:t>Ad esempio, la classe Studente può avere un costruttore </a:t>
            </a:r>
            <a:r>
              <a:rPr lang="it-IT" dirty="0">
                <a:solidFill>
                  <a:srgbClr val="171FE2"/>
                </a:solidFill>
                <a:latin typeface="Consolas" panose="020B0609020204030204" pitchFamily="49" charset="0"/>
              </a:rPr>
              <a:t>public Studente(</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nome, </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cognome)</a:t>
            </a:r>
            <a:r>
              <a:rPr lang="it-IT" dirty="0"/>
              <a:t>e un secondo costruttore </a:t>
            </a:r>
            <a:r>
              <a:rPr lang="it-IT" dirty="0">
                <a:solidFill>
                  <a:srgbClr val="171FE2"/>
                </a:solidFill>
                <a:latin typeface="Consolas" panose="020B0609020204030204" pitchFamily="49" charset="0"/>
              </a:rPr>
              <a:t>public Studente(</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nome, </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cognome, </a:t>
            </a:r>
            <a:r>
              <a:rPr lang="it-IT" dirty="0" err="1">
                <a:solidFill>
                  <a:srgbClr val="171FE2"/>
                </a:solidFill>
                <a:latin typeface="Consolas" panose="020B0609020204030204" pitchFamily="49" charset="0"/>
              </a:rPr>
              <a:t>int</a:t>
            </a:r>
            <a:r>
              <a:rPr lang="it-IT" dirty="0">
                <a:solidFill>
                  <a:srgbClr val="171FE2"/>
                </a:solidFill>
                <a:latin typeface="Consolas" panose="020B0609020204030204" pitchFamily="49" charset="0"/>
              </a:rPr>
              <a:t> matricola)</a:t>
            </a:r>
            <a:r>
              <a:rPr lang="it-IT" dirty="0"/>
              <a:t>. </a:t>
            </a:r>
          </a:p>
          <a:p>
            <a:r>
              <a:rPr lang="it-IT" dirty="0"/>
              <a:t>Il compilatore Java, analizzando gli argomenti passati durante l'invocazione del new, saprà esattamente quale costruttore eseguire nello Heap. </a:t>
            </a:r>
          </a:p>
          <a:p>
            <a:r>
              <a:rPr lang="it-IT" dirty="0"/>
              <a:t>Questo offre enorme flessibilità, permettendo di creare oggetti con diversi livelli di dettaglio iniziale a seconda delle informazioni disponibili.</a:t>
            </a:r>
          </a:p>
        </p:txBody>
      </p:sp>
    </p:spTree>
    <p:extLst>
      <p:ext uri="{BB962C8B-B14F-4D97-AF65-F5344CB8AC3E}">
        <p14:creationId xmlns:p14="http://schemas.microsoft.com/office/powerpoint/2010/main" val="777343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20CCB-A286-A580-F8A9-9AB3B353C3F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44A9C56-4E5D-CD56-CA6B-57EDFA22464B}"/>
              </a:ext>
            </a:extLst>
          </p:cNvPr>
          <p:cNvSpPr>
            <a:spLocks noGrp="1"/>
          </p:cNvSpPr>
          <p:nvPr>
            <p:ph type="title"/>
          </p:nvPr>
        </p:nvSpPr>
        <p:spPr>
          <a:xfrm>
            <a:off x="838200" y="831206"/>
            <a:ext cx="10515600" cy="314198"/>
          </a:xfrm>
        </p:spPr>
        <p:txBody>
          <a:bodyPr/>
          <a:lstStyle/>
          <a:p>
            <a:r>
              <a:rPr lang="it-IT" dirty="0"/>
              <a:t>SLIDE 13: La Chiamata tra Costruttori tramite '</a:t>
            </a:r>
            <a:r>
              <a:rPr lang="it-IT" dirty="0" err="1"/>
              <a:t>this</a:t>
            </a:r>
            <a:r>
              <a:rPr lang="it-IT" dirty="0"/>
              <a:t>()'</a:t>
            </a:r>
          </a:p>
        </p:txBody>
      </p:sp>
      <p:sp>
        <p:nvSpPr>
          <p:cNvPr id="3" name="Contenuto della lezione">
            <a:extLst>
              <a:ext uri="{FF2B5EF4-FFF2-40B4-BE49-F238E27FC236}">
                <a16:creationId xmlns:a16="http://schemas.microsoft.com/office/drawing/2014/main" id="{84DC711F-0994-5797-BD9D-988BAC95BA9E}"/>
              </a:ext>
            </a:extLst>
          </p:cNvPr>
          <p:cNvSpPr>
            <a:spLocks noGrp="1"/>
          </p:cNvSpPr>
          <p:nvPr>
            <p:ph idx="1"/>
          </p:nvPr>
        </p:nvSpPr>
        <p:spPr>
          <a:xfrm>
            <a:off x="1317319" y="1800042"/>
            <a:ext cx="9557362" cy="4803369"/>
          </a:xfrm>
        </p:spPr>
        <p:txBody>
          <a:bodyPr/>
          <a:lstStyle/>
          <a:p>
            <a:r>
              <a:rPr lang="it-IT" dirty="0"/>
              <a:t>Quando si implementa l'</a:t>
            </a:r>
            <a:r>
              <a:rPr lang="it-IT" dirty="0" err="1"/>
              <a:t>overloading</a:t>
            </a:r>
            <a:r>
              <a:rPr lang="it-IT" dirty="0"/>
              <a:t> dei costruttori, spesso ci si accorge che il codice di inizializzazione si ripete in modo quasi identico tra le varie versioni. </a:t>
            </a:r>
          </a:p>
          <a:p>
            <a:r>
              <a:rPr lang="it-IT" dirty="0"/>
              <a:t>Per rispettare il principio DRY (</a:t>
            </a:r>
            <a:r>
              <a:rPr lang="it-IT" dirty="0" err="1"/>
              <a:t>Don't</a:t>
            </a:r>
            <a:r>
              <a:rPr lang="it-IT" dirty="0"/>
              <a:t> </a:t>
            </a:r>
            <a:r>
              <a:rPr lang="it-IT" dirty="0" err="1"/>
              <a:t>Repeat</a:t>
            </a:r>
            <a:r>
              <a:rPr lang="it-IT" dirty="0"/>
              <a:t> </a:t>
            </a:r>
            <a:r>
              <a:rPr lang="it-IT" dirty="0" err="1"/>
              <a:t>Yourself</a:t>
            </a:r>
            <a:r>
              <a:rPr lang="it-IT" dirty="0"/>
              <a:t>), fondamentale nella formazione tecnica, Java permette a un costruttore di richiamarne un altro della stessa classe utilizzando la parola chiave </a:t>
            </a:r>
            <a:r>
              <a:rPr lang="it-IT" dirty="0" err="1"/>
              <a:t>this</a:t>
            </a:r>
            <a:r>
              <a:rPr lang="it-IT" dirty="0"/>
              <a:t> seguita dalle parentesi tonde, passando i relativi argomenti. </a:t>
            </a:r>
          </a:p>
          <a:p>
            <a:r>
              <a:rPr lang="it-IT" dirty="0"/>
              <a:t>Ad esempio, il costruttore che accetta solo il nome e il cognome può delegare il lavoro al costruttore completo scrivendo: </a:t>
            </a:r>
            <a:r>
              <a:rPr lang="it-IT" dirty="0" err="1">
                <a:solidFill>
                  <a:srgbClr val="171FE2"/>
                </a:solidFill>
                <a:latin typeface="Consolas" panose="020B0609020204030204" pitchFamily="49" charset="0"/>
              </a:rPr>
              <a:t>this</a:t>
            </a:r>
            <a:r>
              <a:rPr lang="it-IT" dirty="0">
                <a:solidFill>
                  <a:srgbClr val="171FE2"/>
                </a:solidFill>
                <a:latin typeface="Consolas" panose="020B0609020204030204" pitchFamily="49" charset="0"/>
              </a:rPr>
              <a:t>(nome, cognome, 0);</a:t>
            </a:r>
            <a:r>
              <a:rPr lang="it-IT" dirty="0"/>
              <a:t>, dove lo zero rappresenta una matricola di default. </a:t>
            </a:r>
          </a:p>
          <a:p>
            <a:r>
              <a:rPr lang="it-IT" dirty="0"/>
              <a:t>Esiste però una regola sintattica stringente: l'istruzione </a:t>
            </a:r>
            <a:r>
              <a:rPr lang="it-IT" dirty="0" err="1"/>
              <a:t>this</a:t>
            </a:r>
            <a:r>
              <a:rPr lang="it-IT" dirty="0"/>
              <a:t>() per la chiamata del costruttore deve essere tassativamente la prima riga di codice all'interno del blocco del costruttore chiamante. </a:t>
            </a:r>
          </a:p>
          <a:p>
            <a:r>
              <a:rPr lang="it-IT" dirty="0">
                <a:solidFill>
                  <a:srgbClr val="171FE2"/>
                </a:solidFill>
              </a:rPr>
              <a:t>Se si tenta di inserire un'altra istruzione prima di </a:t>
            </a:r>
            <a:r>
              <a:rPr lang="it-IT" dirty="0" err="1">
                <a:solidFill>
                  <a:srgbClr val="171FE2"/>
                </a:solidFill>
              </a:rPr>
              <a:t>this</a:t>
            </a:r>
            <a:r>
              <a:rPr lang="it-IT" dirty="0">
                <a:solidFill>
                  <a:srgbClr val="171FE2"/>
                </a:solidFill>
              </a:rPr>
              <a:t>(), il compilatore bloccherà l'operazione generando un errore di sintassi</a:t>
            </a:r>
            <a:r>
              <a:rPr lang="it-IT" dirty="0"/>
              <a:t>.</a:t>
            </a:r>
          </a:p>
        </p:txBody>
      </p:sp>
    </p:spTree>
    <p:extLst>
      <p:ext uri="{BB962C8B-B14F-4D97-AF65-F5344CB8AC3E}">
        <p14:creationId xmlns:p14="http://schemas.microsoft.com/office/powerpoint/2010/main" val="91310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36F01-4ABE-1E56-21F3-2A5585032A3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98C2D85-DF84-F4CA-B5C5-C77C5B292740}"/>
              </a:ext>
            </a:extLst>
          </p:cNvPr>
          <p:cNvSpPr>
            <a:spLocks noGrp="1"/>
          </p:cNvSpPr>
          <p:nvPr>
            <p:ph type="title"/>
          </p:nvPr>
        </p:nvSpPr>
        <p:spPr>
          <a:xfrm>
            <a:off x="838200" y="831206"/>
            <a:ext cx="10515600" cy="314198"/>
          </a:xfrm>
        </p:spPr>
        <p:txBody>
          <a:bodyPr/>
          <a:lstStyle/>
          <a:p>
            <a:r>
              <a:rPr lang="it-IT" dirty="0"/>
              <a:t>SLIDE 14: Esercizio Guidato – Progettazione della Classe </a:t>
            </a:r>
            <a:r>
              <a:rPr lang="it-IT" dirty="0" err="1"/>
              <a:t>ContoCorrente</a:t>
            </a:r>
            <a:endParaRPr lang="it-IT" dirty="0"/>
          </a:p>
        </p:txBody>
      </p:sp>
      <p:sp>
        <p:nvSpPr>
          <p:cNvPr id="3" name="Contenuto della lezione">
            <a:extLst>
              <a:ext uri="{FF2B5EF4-FFF2-40B4-BE49-F238E27FC236}">
                <a16:creationId xmlns:a16="http://schemas.microsoft.com/office/drawing/2014/main" id="{BE69C73D-2B3B-A444-68E0-53AE1C074390}"/>
              </a:ext>
            </a:extLst>
          </p:cNvPr>
          <p:cNvSpPr>
            <a:spLocks noGrp="1"/>
          </p:cNvSpPr>
          <p:nvPr>
            <p:ph idx="1"/>
          </p:nvPr>
        </p:nvSpPr>
        <p:spPr>
          <a:xfrm>
            <a:off x="1317319" y="1800042"/>
            <a:ext cx="9557362" cy="4803369"/>
          </a:xfrm>
        </p:spPr>
        <p:txBody>
          <a:bodyPr/>
          <a:lstStyle/>
          <a:p>
            <a:r>
              <a:rPr lang="it-IT" dirty="0"/>
              <a:t>Applichiamo le conoscenze acquisite traducendole in un'abilità pratica immediata.</a:t>
            </a:r>
          </a:p>
          <a:p>
            <a:r>
              <a:rPr lang="it-IT" dirty="0"/>
              <a:t>Sviluppiamo una classe chiamata </a:t>
            </a:r>
            <a:r>
              <a:rPr lang="it-IT" dirty="0" err="1"/>
              <a:t>ContoCorrente</a:t>
            </a:r>
            <a:r>
              <a:rPr lang="it-IT" dirty="0"/>
              <a:t>. La classe deve includere due attributi: </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titolare e double saldo</a:t>
            </a:r>
            <a:r>
              <a:rPr lang="it-IT" dirty="0"/>
              <a:t>. </a:t>
            </a:r>
          </a:p>
          <a:p>
            <a:r>
              <a:rPr lang="it-IT" dirty="0"/>
              <a:t>Implementiamo un costruttore completo che accetti come parametri il nome del titolare e il saldo iniziale, utilizzando la parola chiave </a:t>
            </a:r>
            <a:r>
              <a:rPr lang="it-IT" dirty="0" err="1">
                <a:solidFill>
                  <a:srgbClr val="171FE2"/>
                </a:solidFill>
                <a:latin typeface="Consolas" panose="020B0609020204030204" pitchFamily="49" charset="0"/>
              </a:rPr>
              <a:t>this</a:t>
            </a:r>
            <a:r>
              <a:rPr lang="it-IT" dirty="0"/>
              <a:t> per l'assegnazione dei valori in modo da evitare lo </a:t>
            </a:r>
            <a:r>
              <a:rPr lang="it-IT" dirty="0" err="1"/>
              <a:t>shadowing</a:t>
            </a:r>
            <a:r>
              <a:rPr lang="it-IT" dirty="0"/>
              <a:t> strutturale dei parametri. </a:t>
            </a:r>
          </a:p>
          <a:p>
            <a:r>
              <a:rPr lang="it-IT" dirty="0"/>
              <a:t>Aggiungiamo poi due metodi fondamentali per definire il comportamento operativo dell'oggetto: </a:t>
            </a:r>
            <a:r>
              <a:rPr lang="it-IT" dirty="0">
                <a:solidFill>
                  <a:srgbClr val="171FE2"/>
                </a:solidFill>
                <a:latin typeface="Consolas" panose="020B0609020204030204" pitchFamily="49" charset="0"/>
              </a:rPr>
              <a:t>public </a:t>
            </a:r>
            <a:r>
              <a:rPr lang="it-IT" dirty="0" err="1">
                <a:solidFill>
                  <a:srgbClr val="171FE2"/>
                </a:solidFill>
                <a:latin typeface="Consolas" panose="020B0609020204030204" pitchFamily="49" charset="0"/>
              </a:rPr>
              <a:t>void</a:t>
            </a:r>
            <a:r>
              <a:rPr lang="it-IT" dirty="0">
                <a:solidFill>
                  <a:srgbClr val="171FE2"/>
                </a:solidFill>
                <a:latin typeface="Consolas" panose="020B0609020204030204" pitchFamily="49" charset="0"/>
              </a:rPr>
              <a:t> deposita(double importo)</a:t>
            </a:r>
            <a:r>
              <a:rPr lang="it-IT" dirty="0"/>
              <a:t>, che incrementa il saldo del valore passato, e </a:t>
            </a:r>
            <a:r>
              <a:rPr lang="it-IT" dirty="0">
                <a:solidFill>
                  <a:srgbClr val="171FE2"/>
                </a:solidFill>
                <a:latin typeface="Consolas" panose="020B0609020204030204" pitchFamily="49" charset="0"/>
              </a:rPr>
              <a:t>public </a:t>
            </a:r>
            <a:r>
              <a:rPr lang="it-IT" dirty="0" err="1">
                <a:solidFill>
                  <a:srgbClr val="171FE2"/>
                </a:solidFill>
                <a:latin typeface="Consolas" panose="020B0609020204030204" pitchFamily="49" charset="0"/>
              </a:rPr>
              <a:t>void</a:t>
            </a:r>
            <a:r>
              <a:rPr lang="it-IT" dirty="0">
                <a:solidFill>
                  <a:srgbClr val="171FE2"/>
                </a:solidFill>
                <a:latin typeface="Consolas" panose="020B0609020204030204" pitchFamily="49" charset="0"/>
              </a:rPr>
              <a:t> preleva(double importo)</a:t>
            </a:r>
            <a:r>
              <a:rPr lang="it-IT" dirty="0"/>
              <a:t>, che decrementa il saldo.</a:t>
            </a:r>
          </a:p>
          <a:p>
            <a:r>
              <a:rPr lang="it-IT" dirty="0"/>
              <a:t>All'interno del file principale (Avvio.java), nel metodo </a:t>
            </a:r>
            <a:r>
              <a:rPr lang="it-IT" dirty="0" err="1">
                <a:solidFill>
                  <a:srgbClr val="171FE2"/>
                </a:solidFill>
                <a:latin typeface="Consolas" panose="020B0609020204030204" pitchFamily="49" charset="0"/>
              </a:rPr>
              <a:t>main</a:t>
            </a:r>
            <a:r>
              <a:rPr lang="it-IT" dirty="0"/>
              <a:t>, istanzieremo l'oggetto in questo modo: </a:t>
            </a:r>
            <a:r>
              <a:rPr lang="it-IT" dirty="0" err="1">
                <a:solidFill>
                  <a:srgbClr val="171FE2"/>
                </a:solidFill>
                <a:latin typeface="Consolas" panose="020B0609020204030204" pitchFamily="49" charset="0"/>
              </a:rPr>
              <a:t>ContoCorrente</a:t>
            </a:r>
            <a:r>
              <a:rPr lang="it-IT" dirty="0">
                <a:solidFill>
                  <a:srgbClr val="171FE2"/>
                </a:solidFill>
                <a:latin typeface="Consolas" panose="020B0609020204030204" pitchFamily="49" charset="0"/>
              </a:rPr>
              <a:t> conto = new </a:t>
            </a:r>
            <a:r>
              <a:rPr lang="it-IT" dirty="0" err="1">
                <a:solidFill>
                  <a:srgbClr val="171FE2"/>
                </a:solidFill>
                <a:latin typeface="Consolas" panose="020B0609020204030204" pitchFamily="49" charset="0"/>
              </a:rPr>
              <a:t>ContoCorrente</a:t>
            </a:r>
            <a:r>
              <a:rPr lang="it-IT" dirty="0">
                <a:solidFill>
                  <a:srgbClr val="171FE2"/>
                </a:solidFill>
                <a:latin typeface="Consolas" panose="020B0609020204030204" pitchFamily="49" charset="0"/>
              </a:rPr>
              <a:t>("Mario Rossi", 500.0);</a:t>
            </a:r>
            <a:r>
              <a:rPr lang="it-IT" dirty="0"/>
              <a:t>.</a:t>
            </a:r>
          </a:p>
          <a:p>
            <a:r>
              <a:rPr lang="it-IT" dirty="0"/>
              <a:t>Successivamente, invocheremo il metodo </a:t>
            </a:r>
            <a:r>
              <a:rPr lang="it-IT" dirty="0" err="1">
                <a:solidFill>
                  <a:srgbClr val="171FE2"/>
                </a:solidFill>
                <a:latin typeface="Consolas" panose="020B0609020204030204" pitchFamily="49" charset="0"/>
              </a:rPr>
              <a:t>conto.deposita</a:t>
            </a:r>
            <a:r>
              <a:rPr lang="it-IT" dirty="0">
                <a:solidFill>
                  <a:srgbClr val="171FE2"/>
                </a:solidFill>
                <a:latin typeface="Consolas" panose="020B0609020204030204" pitchFamily="49" charset="0"/>
              </a:rPr>
              <a:t>(150.0); </a:t>
            </a:r>
            <a:r>
              <a:rPr lang="it-IT" dirty="0"/>
              <a:t>e stamperemo il risultato per verificare la mutazione dello stato.</a:t>
            </a:r>
          </a:p>
        </p:txBody>
      </p:sp>
    </p:spTree>
    <p:extLst>
      <p:ext uri="{BB962C8B-B14F-4D97-AF65-F5344CB8AC3E}">
        <p14:creationId xmlns:p14="http://schemas.microsoft.com/office/powerpoint/2010/main" val="3436638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FAC1C-FD6F-5B94-0642-692A197EB89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235389F-924D-FF7D-C0B4-35DBDA20D76B}"/>
              </a:ext>
            </a:extLst>
          </p:cNvPr>
          <p:cNvSpPr>
            <a:spLocks noGrp="1"/>
          </p:cNvSpPr>
          <p:nvPr>
            <p:ph type="title"/>
          </p:nvPr>
        </p:nvSpPr>
        <p:spPr>
          <a:xfrm>
            <a:off x="838200" y="831206"/>
            <a:ext cx="10515600" cy="314198"/>
          </a:xfrm>
        </p:spPr>
        <p:txBody>
          <a:bodyPr/>
          <a:lstStyle/>
          <a:p>
            <a:r>
              <a:rPr lang="it-IT" dirty="0"/>
              <a:t>SLIDE 15: Istanze Multiple e Isolamento dello Stato in Memoria</a:t>
            </a:r>
          </a:p>
        </p:txBody>
      </p:sp>
      <p:sp>
        <p:nvSpPr>
          <p:cNvPr id="3" name="Contenuto della lezione">
            <a:extLst>
              <a:ext uri="{FF2B5EF4-FFF2-40B4-BE49-F238E27FC236}">
                <a16:creationId xmlns:a16="http://schemas.microsoft.com/office/drawing/2014/main" id="{0912EB41-EBC2-A80E-A428-499908BA3691}"/>
              </a:ext>
            </a:extLst>
          </p:cNvPr>
          <p:cNvSpPr>
            <a:spLocks noGrp="1"/>
          </p:cNvSpPr>
          <p:nvPr>
            <p:ph idx="1"/>
          </p:nvPr>
        </p:nvSpPr>
        <p:spPr>
          <a:xfrm>
            <a:off x="1317319" y="1800042"/>
            <a:ext cx="9557362" cy="4803369"/>
          </a:xfrm>
        </p:spPr>
        <p:txBody>
          <a:bodyPr/>
          <a:lstStyle/>
          <a:p>
            <a:r>
              <a:rPr lang="it-IT" dirty="0"/>
              <a:t>L'obiettivo di questo esercizio è comprendere che ogni oggetto vive di vita propria nello Heap della memoria. </a:t>
            </a:r>
          </a:p>
          <a:p>
            <a:r>
              <a:rPr lang="it-IT" dirty="0"/>
              <a:t>Nel metodo </a:t>
            </a:r>
            <a:r>
              <a:rPr lang="it-IT" dirty="0" err="1"/>
              <a:t>main</a:t>
            </a:r>
            <a:r>
              <a:rPr lang="it-IT" dirty="0"/>
              <a:t>, dopo aver creato il primo conto di Mario Rossi, istanziate un secondo conto: </a:t>
            </a:r>
            <a:r>
              <a:rPr lang="it-IT" dirty="0" err="1">
                <a:solidFill>
                  <a:srgbClr val="171FE2"/>
                </a:solidFill>
                <a:latin typeface="Consolas" panose="020B0609020204030204" pitchFamily="49" charset="0"/>
              </a:rPr>
              <a:t>ContoCorrente</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contoDue</a:t>
            </a:r>
            <a:r>
              <a:rPr lang="it-IT" dirty="0">
                <a:solidFill>
                  <a:srgbClr val="171FE2"/>
                </a:solidFill>
                <a:latin typeface="Consolas" panose="020B0609020204030204" pitchFamily="49" charset="0"/>
              </a:rPr>
              <a:t> = new </a:t>
            </a:r>
            <a:r>
              <a:rPr lang="it-IT" dirty="0" err="1">
                <a:solidFill>
                  <a:srgbClr val="171FE2"/>
                </a:solidFill>
                <a:latin typeface="Consolas" panose="020B0609020204030204" pitchFamily="49" charset="0"/>
              </a:rPr>
              <a:t>ContoCorrente</a:t>
            </a:r>
            <a:r>
              <a:rPr lang="it-IT" dirty="0">
                <a:solidFill>
                  <a:srgbClr val="171FE2"/>
                </a:solidFill>
                <a:latin typeface="Consolas" panose="020B0609020204030204" pitchFamily="49" charset="0"/>
              </a:rPr>
              <a:t>("Luigi Bianchi", 1000.0);</a:t>
            </a:r>
            <a:r>
              <a:rPr lang="it-IT" dirty="0"/>
              <a:t>. </a:t>
            </a:r>
          </a:p>
          <a:p>
            <a:r>
              <a:rPr lang="it-IT" dirty="0"/>
              <a:t>Eseguite l'operazione </a:t>
            </a:r>
            <a:r>
              <a:rPr lang="it-IT" dirty="0" err="1">
                <a:solidFill>
                  <a:srgbClr val="171FE2"/>
                </a:solidFill>
                <a:latin typeface="Consolas" panose="020B0609020204030204" pitchFamily="49" charset="0"/>
              </a:rPr>
              <a:t>contoDue.preleva</a:t>
            </a:r>
            <a:r>
              <a:rPr lang="it-IT" dirty="0">
                <a:solidFill>
                  <a:srgbClr val="171FE2"/>
                </a:solidFill>
                <a:latin typeface="Consolas" panose="020B0609020204030204" pitchFamily="49" charset="0"/>
              </a:rPr>
              <a:t>(200.0); </a:t>
            </a:r>
            <a:r>
              <a:rPr lang="it-IT" dirty="0"/>
              <a:t>e stampate i saldi di entrambi gli oggetti. </a:t>
            </a:r>
          </a:p>
          <a:p>
            <a:r>
              <a:rPr lang="it-IT" dirty="0"/>
              <a:t>Noterete che la modifica effettuata su </a:t>
            </a:r>
            <a:r>
              <a:rPr lang="it-IT" dirty="0" err="1">
                <a:solidFill>
                  <a:srgbClr val="171FE2"/>
                </a:solidFill>
                <a:latin typeface="Consolas" panose="020B0609020204030204" pitchFamily="49" charset="0"/>
              </a:rPr>
              <a:t>contoDue</a:t>
            </a:r>
            <a:r>
              <a:rPr lang="it-IT" dirty="0"/>
              <a:t> non ha influenzato minimamente lo stato interno del primo oggetto conto. </a:t>
            </a:r>
            <a:endParaRPr lang="it-IT" dirty="0">
              <a:solidFill>
                <a:srgbClr val="171FE2"/>
              </a:solidFill>
              <a:latin typeface="Consolas" panose="020B0609020204030204" pitchFamily="49" charset="0"/>
            </a:endParaRPr>
          </a:p>
          <a:p>
            <a:r>
              <a:rPr lang="it-IT" dirty="0"/>
              <a:t>Questo accade perché le due variabili memorizzano riferimenti a aree di memoria Heap completamente separate e indipendenti. </a:t>
            </a:r>
          </a:p>
          <a:p>
            <a:r>
              <a:rPr lang="it-IT" dirty="0"/>
              <a:t>Gli studenti degli istituti tecnici devono padroneggiare questo concetto visivo: la classe fornisce la struttura astratta comune, ma ogni istanza (oggetto) possiede le proprie celle di memoria dedicate in cui conserva il proprio stato specifico in modo del tutto isolato dagli altri.</a:t>
            </a:r>
          </a:p>
        </p:txBody>
      </p:sp>
    </p:spTree>
    <p:extLst>
      <p:ext uri="{BB962C8B-B14F-4D97-AF65-F5344CB8AC3E}">
        <p14:creationId xmlns:p14="http://schemas.microsoft.com/office/powerpoint/2010/main" val="2171158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513B1-AB24-0646-006B-B2F2A236EF5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6DC62DE-B52E-23F0-1DF6-B767B0A58657}"/>
              </a:ext>
            </a:extLst>
          </p:cNvPr>
          <p:cNvSpPr>
            <a:spLocks noGrp="1"/>
          </p:cNvSpPr>
          <p:nvPr>
            <p:ph type="title"/>
          </p:nvPr>
        </p:nvSpPr>
        <p:spPr>
          <a:xfrm>
            <a:off x="838200" y="831206"/>
            <a:ext cx="10515600" cy="314198"/>
          </a:xfrm>
        </p:spPr>
        <p:txBody>
          <a:bodyPr/>
          <a:lstStyle/>
          <a:p>
            <a:r>
              <a:rPr lang="it-IT" dirty="0"/>
              <a:t>SEZIONE 3: IL PILASTRO DELL'INCAPSULAMENTO (Slide 16 - 24)</a:t>
            </a:r>
            <a:br>
              <a:rPr lang="it-IT" dirty="0"/>
            </a:br>
            <a:r>
              <a:rPr lang="it-IT" dirty="0"/>
              <a:t>SLIDE 16: Unità Didattica 2 – Il Pilastro dell'Incapsulamento</a:t>
            </a:r>
          </a:p>
        </p:txBody>
      </p:sp>
      <p:sp>
        <p:nvSpPr>
          <p:cNvPr id="3" name="Contenuto della lezione">
            <a:extLst>
              <a:ext uri="{FF2B5EF4-FFF2-40B4-BE49-F238E27FC236}">
                <a16:creationId xmlns:a16="http://schemas.microsoft.com/office/drawing/2014/main" id="{E249463D-80CB-93E7-6738-68F21617704B}"/>
              </a:ext>
            </a:extLst>
          </p:cNvPr>
          <p:cNvSpPr>
            <a:spLocks noGrp="1"/>
          </p:cNvSpPr>
          <p:nvPr>
            <p:ph idx="1"/>
          </p:nvPr>
        </p:nvSpPr>
        <p:spPr>
          <a:xfrm>
            <a:off x="1317319" y="2054631"/>
            <a:ext cx="9557362" cy="4803369"/>
          </a:xfrm>
        </p:spPr>
        <p:txBody>
          <a:bodyPr/>
          <a:lstStyle/>
          <a:p>
            <a:r>
              <a:rPr lang="it-IT" dirty="0"/>
              <a:t>L'incapsulamento è uno dei quattro pilastri fondamentali della programmazione orientata agli oggetti e risponde al principio del "</a:t>
            </a:r>
            <a:r>
              <a:rPr lang="it-IT" b="1" dirty="0">
                <a:solidFill>
                  <a:srgbClr val="171FE2"/>
                </a:solidFill>
              </a:rPr>
              <a:t>data </a:t>
            </a:r>
            <a:r>
              <a:rPr lang="it-IT" b="1" dirty="0" err="1">
                <a:solidFill>
                  <a:srgbClr val="171FE2"/>
                </a:solidFill>
              </a:rPr>
              <a:t>hiding</a:t>
            </a:r>
            <a:r>
              <a:rPr lang="it-IT" dirty="0"/>
              <a:t>" (occultamento dei dati). </a:t>
            </a:r>
          </a:p>
          <a:p>
            <a:r>
              <a:rPr lang="it-IT" dirty="0"/>
              <a:t>Consiste nel proteggere i dati interni di un oggetto dall'accesso diretto o dalla modifica incontrollata da parte di classi esterne. </a:t>
            </a:r>
          </a:p>
          <a:p>
            <a:r>
              <a:rPr lang="it-IT" dirty="0"/>
              <a:t>Per realizzare l'incapsulamento in Java si seguono due regole standard aziendali: </a:t>
            </a:r>
          </a:p>
          <a:p>
            <a:pPr marL="342900" indent="-342900">
              <a:buFont typeface="+mj-lt"/>
              <a:buAutoNum type="arabicPeriod"/>
            </a:pPr>
            <a:r>
              <a:rPr lang="it-IT" dirty="0"/>
              <a:t>tutti gli attributi di una classe devono essere dichiarati con il modificatore di accesso private, rendendoli invisibili all'esterno; </a:t>
            </a:r>
          </a:p>
          <a:p>
            <a:pPr marL="342900" indent="-342900">
              <a:buFont typeface="+mj-lt"/>
              <a:buAutoNum type="arabicPeriod"/>
            </a:pPr>
            <a:r>
              <a:rPr lang="it-IT" dirty="0"/>
              <a:t>l'accesso e la modifica di questi dati devono avvenire esclusivamente tramite metodi pubblici appositi chiamati "Getter" (metodi di lettura) e "Setter" (metodi di scrittura).</a:t>
            </a:r>
          </a:p>
          <a:p>
            <a:r>
              <a:rPr lang="it-IT" dirty="0"/>
              <a:t>L'incapsulamento non serve solo a proteggere i dati, ma garantisce il controllo della robustezza del software: all'interno di un metodo Setter, infatti, possiamo inserire logiche di validazione. </a:t>
            </a:r>
          </a:p>
          <a:p>
            <a:r>
              <a:rPr lang="it-IT" dirty="0"/>
              <a:t>Se un utente prova a impostare un valore non consentito, il Setter blocca l'operazione salvaguardando l'oggetto.</a:t>
            </a:r>
          </a:p>
        </p:txBody>
      </p:sp>
    </p:spTree>
    <p:extLst>
      <p:ext uri="{BB962C8B-B14F-4D97-AF65-F5344CB8AC3E}">
        <p14:creationId xmlns:p14="http://schemas.microsoft.com/office/powerpoint/2010/main" val="831018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62D6B-7E10-7EB0-B470-30C2616D15D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912684C-70F6-9726-B563-A6C860C2BA35}"/>
              </a:ext>
            </a:extLst>
          </p:cNvPr>
          <p:cNvSpPr>
            <a:spLocks noGrp="1"/>
          </p:cNvSpPr>
          <p:nvPr>
            <p:ph type="title"/>
          </p:nvPr>
        </p:nvSpPr>
        <p:spPr>
          <a:xfrm>
            <a:off x="838200" y="831206"/>
            <a:ext cx="10515600" cy="314198"/>
          </a:xfrm>
        </p:spPr>
        <p:txBody>
          <a:bodyPr/>
          <a:lstStyle/>
          <a:p>
            <a:r>
              <a:rPr lang="it-IT" dirty="0"/>
              <a:t>SLIDE 17: Modificatori di Accesso e Livelli di Visibilità</a:t>
            </a:r>
          </a:p>
        </p:txBody>
      </p:sp>
      <p:sp>
        <p:nvSpPr>
          <p:cNvPr id="3" name="Contenuto della lezione">
            <a:extLst>
              <a:ext uri="{FF2B5EF4-FFF2-40B4-BE49-F238E27FC236}">
                <a16:creationId xmlns:a16="http://schemas.microsoft.com/office/drawing/2014/main" id="{E18674C0-856A-CE11-BBF4-1C51F897C22F}"/>
              </a:ext>
            </a:extLst>
          </p:cNvPr>
          <p:cNvSpPr>
            <a:spLocks noGrp="1"/>
          </p:cNvSpPr>
          <p:nvPr>
            <p:ph idx="1"/>
          </p:nvPr>
        </p:nvSpPr>
        <p:spPr>
          <a:xfrm>
            <a:off x="1317319" y="1800042"/>
            <a:ext cx="9557362" cy="4803369"/>
          </a:xfrm>
        </p:spPr>
        <p:txBody>
          <a:bodyPr/>
          <a:lstStyle/>
          <a:p>
            <a:r>
              <a:rPr lang="it-IT" dirty="0"/>
              <a:t>Java mette a disposizione quattro livelli di visibilità per controllare l'accesso a classi, costruttori, attributi e metodi, governati da tre parole chiave specifiche. </a:t>
            </a:r>
          </a:p>
          <a:p>
            <a:r>
              <a:rPr lang="it-IT" dirty="0"/>
              <a:t>Il livello più restrittivo è </a:t>
            </a:r>
            <a:r>
              <a:rPr lang="it-IT" b="1" dirty="0">
                <a:solidFill>
                  <a:srgbClr val="171FE2"/>
                </a:solidFill>
              </a:rPr>
              <a:t>private</a:t>
            </a:r>
            <a:r>
              <a:rPr lang="it-IT" dirty="0"/>
              <a:t>: i membri privati sono accessibili solo ed esclusivamente all'interno della classe stessa. </a:t>
            </a:r>
          </a:p>
          <a:p>
            <a:r>
              <a:rPr lang="it-IT" dirty="0"/>
              <a:t>Il livello opposto è </a:t>
            </a:r>
            <a:r>
              <a:rPr lang="it-IT" b="1" dirty="0">
                <a:solidFill>
                  <a:srgbClr val="171FE2"/>
                </a:solidFill>
              </a:rPr>
              <a:t>public</a:t>
            </a:r>
            <a:r>
              <a:rPr lang="it-IT" dirty="0"/>
              <a:t>: i membri pubblici sono visibili e accessibili da qualsiasi altra classe presente nell'applicazione, indipendentemente dal pacchetto (package) in cui si trova. </a:t>
            </a:r>
          </a:p>
          <a:p>
            <a:r>
              <a:rPr lang="it-IT" dirty="0"/>
              <a:t>Se non viene specificata alcuna parola chiave, Java applica il livello di </a:t>
            </a:r>
            <a:r>
              <a:rPr lang="it-IT" b="1" dirty="0">
                <a:solidFill>
                  <a:srgbClr val="171FE2"/>
                </a:solidFill>
              </a:rPr>
              <a:t>default</a:t>
            </a:r>
            <a:r>
              <a:rPr lang="it-IT" dirty="0"/>
              <a:t> (chiamato anche "package-private" o "friendly"): l'elemento è visibile solo dalle classi che si trovano all'interno dello stesso identico pacchetto di cartelle. </a:t>
            </a:r>
          </a:p>
          <a:p>
            <a:r>
              <a:rPr lang="it-IT" dirty="0"/>
              <a:t>Esiste infine il modificatore </a:t>
            </a:r>
            <a:r>
              <a:rPr lang="it-IT" b="1" dirty="0" err="1">
                <a:solidFill>
                  <a:srgbClr val="171FE2"/>
                </a:solidFill>
              </a:rPr>
              <a:t>protected</a:t>
            </a:r>
            <a:r>
              <a:rPr lang="it-IT" dirty="0"/>
              <a:t>, che analizzeremo in dettaglio con l'ereditarietà: esso rende il membro visibile alle classi dello stesso pacchetto e a tutte le sottoclassi, anche se dislocate in pacchetti differenti.</a:t>
            </a:r>
          </a:p>
        </p:txBody>
      </p:sp>
    </p:spTree>
    <p:extLst>
      <p:ext uri="{BB962C8B-B14F-4D97-AF65-F5344CB8AC3E}">
        <p14:creationId xmlns:p14="http://schemas.microsoft.com/office/powerpoint/2010/main" val="2690535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DE17-9807-89F8-A25B-5700A51FC82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5EE8B79-864A-36D0-7F6C-0E06C054C33D}"/>
              </a:ext>
            </a:extLst>
          </p:cNvPr>
          <p:cNvSpPr>
            <a:spLocks noGrp="1"/>
          </p:cNvSpPr>
          <p:nvPr>
            <p:ph type="title"/>
          </p:nvPr>
        </p:nvSpPr>
        <p:spPr>
          <a:xfrm>
            <a:off x="838200" y="831206"/>
            <a:ext cx="10515600" cy="314198"/>
          </a:xfrm>
        </p:spPr>
        <p:txBody>
          <a:bodyPr/>
          <a:lstStyle/>
          <a:p>
            <a:r>
              <a:rPr lang="it-IT" dirty="0"/>
              <a:t>SLIDE 18: Perché l'Accesso Diretto ai Campi è un Pericolo Ingegneristico</a:t>
            </a:r>
          </a:p>
        </p:txBody>
      </p:sp>
      <p:sp>
        <p:nvSpPr>
          <p:cNvPr id="3" name="Contenuto della lezione">
            <a:extLst>
              <a:ext uri="{FF2B5EF4-FFF2-40B4-BE49-F238E27FC236}">
                <a16:creationId xmlns:a16="http://schemas.microsoft.com/office/drawing/2014/main" id="{C65775BA-02C4-5C57-C8DC-BB4A4B288387}"/>
              </a:ext>
            </a:extLst>
          </p:cNvPr>
          <p:cNvSpPr>
            <a:spLocks noGrp="1"/>
          </p:cNvSpPr>
          <p:nvPr>
            <p:ph idx="1"/>
          </p:nvPr>
        </p:nvSpPr>
        <p:spPr>
          <a:xfrm>
            <a:off x="1317319" y="1800042"/>
            <a:ext cx="9557362" cy="4803369"/>
          </a:xfrm>
        </p:spPr>
        <p:txBody>
          <a:bodyPr/>
          <a:lstStyle/>
          <a:p>
            <a:r>
              <a:rPr lang="it-IT" dirty="0"/>
              <a:t>Per capire l'utilità dell'incapsulamento, immaginiamo di non usarlo e di lasciare i campi della classe </a:t>
            </a:r>
            <a:r>
              <a:rPr lang="it-IT" dirty="0" err="1"/>
              <a:t>ContoCorrente</a:t>
            </a:r>
            <a:r>
              <a:rPr lang="it-IT" dirty="0"/>
              <a:t> come public. </a:t>
            </a:r>
          </a:p>
          <a:p>
            <a:r>
              <a:rPr lang="it-IT" dirty="0"/>
              <a:t>Nel </a:t>
            </a:r>
            <a:r>
              <a:rPr lang="it-IT" dirty="0" err="1"/>
              <a:t>main</a:t>
            </a:r>
            <a:r>
              <a:rPr lang="it-IT" dirty="0"/>
              <a:t>, qualsiasi sviluppatore potrebbe scrivere un'istruzione del tipo: </a:t>
            </a:r>
          </a:p>
          <a:p>
            <a:r>
              <a:rPr lang="it-IT" dirty="0" err="1">
                <a:solidFill>
                  <a:srgbClr val="171FE2"/>
                </a:solidFill>
                <a:latin typeface="Consolas" panose="020B0609020204030204" pitchFamily="49" charset="0"/>
              </a:rPr>
              <a:t>conto.saldo</a:t>
            </a:r>
            <a:r>
              <a:rPr lang="it-IT" dirty="0">
                <a:solidFill>
                  <a:srgbClr val="171FE2"/>
                </a:solidFill>
                <a:latin typeface="Consolas" panose="020B0609020204030204" pitchFamily="49" charset="0"/>
              </a:rPr>
              <a:t> = -50000.0; </a:t>
            </a:r>
            <a:r>
              <a:rPr lang="it-IT" dirty="0"/>
              <a:t>oppure </a:t>
            </a:r>
            <a:r>
              <a:rPr lang="it-IT" dirty="0" err="1">
                <a:solidFill>
                  <a:srgbClr val="171FE2"/>
                </a:solidFill>
                <a:latin typeface="Consolas" panose="020B0609020204030204" pitchFamily="49" charset="0"/>
              </a:rPr>
              <a:t>conto.titolare</a:t>
            </a:r>
            <a:r>
              <a:rPr lang="it-IT" dirty="0">
                <a:solidFill>
                  <a:srgbClr val="171FE2"/>
                </a:solidFill>
                <a:latin typeface="Consolas" panose="020B0609020204030204" pitchFamily="49" charset="0"/>
              </a:rPr>
              <a:t> = </a:t>
            </a:r>
            <a:r>
              <a:rPr lang="it-IT" dirty="0" err="1">
                <a:solidFill>
                  <a:srgbClr val="171FE2"/>
                </a:solidFill>
                <a:latin typeface="Consolas" panose="020B0609020204030204" pitchFamily="49" charset="0"/>
              </a:rPr>
              <a:t>null</a:t>
            </a:r>
            <a:r>
              <a:rPr lang="it-IT" dirty="0">
                <a:solidFill>
                  <a:srgbClr val="171FE2"/>
                </a:solidFill>
                <a:latin typeface="Consolas" panose="020B0609020204030204" pitchFamily="49" charset="0"/>
              </a:rPr>
              <a:t>;</a:t>
            </a:r>
            <a:r>
              <a:rPr lang="it-IT" dirty="0"/>
              <a:t>. </a:t>
            </a:r>
          </a:p>
          <a:p>
            <a:r>
              <a:rPr lang="it-IT" dirty="0"/>
              <a:t>Dal punto di vista della sintassi Java, il compilatore accetterebbe questo codice come perfettamente valido. Tuttavia, dal punto di vista della logica di business dell'applicazione, l'oggetto si troverebbe in uno stato incoerente e corrotto (un conto bancario reale non può assumere valori casuali senza passare da un controllo). </a:t>
            </a:r>
          </a:p>
          <a:p>
            <a:r>
              <a:rPr lang="it-IT" dirty="0"/>
              <a:t>Lasciare i campi pubblici espone l'architettura a bug catastrofici e falle di sicurezza.</a:t>
            </a:r>
          </a:p>
          <a:p>
            <a:r>
              <a:rPr lang="it-IT" dirty="0">
                <a:solidFill>
                  <a:srgbClr val="171FE2"/>
                </a:solidFill>
              </a:rPr>
              <a:t>L'incapsulamento agisce come una barriera doganale</a:t>
            </a:r>
            <a:r>
              <a:rPr lang="it-IT" dirty="0"/>
              <a:t>: l'esterno non può toccare le variabili interne, ma può solo "chiedere gentilmente" all'oggetto di farlo, passando attraverso i filtri di controllo dei metodi pubblici.</a:t>
            </a:r>
          </a:p>
        </p:txBody>
      </p:sp>
    </p:spTree>
    <p:extLst>
      <p:ext uri="{BB962C8B-B14F-4D97-AF65-F5344CB8AC3E}">
        <p14:creationId xmlns:p14="http://schemas.microsoft.com/office/powerpoint/2010/main" val="842467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C1C69-A7AE-6B59-006E-276A7EAE957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EAD264A-FA9B-9B76-A7F5-687C1A8A5E76}"/>
              </a:ext>
            </a:extLst>
          </p:cNvPr>
          <p:cNvSpPr>
            <a:spLocks noGrp="1"/>
          </p:cNvSpPr>
          <p:nvPr>
            <p:ph type="title"/>
          </p:nvPr>
        </p:nvSpPr>
        <p:spPr>
          <a:xfrm>
            <a:off x="838200" y="831206"/>
            <a:ext cx="10515600" cy="314198"/>
          </a:xfrm>
        </p:spPr>
        <p:txBody>
          <a:bodyPr/>
          <a:lstStyle/>
          <a:p>
            <a:r>
              <a:rPr lang="it-IT" dirty="0"/>
              <a:t>SLIDE 19: Convenzioni Standard per i Metodi Getter</a:t>
            </a:r>
          </a:p>
        </p:txBody>
      </p:sp>
      <p:sp>
        <p:nvSpPr>
          <p:cNvPr id="3" name="Contenuto della lezione">
            <a:extLst>
              <a:ext uri="{FF2B5EF4-FFF2-40B4-BE49-F238E27FC236}">
                <a16:creationId xmlns:a16="http://schemas.microsoft.com/office/drawing/2014/main" id="{94C4B51C-D794-231D-5047-F0687C5A5DDA}"/>
              </a:ext>
            </a:extLst>
          </p:cNvPr>
          <p:cNvSpPr>
            <a:spLocks noGrp="1"/>
          </p:cNvSpPr>
          <p:nvPr>
            <p:ph idx="1"/>
          </p:nvPr>
        </p:nvSpPr>
        <p:spPr>
          <a:xfrm>
            <a:off x="1317319" y="1800042"/>
            <a:ext cx="9557362" cy="4803369"/>
          </a:xfrm>
        </p:spPr>
        <p:txBody>
          <a:bodyPr/>
          <a:lstStyle/>
          <a:p>
            <a:r>
              <a:rPr lang="it-IT" dirty="0"/>
              <a:t>I metodi Getter (chiamati anche accoppiatori di lettura) hanno il compito esclusivo di restituire all'esterno il valore di un attributo privato, senza modificarlo. </a:t>
            </a:r>
          </a:p>
          <a:p>
            <a:r>
              <a:rPr lang="it-IT" dirty="0"/>
              <a:t>Per convenzione internazionale Java (</a:t>
            </a:r>
            <a:r>
              <a:rPr lang="it-IT" dirty="0" err="1"/>
              <a:t>JavaBeans</a:t>
            </a:r>
            <a:r>
              <a:rPr lang="it-IT" dirty="0"/>
              <a:t> standard), il nome di un getter deve iniziare con il prefisso </a:t>
            </a:r>
            <a:r>
              <a:rPr lang="it-IT" dirty="0" err="1"/>
              <a:t>get</a:t>
            </a:r>
            <a:r>
              <a:rPr lang="it-IT" dirty="0"/>
              <a:t> seguito dal nome dell'attributo con la prima lettera maiuscola (es. per l'attributo </a:t>
            </a:r>
            <a:r>
              <a:rPr lang="it-IT" dirty="0" err="1"/>
              <a:t>eta</a:t>
            </a:r>
            <a:r>
              <a:rPr lang="it-IT" dirty="0"/>
              <a:t>, il getter sarà </a:t>
            </a:r>
            <a:r>
              <a:rPr lang="it-IT" dirty="0" err="1">
                <a:solidFill>
                  <a:srgbClr val="171FE2"/>
                </a:solidFill>
                <a:latin typeface="Consolas" panose="020B0609020204030204" pitchFamily="49" charset="0"/>
              </a:rPr>
              <a:t>getEta</a:t>
            </a:r>
            <a:r>
              <a:rPr lang="it-IT" dirty="0">
                <a:solidFill>
                  <a:srgbClr val="171FE2"/>
                </a:solidFill>
                <a:latin typeface="Consolas" panose="020B0609020204030204" pitchFamily="49" charset="0"/>
              </a:rPr>
              <a:t>()</a:t>
            </a:r>
            <a:r>
              <a:rPr lang="it-IT" dirty="0"/>
              <a:t>). </a:t>
            </a:r>
          </a:p>
          <a:p>
            <a:r>
              <a:rPr lang="it-IT" dirty="0"/>
              <a:t>La firma del metodo prevede che il tipo di ritorno sia esattamente identico al tipo di dato dell'attributo associato e che il metodo sia dichiarato come public. </a:t>
            </a:r>
          </a:p>
          <a:p>
            <a:r>
              <a:rPr lang="it-IT" dirty="0"/>
              <a:t>Esiste un'eccezione importante per i campi di tipo booleano: se l'attributo privato è </a:t>
            </a:r>
            <a:r>
              <a:rPr lang="it-IT" dirty="0" err="1"/>
              <a:t>boolean</a:t>
            </a:r>
            <a:r>
              <a:rPr lang="it-IT" dirty="0"/>
              <a:t> attivo, la convenzione Java non usa il prefisso </a:t>
            </a:r>
            <a:r>
              <a:rPr lang="it-IT" dirty="0" err="1"/>
              <a:t>get</a:t>
            </a:r>
            <a:r>
              <a:rPr lang="it-IT" dirty="0"/>
              <a:t>, bensì </a:t>
            </a:r>
            <a:r>
              <a:rPr lang="it-IT" b="1" dirty="0">
                <a:solidFill>
                  <a:srgbClr val="171FE2"/>
                </a:solidFill>
              </a:rPr>
              <a:t>il prefisso </a:t>
            </a:r>
            <a:r>
              <a:rPr lang="it-IT" b="1" dirty="0" err="1">
                <a:solidFill>
                  <a:srgbClr val="171FE2"/>
                </a:solidFill>
              </a:rPr>
              <a:t>is</a:t>
            </a:r>
            <a:r>
              <a:rPr lang="it-IT" b="1" dirty="0">
                <a:solidFill>
                  <a:srgbClr val="171FE2"/>
                </a:solidFill>
              </a:rPr>
              <a:t> </a:t>
            </a:r>
            <a:r>
              <a:rPr lang="it-IT" dirty="0"/>
              <a:t>(es. </a:t>
            </a:r>
            <a:r>
              <a:rPr lang="it-IT" dirty="0" err="1">
                <a:solidFill>
                  <a:srgbClr val="171FE2"/>
                </a:solidFill>
                <a:latin typeface="Consolas" panose="020B0609020204030204" pitchFamily="49" charset="0"/>
              </a:rPr>
              <a:t>isAttivo</a:t>
            </a:r>
            <a:r>
              <a:rPr lang="it-IT" dirty="0">
                <a:solidFill>
                  <a:srgbClr val="171FE2"/>
                </a:solidFill>
                <a:latin typeface="Consolas" panose="020B0609020204030204" pitchFamily="49" charset="0"/>
              </a:rPr>
              <a:t>()</a:t>
            </a:r>
            <a:r>
              <a:rPr lang="it-IT" dirty="0"/>
              <a:t>), rendendo l'invocazione del metodo simile a una domanda logica parlata. I getter non accettano mai parametri in ingresso.</a:t>
            </a:r>
          </a:p>
        </p:txBody>
      </p:sp>
    </p:spTree>
    <p:extLst>
      <p:ext uri="{BB962C8B-B14F-4D97-AF65-F5344CB8AC3E}">
        <p14:creationId xmlns:p14="http://schemas.microsoft.com/office/powerpoint/2010/main" val="763171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6EBA-31A5-1D9D-0076-E0AF2E5373F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60E60C3-AD98-B234-A3B1-FCDED46E4BD8}"/>
              </a:ext>
            </a:extLst>
          </p:cNvPr>
          <p:cNvSpPr>
            <a:spLocks noGrp="1"/>
          </p:cNvSpPr>
          <p:nvPr>
            <p:ph type="title"/>
          </p:nvPr>
        </p:nvSpPr>
        <p:spPr>
          <a:xfrm>
            <a:off x="838200" y="831206"/>
            <a:ext cx="10515600" cy="314198"/>
          </a:xfrm>
        </p:spPr>
        <p:txBody>
          <a:bodyPr/>
          <a:lstStyle/>
          <a:p>
            <a:r>
              <a:rPr lang="it-IT" dirty="0"/>
              <a:t>SLIDE 20: Convenzioni Standard per i Metodi Setter</a:t>
            </a:r>
          </a:p>
        </p:txBody>
      </p:sp>
      <p:sp>
        <p:nvSpPr>
          <p:cNvPr id="3" name="Contenuto della lezione">
            <a:extLst>
              <a:ext uri="{FF2B5EF4-FFF2-40B4-BE49-F238E27FC236}">
                <a16:creationId xmlns:a16="http://schemas.microsoft.com/office/drawing/2014/main" id="{933AACA6-4ACD-232A-0A2D-48D26EE5099F}"/>
              </a:ext>
            </a:extLst>
          </p:cNvPr>
          <p:cNvSpPr>
            <a:spLocks noGrp="1"/>
          </p:cNvSpPr>
          <p:nvPr>
            <p:ph idx="1"/>
          </p:nvPr>
        </p:nvSpPr>
        <p:spPr>
          <a:xfrm>
            <a:off x="1317319" y="1800042"/>
            <a:ext cx="9557362" cy="4803369"/>
          </a:xfrm>
        </p:spPr>
        <p:txBody>
          <a:bodyPr/>
          <a:lstStyle/>
          <a:p>
            <a:r>
              <a:rPr lang="it-IT" dirty="0"/>
              <a:t>I metodi Setter (chiamati anche modificatori di scrittura) hanno il compito di ricevere un valore dall'esterno e utilizzarlo per aggiornare lo stato dell'attributo privato associato, previa validazione. </a:t>
            </a:r>
          </a:p>
          <a:p>
            <a:r>
              <a:rPr lang="it-IT" dirty="0"/>
              <a:t>La convenzione </a:t>
            </a:r>
            <a:r>
              <a:rPr lang="it-IT" dirty="0" err="1"/>
              <a:t>JavaBean</a:t>
            </a:r>
            <a:r>
              <a:rPr lang="it-IT" dirty="0"/>
              <a:t> richiede che il nome del metodo inizi con il prefisso set seguito dal nome dell'attributo in </a:t>
            </a:r>
            <a:r>
              <a:rPr lang="it-IT" dirty="0" err="1"/>
              <a:t>PascalCase</a:t>
            </a:r>
            <a:r>
              <a:rPr lang="it-IT" dirty="0"/>
              <a:t> (es. </a:t>
            </a:r>
            <a:r>
              <a:rPr lang="it-IT" dirty="0" err="1">
                <a:solidFill>
                  <a:srgbClr val="171FE2"/>
                </a:solidFill>
                <a:latin typeface="Consolas" panose="020B0609020204030204" pitchFamily="49" charset="0"/>
              </a:rPr>
              <a:t>setSaldo</a:t>
            </a:r>
            <a:r>
              <a:rPr lang="it-IT" dirty="0">
                <a:solidFill>
                  <a:srgbClr val="171FE2"/>
                </a:solidFill>
                <a:latin typeface="Consolas" panose="020B0609020204030204" pitchFamily="49" charset="0"/>
              </a:rPr>
              <a:t>()</a:t>
            </a:r>
            <a:r>
              <a:rPr lang="it-IT" dirty="0"/>
              <a:t>). </a:t>
            </a:r>
          </a:p>
          <a:p>
            <a:r>
              <a:rPr lang="it-IT" dirty="0"/>
              <a:t>Dal punto di vista strutturale, i metodi setter restituiscono quasi sempre </a:t>
            </a:r>
            <a:r>
              <a:rPr lang="it-IT" dirty="0" err="1"/>
              <a:t>void</a:t>
            </a:r>
            <a:r>
              <a:rPr lang="it-IT" dirty="0"/>
              <a:t> (nessun valore di ritorno) e accettano un singolo parametro in ingresso dello stesso identico tipo del campo che devono modificare. </a:t>
            </a:r>
          </a:p>
          <a:p>
            <a:r>
              <a:rPr lang="it-IT" dirty="0"/>
              <a:t>All'interno del corpo del setter, si utilizza tipicamente il riferimento </a:t>
            </a:r>
            <a:r>
              <a:rPr lang="it-IT" dirty="0" err="1"/>
              <a:t>this</a:t>
            </a:r>
            <a:r>
              <a:rPr lang="it-IT" dirty="0"/>
              <a:t> per distinguere l'attributo di istanza dal parametro locale omonimo, scrivendo ad esempio </a:t>
            </a:r>
            <a:r>
              <a:rPr lang="it-IT" dirty="0" err="1">
                <a:solidFill>
                  <a:srgbClr val="171FE2"/>
                </a:solidFill>
                <a:latin typeface="Consolas" panose="020B0609020204030204" pitchFamily="49" charset="0"/>
              </a:rPr>
              <a:t>this.saldo</a:t>
            </a:r>
            <a:r>
              <a:rPr lang="it-IT" dirty="0">
                <a:solidFill>
                  <a:srgbClr val="171FE2"/>
                </a:solidFill>
                <a:latin typeface="Consolas" panose="020B0609020204030204" pitchFamily="49" charset="0"/>
              </a:rPr>
              <a:t> = saldo;</a:t>
            </a:r>
            <a:r>
              <a:rPr lang="it-IT" dirty="0"/>
              <a:t>. </a:t>
            </a:r>
          </a:p>
          <a:p>
            <a:r>
              <a:rPr lang="it-IT" dirty="0"/>
              <a:t>La presenza dei setter garantisce che l'oggetto mantenga l'esclusivo controllo di scrittura sul proprio stato in memoria.</a:t>
            </a:r>
          </a:p>
        </p:txBody>
      </p:sp>
    </p:spTree>
    <p:extLst>
      <p:ext uri="{BB962C8B-B14F-4D97-AF65-F5344CB8AC3E}">
        <p14:creationId xmlns:p14="http://schemas.microsoft.com/office/powerpoint/2010/main" val="2810497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1002-0A2C-2AB6-BB93-C20679B2021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DA60A72-CEC6-9E92-8B21-325367659A7E}"/>
              </a:ext>
            </a:extLst>
          </p:cNvPr>
          <p:cNvSpPr>
            <a:spLocks noGrp="1"/>
          </p:cNvSpPr>
          <p:nvPr>
            <p:ph type="title"/>
          </p:nvPr>
        </p:nvSpPr>
        <p:spPr>
          <a:xfrm>
            <a:off x="838200" y="831206"/>
            <a:ext cx="10515600" cy="314198"/>
          </a:xfrm>
        </p:spPr>
        <p:txBody>
          <a:bodyPr/>
          <a:lstStyle/>
          <a:p>
            <a:r>
              <a:rPr lang="it-IT" dirty="0"/>
              <a:t>SLIDE 21: Esercizio Guidato – Validazione dei Dati nei Setter</a:t>
            </a:r>
          </a:p>
        </p:txBody>
      </p:sp>
      <p:sp>
        <p:nvSpPr>
          <p:cNvPr id="3" name="Contenuto della lezione">
            <a:extLst>
              <a:ext uri="{FF2B5EF4-FFF2-40B4-BE49-F238E27FC236}">
                <a16:creationId xmlns:a16="http://schemas.microsoft.com/office/drawing/2014/main" id="{C705EA08-3009-59B1-12F1-D7E702E2541A}"/>
              </a:ext>
            </a:extLst>
          </p:cNvPr>
          <p:cNvSpPr>
            <a:spLocks noGrp="1"/>
          </p:cNvSpPr>
          <p:nvPr>
            <p:ph idx="1"/>
          </p:nvPr>
        </p:nvSpPr>
        <p:spPr>
          <a:xfrm>
            <a:off x="1317319" y="1800042"/>
            <a:ext cx="9557362" cy="4803369"/>
          </a:xfrm>
        </p:spPr>
        <p:txBody>
          <a:bodyPr/>
          <a:lstStyle/>
          <a:p>
            <a:r>
              <a:rPr lang="it-IT" dirty="0"/>
              <a:t>Esercitiamo l'abilità pratica di proteggere lo stato di un oggetto inserendo regole di validazione stringenti nei metodi di accesso. </a:t>
            </a:r>
          </a:p>
          <a:p>
            <a:r>
              <a:rPr lang="it-IT" dirty="0"/>
              <a:t>Riprendiamo la classe </a:t>
            </a:r>
            <a:r>
              <a:rPr lang="it-IT" dirty="0" err="1"/>
              <a:t>ContoCorrente</a:t>
            </a:r>
            <a:r>
              <a:rPr lang="it-IT" dirty="0"/>
              <a:t> ed applichiamo l'incapsulamento rigoroso: modifichiamo i campi impostandoli come private. </a:t>
            </a:r>
          </a:p>
          <a:p>
            <a:r>
              <a:rPr lang="it-IT" dirty="0"/>
              <a:t>Scriviamo il metodo getter public double </a:t>
            </a:r>
            <a:r>
              <a:rPr lang="it-IT" dirty="0" err="1">
                <a:solidFill>
                  <a:srgbClr val="171FE2"/>
                </a:solidFill>
                <a:latin typeface="Consolas" panose="020B0609020204030204" pitchFamily="49" charset="0"/>
              </a:rPr>
              <a:t>getSaldo</a:t>
            </a:r>
            <a:r>
              <a:rPr lang="it-IT" dirty="0">
                <a:solidFill>
                  <a:srgbClr val="171FE2"/>
                </a:solidFill>
                <a:latin typeface="Consolas" panose="020B0609020204030204" pitchFamily="49" charset="0"/>
              </a:rPr>
              <a:t>() </a:t>
            </a:r>
            <a:r>
              <a:rPr lang="it-IT" dirty="0"/>
              <a:t>che restituisce il valore corrente. </a:t>
            </a:r>
          </a:p>
          <a:p>
            <a:r>
              <a:rPr lang="it-IT" dirty="0"/>
              <a:t>Ora scriviamo il metodo setter per il deposito, inserendo un controllo condizionale che verifichi l'input prima di modificare la memoria Heap: </a:t>
            </a:r>
            <a:r>
              <a:rPr lang="it-IT" dirty="0" err="1">
                <a:solidFill>
                  <a:srgbClr val="171FE2"/>
                </a:solidFill>
                <a:latin typeface="Consolas" panose="020B0609020204030204" pitchFamily="49" charset="0"/>
              </a:rPr>
              <a:t>if</a:t>
            </a:r>
            <a:r>
              <a:rPr lang="it-IT" dirty="0">
                <a:solidFill>
                  <a:srgbClr val="171FE2"/>
                </a:solidFill>
                <a:latin typeface="Consolas" panose="020B0609020204030204" pitchFamily="49" charset="0"/>
              </a:rPr>
              <a:t> (importo &gt; 0) { </a:t>
            </a:r>
            <a:r>
              <a:rPr lang="it-IT" dirty="0" err="1">
                <a:solidFill>
                  <a:srgbClr val="171FE2"/>
                </a:solidFill>
                <a:latin typeface="Consolas" panose="020B0609020204030204" pitchFamily="49" charset="0"/>
              </a:rPr>
              <a:t>this.saldo</a:t>
            </a:r>
            <a:r>
              <a:rPr lang="it-IT" dirty="0">
                <a:solidFill>
                  <a:srgbClr val="171FE2"/>
                </a:solidFill>
                <a:latin typeface="Consolas" panose="020B0609020204030204" pitchFamily="49" charset="0"/>
              </a:rPr>
              <a:t> += importo; } else { </a:t>
            </a:r>
            <a:r>
              <a:rPr lang="it-IT" dirty="0" err="1">
                <a:solidFill>
                  <a:srgbClr val="171FE2"/>
                </a:solidFill>
                <a:latin typeface="Consolas" panose="020B0609020204030204" pitchFamily="49" charset="0"/>
              </a:rPr>
              <a:t>System.out.println</a:t>
            </a:r>
            <a:r>
              <a:rPr lang="it-IT" dirty="0">
                <a:solidFill>
                  <a:srgbClr val="171FE2"/>
                </a:solidFill>
                <a:latin typeface="Consolas" panose="020B0609020204030204" pitchFamily="49" charset="0"/>
              </a:rPr>
              <a:t>("Errore: Impossibile depositare una cifra negativa o nulla!"); }</a:t>
            </a:r>
            <a:r>
              <a:rPr lang="it-IT" dirty="0"/>
              <a:t>. </a:t>
            </a:r>
          </a:p>
          <a:p>
            <a:r>
              <a:rPr lang="it-IT" dirty="0"/>
              <a:t>Modificate anche la logica del prelievo, assicurandovi che l'importo richiesto sia positivo e che non superi il saldo attualmente disponibile sul conto, impedendo di andare in "rosso". </a:t>
            </a:r>
          </a:p>
          <a:p>
            <a:r>
              <a:rPr lang="it-IT" dirty="0"/>
              <a:t>L'oggetto diventa così un'entità intelligente capace di rifiutare operazioni errate.</a:t>
            </a:r>
          </a:p>
        </p:txBody>
      </p:sp>
    </p:spTree>
    <p:extLst>
      <p:ext uri="{BB962C8B-B14F-4D97-AF65-F5344CB8AC3E}">
        <p14:creationId xmlns:p14="http://schemas.microsoft.com/office/powerpoint/2010/main" val="3052517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FE27-A400-45F2-A169-5FE6FEA00F1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F94C142-65FB-A817-58CC-82BCEFB53052}"/>
              </a:ext>
            </a:extLst>
          </p:cNvPr>
          <p:cNvSpPr>
            <a:spLocks noGrp="1"/>
          </p:cNvSpPr>
          <p:nvPr>
            <p:ph type="title"/>
          </p:nvPr>
        </p:nvSpPr>
        <p:spPr>
          <a:xfrm>
            <a:off x="838200" y="831206"/>
            <a:ext cx="10515600" cy="314198"/>
          </a:xfrm>
        </p:spPr>
        <p:txBody>
          <a:bodyPr/>
          <a:lstStyle/>
          <a:p>
            <a:r>
              <a:rPr lang="it-IT" dirty="0"/>
              <a:t>SLIDE 22: Mutabilità vs Immutabilità degli Oggetti</a:t>
            </a:r>
          </a:p>
        </p:txBody>
      </p:sp>
      <p:sp>
        <p:nvSpPr>
          <p:cNvPr id="3" name="Contenuto della lezione">
            <a:extLst>
              <a:ext uri="{FF2B5EF4-FFF2-40B4-BE49-F238E27FC236}">
                <a16:creationId xmlns:a16="http://schemas.microsoft.com/office/drawing/2014/main" id="{A8EB5413-0072-147A-63E8-BBB737E17F9D}"/>
              </a:ext>
            </a:extLst>
          </p:cNvPr>
          <p:cNvSpPr>
            <a:spLocks noGrp="1"/>
          </p:cNvSpPr>
          <p:nvPr>
            <p:ph idx="1"/>
          </p:nvPr>
        </p:nvSpPr>
        <p:spPr>
          <a:xfrm>
            <a:off x="1317319" y="1800042"/>
            <a:ext cx="9557362" cy="4803369"/>
          </a:xfrm>
        </p:spPr>
        <p:txBody>
          <a:bodyPr/>
          <a:lstStyle/>
          <a:p>
            <a:r>
              <a:rPr lang="it-IT" dirty="0"/>
              <a:t>L'applicazione sistematica dell'incapsulamento introduce un concetto chiave nello sviluppo professionale: la distinzione tra </a:t>
            </a:r>
            <a:r>
              <a:rPr lang="it-IT" b="1" dirty="0">
                <a:solidFill>
                  <a:srgbClr val="171FE2"/>
                </a:solidFill>
              </a:rPr>
              <a:t>oggetti mutabili </a:t>
            </a:r>
            <a:r>
              <a:rPr lang="it-IT" dirty="0"/>
              <a:t>e </a:t>
            </a:r>
            <a:r>
              <a:rPr lang="it-IT" b="1" dirty="0">
                <a:solidFill>
                  <a:srgbClr val="171FE2"/>
                </a:solidFill>
              </a:rPr>
              <a:t>oggetti immutabili</a:t>
            </a:r>
            <a:r>
              <a:rPr lang="it-IT" dirty="0"/>
              <a:t>. </a:t>
            </a:r>
          </a:p>
          <a:p>
            <a:r>
              <a:rPr lang="it-IT" dirty="0">
                <a:solidFill>
                  <a:srgbClr val="171FE2"/>
                </a:solidFill>
              </a:rPr>
              <a:t>Un oggetto </a:t>
            </a:r>
            <a:r>
              <a:rPr lang="it-IT" dirty="0"/>
              <a:t>si definisce </a:t>
            </a:r>
            <a:r>
              <a:rPr lang="it-IT" dirty="0">
                <a:solidFill>
                  <a:srgbClr val="171FE2"/>
                </a:solidFill>
              </a:rPr>
              <a:t>mutabile</a:t>
            </a:r>
            <a:r>
              <a:rPr lang="it-IT" dirty="0"/>
              <a:t> se il suo stato può cambiare nel tempo dopo la sua creazione (</a:t>
            </a:r>
            <a:r>
              <a:rPr lang="it-IT" dirty="0">
                <a:solidFill>
                  <a:srgbClr val="171FE2"/>
                </a:solidFill>
              </a:rPr>
              <a:t>es. la classe </a:t>
            </a:r>
            <a:r>
              <a:rPr lang="it-IT" dirty="0" err="1">
                <a:solidFill>
                  <a:srgbClr val="171FE2"/>
                </a:solidFill>
              </a:rPr>
              <a:t>ContoCorrente</a:t>
            </a:r>
            <a:r>
              <a:rPr lang="it-IT" dirty="0">
                <a:solidFill>
                  <a:srgbClr val="171FE2"/>
                </a:solidFill>
              </a:rPr>
              <a:t> è mutabile perché il saldo varia tramite i setter</a:t>
            </a:r>
            <a:r>
              <a:rPr lang="it-IT" dirty="0"/>
              <a:t>).</a:t>
            </a:r>
          </a:p>
          <a:p>
            <a:r>
              <a:rPr lang="it-IT" dirty="0">
                <a:solidFill>
                  <a:srgbClr val="171FE2"/>
                </a:solidFill>
              </a:rPr>
              <a:t>Un oggetto </a:t>
            </a:r>
            <a:r>
              <a:rPr lang="it-IT" dirty="0"/>
              <a:t>si definisce invece </a:t>
            </a:r>
            <a:r>
              <a:rPr lang="it-IT" dirty="0">
                <a:solidFill>
                  <a:srgbClr val="171FE2"/>
                </a:solidFill>
              </a:rPr>
              <a:t>immutabile</a:t>
            </a:r>
            <a:r>
              <a:rPr lang="it-IT" dirty="0"/>
              <a:t> se il suo stato non può mai essere modificato in alcun modo una volta completata l'esecuzione del costruttore. </a:t>
            </a:r>
          </a:p>
          <a:p>
            <a:r>
              <a:rPr lang="it-IT" dirty="0"/>
              <a:t>Per creare una classe immutabile, basta non fornire alcun metodo Setter e dichiarare i campi privati come </a:t>
            </a:r>
            <a:r>
              <a:rPr lang="it-IT" b="1" dirty="0" err="1">
                <a:solidFill>
                  <a:srgbClr val="171FE2"/>
                </a:solidFill>
              </a:rPr>
              <a:t>final</a:t>
            </a:r>
            <a:r>
              <a:rPr lang="it-IT" dirty="0"/>
              <a:t>. </a:t>
            </a:r>
          </a:p>
          <a:p>
            <a:r>
              <a:rPr lang="it-IT" dirty="0"/>
              <a:t>La parola chiave </a:t>
            </a:r>
            <a:r>
              <a:rPr lang="it-IT" dirty="0" err="1"/>
              <a:t>final</a:t>
            </a:r>
            <a:r>
              <a:rPr lang="it-IT" dirty="0"/>
              <a:t> impedisce qualsiasi riassegnazione successiva del valore. </a:t>
            </a:r>
          </a:p>
          <a:p>
            <a:r>
              <a:rPr lang="it-IT" dirty="0"/>
              <a:t>Un esempio celebre in Java è la classe </a:t>
            </a:r>
            <a:r>
              <a:rPr lang="it-IT" dirty="0" err="1"/>
              <a:t>String</a:t>
            </a:r>
            <a:r>
              <a:rPr lang="it-IT" dirty="0"/>
              <a:t>: ogni operazione sulle stringhe non modifica l'oggetto originale, ma ne crea uno nuovo nello Heap. </a:t>
            </a:r>
          </a:p>
          <a:p>
            <a:r>
              <a:rPr lang="it-IT" dirty="0"/>
              <a:t>L'immutabilità rende il codice estremamente sicuro nei sistemi complessi.</a:t>
            </a:r>
          </a:p>
        </p:txBody>
      </p:sp>
    </p:spTree>
    <p:extLst>
      <p:ext uri="{BB962C8B-B14F-4D97-AF65-F5344CB8AC3E}">
        <p14:creationId xmlns:p14="http://schemas.microsoft.com/office/powerpoint/2010/main" val="1807023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435D0-3681-20AB-8896-0C98C937A70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7253A04-247A-A84D-6512-B26DDDA0294B}"/>
              </a:ext>
            </a:extLst>
          </p:cNvPr>
          <p:cNvSpPr>
            <a:spLocks noGrp="1"/>
          </p:cNvSpPr>
          <p:nvPr>
            <p:ph type="title"/>
          </p:nvPr>
        </p:nvSpPr>
        <p:spPr>
          <a:xfrm>
            <a:off x="838200" y="831206"/>
            <a:ext cx="10515600" cy="314198"/>
          </a:xfrm>
        </p:spPr>
        <p:txBody>
          <a:bodyPr/>
          <a:lstStyle/>
          <a:p>
            <a:r>
              <a:rPr lang="it-IT" dirty="0"/>
              <a:t>SLIDE 23: Oggetti come Parametri dei Metodi: Passaggio per Riferimento</a:t>
            </a:r>
          </a:p>
        </p:txBody>
      </p:sp>
      <p:sp>
        <p:nvSpPr>
          <p:cNvPr id="3" name="Contenuto della lezione">
            <a:extLst>
              <a:ext uri="{FF2B5EF4-FFF2-40B4-BE49-F238E27FC236}">
                <a16:creationId xmlns:a16="http://schemas.microsoft.com/office/drawing/2014/main" id="{3AC91F0B-F414-4753-756D-AEBC7B13BD4B}"/>
              </a:ext>
            </a:extLst>
          </p:cNvPr>
          <p:cNvSpPr>
            <a:spLocks noGrp="1"/>
          </p:cNvSpPr>
          <p:nvPr>
            <p:ph idx="1"/>
          </p:nvPr>
        </p:nvSpPr>
        <p:spPr>
          <a:xfrm>
            <a:off x="1317319" y="1800042"/>
            <a:ext cx="9557362" cy="4803369"/>
          </a:xfrm>
        </p:spPr>
        <p:txBody>
          <a:bodyPr/>
          <a:lstStyle/>
          <a:p>
            <a:r>
              <a:rPr lang="it-IT" dirty="0"/>
              <a:t>Java utilizza rigorosamente il "passaggio per valore" per tutti i tipi di dati. </a:t>
            </a:r>
          </a:p>
          <a:p>
            <a:r>
              <a:rPr lang="it-IT" dirty="0"/>
              <a:t>Tuttavia, quando passiamo un oggetto come parametro a un metodo, il valore trasmesso non è l'oggetto fisico (che risiede stabilmente nello Heap), bensì il valore del suo riferimento (il puntatore memorizzato nello </a:t>
            </a:r>
            <a:r>
              <a:rPr lang="it-IT" dirty="0" err="1"/>
              <a:t>Stack</a:t>
            </a:r>
            <a:r>
              <a:rPr lang="it-IT" dirty="0"/>
              <a:t>).</a:t>
            </a:r>
          </a:p>
          <a:p>
            <a:r>
              <a:rPr lang="it-IT" dirty="0"/>
              <a:t>Questo significa che il metodo riceve una copia del puntatore, ma entrambe le variabili puntano allo stesso identico oggetto nello Heap.</a:t>
            </a:r>
          </a:p>
          <a:p>
            <a:r>
              <a:rPr lang="it-IT" dirty="0"/>
              <a:t>Di conseguenza, se all'interno del metodo invochiamo un setter sull'oggetto ricevuto come parametro, le modifiche altereranno lo stato dell'oggetto originale in modo permanente e visibile anche al termine del metodo. </a:t>
            </a:r>
          </a:p>
          <a:p>
            <a:r>
              <a:rPr lang="it-IT" dirty="0"/>
              <a:t>Questo comportamento differisce radicalmente dal passaggio di variabili primitive come gli </a:t>
            </a:r>
            <a:r>
              <a:rPr lang="it-IT" dirty="0" err="1"/>
              <a:t>int</a:t>
            </a:r>
            <a:r>
              <a:rPr lang="it-IT" dirty="0"/>
              <a:t>.</a:t>
            </a:r>
          </a:p>
        </p:txBody>
      </p:sp>
    </p:spTree>
    <p:extLst>
      <p:ext uri="{BB962C8B-B14F-4D97-AF65-F5344CB8AC3E}">
        <p14:creationId xmlns:p14="http://schemas.microsoft.com/office/powerpoint/2010/main" val="1162242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8B635-AF2D-C0F3-1BDE-8FB1A298F1E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F96273D-603B-3434-EB71-EC5703392100}"/>
              </a:ext>
            </a:extLst>
          </p:cNvPr>
          <p:cNvSpPr>
            <a:spLocks noGrp="1"/>
          </p:cNvSpPr>
          <p:nvPr>
            <p:ph type="title"/>
          </p:nvPr>
        </p:nvSpPr>
        <p:spPr>
          <a:xfrm>
            <a:off x="838200" y="831206"/>
            <a:ext cx="10515600" cy="314198"/>
          </a:xfrm>
        </p:spPr>
        <p:txBody>
          <a:bodyPr/>
          <a:lstStyle/>
          <a:p>
            <a:r>
              <a:rPr lang="it-IT" dirty="0"/>
              <a:t>SLIDE 24: Esercizio: Trasferimento Fondi tra due Conti Correnti</a:t>
            </a:r>
          </a:p>
        </p:txBody>
      </p:sp>
      <p:sp>
        <p:nvSpPr>
          <p:cNvPr id="3" name="Contenuto della lezione">
            <a:extLst>
              <a:ext uri="{FF2B5EF4-FFF2-40B4-BE49-F238E27FC236}">
                <a16:creationId xmlns:a16="http://schemas.microsoft.com/office/drawing/2014/main" id="{BA82C002-251A-083E-C40F-9EE8B31F6B19}"/>
              </a:ext>
            </a:extLst>
          </p:cNvPr>
          <p:cNvSpPr>
            <a:spLocks noGrp="1"/>
          </p:cNvSpPr>
          <p:nvPr>
            <p:ph idx="1"/>
          </p:nvPr>
        </p:nvSpPr>
        <p:spPr>
          <a:xfrm>
            <a:off x="1317319" y="1800042"/>
            <a:ext cx="9557362" cy="4803369"/>
          </a:xfrm>
        </p:spPr>
        <p:txBody>
          <a:bodyPr/>
          <a:lstStyle/>
          <a:p>
            <a:r>
              <a:rPr lang="it-IT" dirty="0"/>
              <a:t>Sviluppiamo l'abilità di far interagire più oggetti passandoli come parametri. </a:t>
            </a:r>
          </a:p>
          <a:p>
            <a:r>
              <a:rPr lang="it-IT" dirty="0"/>
              <a:t>Aggiungiamo alla nostra classe </a:t>
            </a:r>
            <a:r>
              <a:rPr lang="it-IT" dirty="0" err="1"/>
              <a:t>ContoCorrente</a:t>
            </a:r>
            <a:r>
              <a:rPr lang="it-IT" dirty="0"/>
              <a:t> un metodo pubblico chiamato </a:t>
            </a:r>
            <a:r>
              <a:rPr lang="it-IT" dirty="0" err="1"/>
              <a:t>transferTo</a:t>
            </a:r>
            <a:r>
              <a:rPr lang="it-IT" dirty="0"/>
              <a:t>.</a:t>
            </a:r>
          </a:p>
          <a:p>
            <a:r>
              <a:rPr lang="it-IT" dirty="0"/>
              <a:t> Questo metodo deve consentire di spostare denaro dal conto corrente </a:t>
            </a:r>
            <a:r>
              <a:rPr lang="it-IT" dirty="0" err="1"/>
              <a:t>corrente</a:t>
            </a:r>
            <a:r>
              <a:rPr lang="it-IT" dirty="0"/>
              <a:t> (l'oggetto che esegue il metodo) a un altro conto corrente d'origine. </a:t>
            </a:r>
          </a:p>
          <a:p>
            <a:r>
              <a:rPr lang="it-IT" dirty="0"/>
              <a:t>La firma sarà: public </a:t>
            </a:r>
            <a:r>
              <a:rPr lang="it-IT" dirty="0" err="1"/>
              <a:t>void</a:t>
            </a:r>
            <a:r>
              <a:rPr lang="it-IT" dirty="0"/>
              <a:t> </a:t>
            </a:r>
            <a:r>
              <a:rPr lang="it-IT" dirty="0" err="1"/>
              <a:t>transferTo</a:t>
            </a:r>
            <a:r>
              <a:rPr lang="it-IT" dirty="0"/>
              <a:t>(</a:t>
            </a:r>
            <a:r>
              <a:rPr lang="it-IT" dirty="0" err="1"/>
              <a:t>ContoCorrente</a:t>
            </a:r>
            <a:r>
              <a:rPr lang="it-IT" dirty="0"/>
              <a:t> destinazione, double importo). </a:t>
            </a:r>
          </a:p>
          <a:p>
            <a:r>
              <a:rPr lang="it-IT" dirty="0"/>
              <a:t>Al suo interno, la logica deve integrare i controlli precedentemente scritti: prima verifichiamo se il conto corrente </a:t>
            </a:r>
            <a:r>
              <a:rPr lang="it-IT" dirty="0" err="1"/>
              <a:t>corrente</a:t>
            </a:r>
            <a:r>
              <a:rPr lang="it-IT" dirty="0"/>
              <a:t> ha abbastanza denaro per coprire l'importo; in caso positivo, decrementiamo il saldo del conto corrente attuale e, contemporaneamente, invochiamo il metodo </a:t>
            </a:r>
            <a:r>
              <a:rPr lang="it-IT" dirty="0" err="1"/>
              <a:t>destinazione.deposita</a:t>
            </a:r>
            <a:r>
              <a:rPr lang="it-IT" dirty="0"/>
              <a:t>(importo); sull'oggetto ricevuto come parametro. </a:t>
            </a:r>
          </a:p>
          <a:p>
            <a:r>
              <a:rPr lang="it-IT" dirty="0"/>
              <a:t>Provate questo metodo nel </a:t>
            </a:r>
            <a:r>
              <a:rPr lang="it-IT" dirty="0" err="1"/>
              <a:t>main</a:t>
            </a:r>
            <a:r>
              <a:rPr lang="it-IT" dirty="0"/>
              <a:t> verificando come lo stato di due entità distinte nello Heap muti in modo sincronizzato attraverso una sola riga di codice.</a:t>
            </a:r>
          </a:p>
        </p:txBody>
      </p:sp>
    </p:spTree>
    <p:extLst>
      <p:ext uri="{BB962C8B-B14F-4D97-AF65-F5344CB8AC3E}">
        <p14:creationId xmlns:p14="http://schemas.microsoft.com/office/powerpoint/2010/main" val="1161907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3911-75C0-2616-389D-70331F6BADE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F23F304-E2B7-F328-D556-5EF1FB7C05F4}"/>
              </a:ext>
            </a:extLst>
          </p:cNvPr>
          <p:cNvSpPr>
            <a:spLocks noGrp="1"/>
          </p:cNvSpPr>
          <p:nvPr>
            <p:ph type="title"/>
          </p:nvPr>
        </p:nvSpPr>
        <p:spPr>
          <a:xfrm>
            <a:off x="838200" y="831206"/>
            <a:ext cx="10515600" cy="314198"/>
          </a:xfrm>
        </p:spPr>
        <p:txBody>
          <a:bodyPr/>
          <a:lstStyle/>
          <a:p>
            <a:r>
              <a:rPr lang="it-IT" dirty="0"/>
              <a:t>SEZIONE 4: ELEMENTI STATICI E PROGETTAZIONE DI CLASSI (Slide 25 - 33)</a:t>
            </a:r>
            <a:br>
              <a:rPr lang="it-IT" dirty="0"/>
            </a:br>
            <a:r>
              <a:rPr lang="it-IT" dirty="0"/>
              <a:t>SLIDE 25: Unità Didattica 3 – I Membri Statici: la Parola Chiave '</a:t>
            </a:r>
            <a:r>
              <a:rPr lang="it-IT" dirty="0" err="1"/>
              <a:t>static</a:t>
            </a:r>
            <a:r>
              <a:rPr lang="it-IT" dirty="0"/>
              <a:t>'</a:t>
            </a:r>
          </a:p>
        </p:txBody>
      </p:sp>
      <p:sp>
        <p:nvSpPr>
          <p:cNvPr id="3" name="Contenuto della lezione">
            <a:extLst>
              <a:ext uri="{FF2B5EF4-FFF2-40B4-BE49-F238E27FC236}">
                <a16:creationId xmlns:a16="http://schemas.microsoft.com/office/drawing/2014/main" id="{C871CD94-AFFC-9163-1E42-DC01821A00AE}"/>
              </a:ext>
            </a:extLst>
          </p:cNvPr>
          <p:cNvSpPr>
            <a:spLocks noGrp="1"/>
          </p:cNvSpPr>
          <p:nvPr>
            <p:ph idx="1"/>
          </p:nvPr>
        </p:nvSpPr>
        <p:spPr>
          <a:xfrm>
            <a:off x="1317319" y="2054631"/>
            <a:ext cx="9557362" cy="4803369"/>
          </a:xfrm>
        </p:spPr>
        <p:txBody>
          <a:bodyPr/>
          <a:lstStyle/>
          <a:p>
            <a:r>
              <a:rPr lang="it-IT" dirty="0"/>
              <a:t>Fino ad ora abbiamo analizzato attributi e metodi di istanza, ovvero elementi che appartengono al singolo oggetto e vengono duplicati nello Heap per ogni nuova istanza creata con new. </a:t>
            </a:r>
          </a:p>
          <a:p>
            <a:r>
              <a:rPr lang="it-IT" dirty="0"/>
              <a:t>Java introduce però la parola chiave </a:t>
            </a:r>
            <a:r>
              <a:rPr lang="it-IT" dirty="0" err="1"/>
              <a:t>static</a:t>
            </a:r>
            <a:r>
              <a:rPr lang="it-IT" dirty="0"/>
              <a:t> per definire i membri (variabili e metodi) di classe. </a:t>
            </a:r>
          </a:p>
          <a:p>
            <a:r>
              <a:rPr lang="it-IT" dirty="0">
                <a:solidFill>
                  <a:srgbClr val="171FE2"/>
                </a:solidFill>
              </a:rPr>
              <a:t>Un membro statico non appartiene a un singolo oggetto</a:t>
            </a:r>
            <a:r>
              <a:rPr lang="it-IT" dirty="0"/>
              <a:t>, ma appartiene alla classe stessa nel suo complesso. </a:t>
            </a:r>
          </a:p>
          <a:p>
            <a:r>
              <a:rPr lang="it-IT" dirty="0"/>
              <a:t>Esiste una sola copia di una variabile statica per tutta l'applicazione, memorizzata in un'area speciale della memoria chiamata </a:t>
            </a:r>
            <a:r>
              <a:rPr lang="it-IT" dirty="0" err="1"/>
              <a:t>Metaspace</a:t>
            </a:r>
            <a:r>
              <a:rPr lang="it-IT" dirty="0"/>
              <a:t> (o Method Area). </a:t>
            </a:r>
          </a:p>
          <a:p>
            <a:r>
              <a:rPr lang="it-IT" dirty="0"/>
              <a:t>Tutti gli oggetti di quella classe condividono la stessa identica variabile statica: se un oggetto ne modifica il valore, la modifica si riflette immediatamente su tutte le altre istanze.</a:t>
            </a:r>
          </a:p>
          <a:p>
            <a:r>
              <a:rPr lang="it-IT" dirty="0">
                <a:solidFill>
                  <a:srgbClr val="171FE2"/>
                </a:solidFill>
              </a:rPr>
              <a:t>I membri statici possono essere invocati direttamente utilizzando il nome della classe, senza bisogno di creare alcun oggetto (es. </a:t>
            </a:r>
            <a:r>
              <a:rPr lang="it-IT" dirty="0" err="1">
                <a:solidFill>
                  <a:srgbClr val="171FE2"/>
                </a:solidFill>
              </a:rPr>
              <a:t>Math.sqrt</a:t>
            </a:r>
            <a:r>
              <a:rPr lang="it-IT" dirty="0">
                <a:solidFill>
                  <a:srgbClr val="171FE2"/>
                </a:solidFill>
              </a:rPr>
              <a:t>() o </a:t>
            </a:r>
            <a:r>
              <a:rPr lang="it-IT" dirty="0" err="1">
                <a:solidFill>
                  <a:srgbClr val="171FE2"/>
                </a:solidFill>
              </a:rPr>
              <a:t>System.out</a:t>
            </a:r>
            <a:r>
              <a:rPr lang="it-IT" dirty="0">
                <a:solidFill>
                  <a:srgbClr val="171FE2"/>
                </a:solidFill>
              </a:rPr>
              <a:t>)</a:t>
            </a:r>
            <a:r>
              <a:rPr lang="it-IT" dirty="0"/>
              <a:t>.</a:t>
            </a:r>
          </a:p>
        </p:txBody>
      </p:sp>
    </p:spTree>
    <p:extLst>
      <p:ext uri="{BB962C8B-B14F-4D97-AF65-F5344CB8AC3E}">
        <p14:creationId xmlns:p14="http://schemas.microsoft.com/office/powerpoint/2010/main" val="1458129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B7138-8D6D-E3C5-680E-8035276E1E7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6908B16-DE49-9042-30C8-7C2DF5AA913C}"/>
              </a:ext>
            </a:extLst>
          </p:cNvPr>
          <p:cNvSpPr>
            <a:spLocks noGrp="1"/>
          </p:cNvSpPr>
          <p:nvPr>
            <p:ph type="title"/>
          </p:nvPr>
        </p:nvSpPr>
        <p:spPr>
          <a:xfrm>
            <a:off x="838200" y="831206"/>
            <a:ext cx="10515600" cy="314198"/>
          </a:xfrm>
        </p:spPr>
        <p:txBody>
          <a:bodyPr/>
          <a:lstStyle/>
          <a:p>
            <a:r>
              <a:rPr lang="it-IT" dirty="0"/>
              <a:t>SLIDE 26: Variabili Statiche come Contatori di Istanze</a:t>
            </a:r>
          </a:p>
        </p:txBody>
      </p:sp>
      <p:sp>
        <p:nvSpPr>
          <p:cNvPr id="3" name="Contenuto della lezione">
            <a:extLst>
              <a:ext uri="{FF2B5EF4-FFF2-40B4-BE49-F238E27FC236}">
                <a16:creationId xmlns:a16="http://schemas.microsoft.com/office/drawing/2014/main" id="{7C1019A9-7D6A-472C-DB3C-680DE6E20BA1}"/>
              </a:ext>
            </a:extLst>
          </p:cNvPr>
          <p:cNvSpPr>
            <a:spLocks noGrp="1"/>
          </p:cNvSpPr>
          <p:nvPr>
            <p:ph idx="1"/>
          </p:nvPr>
        </p:nvSpPr>
        <p:spPr>
          <a:xfrm>
            <a:off x="1317319" y="1451127"/>
            <a:ext cx="9557362" cy="4803369"/>
          </a:xfrm>
        </p:spPr>
        <p:txBody>
          <a:bodyPr/>
          <a:lstStyle/>
          <a:p>
            <a:r>
              <a:rPr lang="it-IT" dirty="0"/>
              <a:t>L'uso più classico e didattico delle variabili statiche è l'implementazione di un contatore globale di oggetti. </a:t>
            </a:r>
          </a:p>
          <a:p>
            <a:r>
              <a:rPr lang="it-IT" dirty="0"/>
              <a:t>Immaginiamo di aggiungere alla classe </a:t>
            </a:r>
            <a:r>
              <a:rPr lang="it-IT" dirty="0" err="1"/>
              <a:t>ContoCorrente</a:t>
            </a:r>
            <a:r>
              <a:rPr lang="it-IT" dirty="0"/>
              <a:t> un campo privato statico chiamato </a:t>
            </a:r>
            <a:r>
              <a:rPr lang="it-IT" dirty="0" err="1"/>
              <a:t>contatoreConti</a:t>
            </a:r>
            <a:r>
              <a:rPr lang="it-IT" dirty="0"/>
              <a:t> inizializzato a zero: </a:t>
            </a:r>
            <a:r>
              <a:rPr lang="it-IT" dirty="0">
                <a:solidFill>
                  <a:srgbClr val="171FE2"/>
                </a:solidFill>
                <a:latin typeface="Consolas" panose="020B0609020204030204" pitchFamily="49" charset="0"/>
              </a:rPr>
              <a:t>private </a:t>
            </a:r>
            <a:r>
              <a:rPr lang="it-IT" dirty="0" err="1">
                <a:solidFill>
                  <a:srgbClr val="171FE2"/>
                </a:solidFill>
                <a:latin typeface="Consolas" panose="020B0609020204030204" pitchFamily="49" charset="0"/>
              </a:rPr>
              <a:t>static</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int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contatoreConti</a:t>
            </a:r>
            <a:r>
              <a:rPr lang="it-IT" dirty="0">
                <a:solidFill>
                  <a:srgbClr val="171FE2"/>
                </a:solidFill>
                <a:latin typeface="Consolas" panose="020B0609020204030204" pitchFamily="49" charset="0"/>
              </a:rPr>
              <a:t> = 0;</a:t>
            </a:r>
            <a:r>
              <a:rPr lang="it-IT" dirty="0"/>
              <a:t>.</a:t>
            </a:r>
          </a:p>
          <a:p>
            <a:r>
              <a:rPr lang="it-IT" dirty="0"/>
              <a:t>All'interno del costruttore della classe, inseriamo l'istruzione di incremento: </a:t>
            </a:r>
            <a:r>
              <a:rPr lang="it-IT" dirty="0" err="1">
                <a:solidFill>
                  <a:srgbClr val="171FE2"/>
                </a:solidFill>
                <a:latin typeface="Consolas" panose="020B0609020204030204" pitchFamily="49" charset="0"/>
              </a:rPr>
              <a:t>contatoreConti</a:t>
            </a:r>
            <a:r>
              <a:rPr lang="it-IT" dirty="0">
                <a:solidFill>
                  <a:srgbClr val="171FE2"/>
                </a:solidFill>
                <a:latin typeface="Consolas" panose="020B0609020204030204" pitchFamily="49" charset="0"/>
              </a:rPr>
              <a:t>++;</a:t>
            </a:r>
            <a:r>
              <a:rPr lang="it-IT" dirty="0"/>
              <a:t>. </a:t>
            </a:r>
          </a:p>
          <a:p>
            <a:r>
              <a:rPr lang="it-IT" dirty="0"/>
              <a:t>Ogni volta che nel programma verrà eseguito un new </a:t>
            </a:r>
            <a:r>
              <a:rPr lang="it-IT" dirty="0" err="1"/>
              <a:t>ContoCorrente</a:t>
            </a:r>
            <a:r>
              <a:rPr lang="it-IT" dirty="0"/>
              <a:t>(...), il costruttore incrementerà il valore condiviso. </a:t>
            </a:r>
          </a:p>
          <a:p>
            <a:r>
              <a:rPr lang="it-IT" dirty="0"/>
              <a:t>Creando un metodo statico pubblico </a:t>
            </a:r>
            <a:r>
              <a:rPr lang="it-IT" dirty="0">
                <a:solidFill>
                  <a:srgbClr val="171FE2"/>
                </a:solidFill>
                <a:latin typeface="Consolas" panose="020B0609020204030204" pitchFamily="49" charset="0"/>
              </a:rPr>
              <a:t>public </a:t>
            </a:r>
            <a:r>
              <a:rPr lang="it-IT" dirty="0" err="1">
                <a:solidFill>
                  <a:srgbClr val="171FE2"/>
                </a:solidFill>
                <a:latin typeface="Consolas" panose="020B0609020204030204" pitchFamily="49" charset="0"/>
              </a:rPr>
              <a:t>static</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int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getContatoreConti</a:t>
            </a:r>
            <a:r>
              <a:rPr lang="it-IT" dirty="0">
                <a:solidFill>
                  <a:srgbClr val="171FE2"/>
                </a:solidFill>
                <a:latin typeface="Consolas" panose="020B0609020204030204" pitchFamily="49" charset="0"/>
              </a:rPr>
              <a:t>()</a:t>
            </a:r>
            <a:r>
              <a:rPr lang="it-IT" dirty="0"/>
              <a:t>, potremo interrogare la classe in qualsiasi momento per sapere quanti conti correnti sono stati generati dall'inizio del programma. </a:t>
            </a:r>
          </a:p>
          <a:p>
            <a:r>
              <a:rPr lang="it-IT" dirty="0"/>
              <a:t>Questo dato non appartiene a nessun cliente specifico, ma rappresenta una proprietà dell'intero sistema.</a:t>
            </a:r>
          </a:p>
        </p:txBody>
      </p:sp>
    </p:spTree>
    <p:extLst>
      <p:ext uri="{BB962C8B-B14F-4D97-AF65-F5344CB8AC3E}">
        <p14:creationId xmlns:p14="http://schemas.microsoft.com/office/powerpoint/2010/main" val="2823587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0A36-7A5F-364C-706F-A02A0CA6B25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23F1A73-B6DA-4123-D42B-5933E25AD7EF}"/>
              </a:ext>
            </a:extLst>
          </p:cNvPr>
          <p:cNvSpPr>
            <a:spLocks noGrp="1"/>
          </p:cNvSpPr>
          <p:nvPr>
            <p:ph type="title"/>
          </p:nvPr>
        </p:nvSpPr>
        <p:spPr>
          <a:xfrm>
            <a:off x="838200" y="831206"/>
            <a:ext cx="10515600" cy="314198"/>
          </a:xfrm>
        </p:spPr>
        <p:txBody>
          <a:bodyPr/>
          <a:lstStyle/>
          <a:p>
            <a:r>
              <a:rPr lang="it-IT" dirty="0"/>
              <a:t>SLIDE 27: Limitazioni dei Metodi Statici e il Contesto di Istanza</a:t>
            </a:r>
          </a:p>
        </p:txBody>
      </p:sp>
      <p:sp>
        <p:nvSpPr>
          <p:cNvPr id="3" name="Contenuto della lezione">
            <a:extLst>
              <a:ext uri="{FF2B5EF4-FFF2-40B4-BE49-F238E27FC236}">
                <a16:creationId xmlns:a16="http://schemas.microsoft.com/office/drawing/2014/main" id="{40F1484B-9D84-E4F6-1E5E-4C7D9500EE3A}"/>
              </a:ext>
            </a:extLst>
          </p:cNvPr>
          <p:cNvSpPr>
            <a:spLocks noGrp="1"/>
          </p:cNvSpPr>
          <p:nvPr>
            <p:ph idx="1"/>
          </p:nvPr>
        </p:nvSpPr>
        <p:spPr>
          <a:xfrm>
            <a:off x="1317319" y="1451127"/>
            <a:ext cx="9557362" cy="4803369"/>
          </a:xfrm>
        </p:spPr>
        <p:txBody>
          <a:bodyPr/>
          <a:lstStyle/>
          <a:p>
            <a:r>
              <a:rPr lang="it-IT" dirty="0"/>
              <a:t>L'utilizzo dei metodi statici impone un vincolo strutturale che genera spesso errori di compilazione nei laboratori scolastici. </a:t>
            </a:r>
          </a:p>
          <a:p>
            <a:r>
              <a:rPr lang="it-IT" dirty="0"/>
              <a:t>Un metodo statico, non essendo legato a nessuna istanza specifica, viene eseguito senza che esista un oggetto di riferimento nello Heap. </a:t>
            </a:r>
          </a:p>
          <a:p>
            <a:r>
              <a:rPr lang="it-IT" dirty="0">
                <a:solidFill>
                  <a:srgbClr val="171FE2"/>
                </a:solidFill>
              </a:rPr>
              <a:t>Di conseguenza, dal corpo di un metodo statico è rigorosamente proibito fare riferimento a variabili di istanza non statiche o invocare metodi di istanza non statici della stessa classe. </a:t>
            </a:r>
          </a:p>
          <a:p>
            <a:r>
              <a:rPr lang="it-IT" dirty="0"/>
              <a:t>All'interno di un contesto statico non esiste il riferimento </a:t>
            </a:r>
            <a:r>
              <a:rPr lang="it-IT" dirty="0" err="1"/>
              <a:t>this</a:t>
            </a:r>
            <a:r>
              <a:rPr lang="it-IT" dirty="0"/>
              <a:t>, perché Java non saprebbe a quale specifico oggetto fare riferimento. </a:t>
            </a:r>
          </a:p>
          <a:p>
            <a:r>
              <a:rPr lang="it-IT" dirty="0"/>
              <a:t>Al contrario, un metodo di istanza normale può accedere liberamente e senza alcuna limitazione sia alle variabili di istanza sia a quelle statiche. </a:t>
            </a:r>
          </a:p>
          <a:p>
            <a:r>
              <a:rPr lang="it-IT" dirty="0"/>
              <a:t>Ricordate sempre: il mondo statico non può vedere direttamente il mondo di istanza, se non creando esplicitamente un oggetto al suo interno.</a:t>
            </a:r>
          </a:p>
        </p:txBody>
      </p:sp>
    </p:spTree>
    <p:extLst>
      <p:ext uri="{BB962C8B-B14F-4D97-AF65-F5344CB8AC3E}">
        <p14:creationId xmlns:p14="http://schemas.microsoft.com/office/powerpoint/2010/main" val="3344701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56D57-D5D8-AEC7-1905-0D29FE66936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1AEAB28-EEA1-EAB1-05A9-9AEE6D778BBC}"/>
              </a:ext>
            </a:extLst>
          </p:cNvPr>
          <p:cNvSpPr>
            <a:spLocks noGrp="1"/>
          </p:cNvSpPr>
          <p:nvPr>
            <p:ph type="title"/>
          </p:nvPr>
        </p:nvSpPr>
        <p:spPr>
          <a:xfrm>
            <a:off x="838200" y="831206"/>
            <a:ext cx="10515600" cy="314198"/>
          </a:xfrm>
        </p:spPr>
        <p:txBody>
          <a:bodyPr/>
          <a:lstStyle/>
          <a:p>
            <a:r>
              <a:rPr lang="it-IT" dirty="0"/>
              <a:t>SLIDE 28: Le Costanti in Java: Combinazione di '</a:t>
            </a:r>
            <a:r>
              <a:rPr lang="it-IT" dirty="0" err="1"/>
              <a:t>static</a:t>
            </a:r>
            <a:r>
              <a:rPr lang="it-IT" dirty="0"/>
              <a:t>' e '</a:t>
            </a:r>
            <a:r>
              <a:rPr lang="it-IT" dirty="0" err="1"/>
              <a:t>final</a:t>
            </a:r>
            <a:r>
              <a:rPr lang="it-IT" dirty="0"/>
              <a:t>'</a:t>
            </a:r>
          </a:p>
        </p:txBody>
      </p:sp>
      <p:sp>
        <p:nvSpPr>
          <p:cNvPr id="3" name="Contenuto della lezione">
            <a:extLst>
              <a:ext uri="{FF2B5EF4-FFF2-40B4-BE49-F238E27FC236}">
                <a16:creationId xmlns:a16="http://schemas.microsoft.com/office/drawing/2014/main" id="{FADC4660-FDF9-85DE-DB40-5739ED7F9923}"/>
              </a:ext>
            </a:extLst>
          </p:cNvPr>
          <p:cNvSpPr>
            <a:spLocks noGrp="1"/>
          </p:cNvSpPr>
          <p:nvPr>
            <p:ph idx="1"/>
          </p:nvPr>
        </p:nvSpPr>
        <p:spPr>
          <a:xfrm>
            <a:off x="1317319" y="1451127"/>
            <a:ext cx="9557362" cy="4803369"/>
          </a:xfrm>
        </p:spPr>
        <p:txBody>
          <a:bodyPr/>
          <a:lstStyle/>
          <a:p>
            <a:r>
              <a:rPr lang="it-IT" dirty="0"/>
              <a:t>Spesso nello sviluppo di software aziendale sorge l'esigenza di definire dei valori fissi e immutabili che non devono cambiare durante l'esecuzione (ad esempio il valore del tasso di interesse massimo o l'aliquota IVA). </a:t>
            </a:r>
          </a:p>
          <a:p>
            <a:r>
              <a:rPr lang="it-IT" dirty="0"/>
              <a:t>In Java, le costanti si realizzano combinando insieme i modificatori </a:t>
            </a:r>
            <a:r>
              <a:rPr lang="it-IT" dirty="0">
                <a:solidFill>
                  <a:srgbClr val="171FE2"/>
                </a:solidFill>
                <a:latin typeface="Consolas" panose="020B0609020204030204" pitchFamily="49" charset="0"/>
              </a:rPr>
              <a:t>public </a:t>
            </a:r>
            <a:r>
              <a:rPr lang="it-IT" dirty="0" err="1">
                <a:solidFill>
                  <a:srgbClr val="171FE2"/>
                </a:solidFill>
                <a:latin typeface="Consolas" panose="020B0609020204030204" pitchFamily="49" charset="0"/>
              </a:rPr>
              <a:t>static</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final</a:t>
            </a:r>
            <a:r>
              <a:rPr lang="it-IT" dirty="0"/>
              <a:t>.</a:t>
            </a:r>
          </a:p>
          <a:p>
            <a:r>
              <a:rPr lang="it-IT" dirty="0"/>
              <a:t>Analizziamo i tre termini: </a:t>
            </a:r>
          </a:p>
          <a:p>
            <a:r>
              <a:rPr lang="it-IT" b="1" dirty="0">
                <a:solidFill>
                  <a:srgbClr val="171FE2"/>
                </a:solidFill>
              </a:rPr>
              <a:t>public</a:t>
            </a:r>
            <a:r>
              <a:rPr lang="it-IT" dirty="0"/>
              <a:t> rende la costante accessibile a chiunque; </a:t>
            </a:r>
          </a:p>
          <a:p>
            <a:r>
              <a:rPr lang="it-IT" b="1" dirty="0" err="1">
                <a:solidFill>
                  <a:srgbClr val="171FE2"/>
                </a:solidFill>
              </a:rPr>
              <a:t>static</a:t>
            </a:r>
            <a:r>
              <a:rPr lang="it-IT" dirty="0"/>
              <a:t> fa sì che il valore sia memorizzato una sola volta nella Method Area senza sprechi di memoria Heap; </a:t>
            </a:r>
          </a:p>
          <a:p>
            <a:r>
              <a:rPr lang="it-IT" b="1" dirty="0" err="1">
                <a:solidFill>
                  <a:srgbClr val="171FE2"/>
                </a:solidFill>
              </a:rPr>
              <a:t>final</a:t>
            </a:r>
            <a:r>
              <a:rPr lang="it-IT" b="1" dirty="0">
                <a:solidFill>
                  <a:srgbClr val="171FE2"/>
                </a:solidFill>
              </a:rPr>
              <a:t> </a:t>
            </a:r>
            <a:r>
              <a:rPr lang="it-IT" dirty="0"/>
              <a:t>garantisce che il valore non possa mai essere sovrascritto dopo la prima inizializzazione. </a:t>
            </a:r>
          </a:p>
          <a:p>
            <a:r>
              <a:rPr lang="it-IT" dirty="0"/>
              <a:t>La convenzione di Naming per le costanti prevede l'uso esclusivo di lettere MAIUSCOLE, separando le parole con l'underscore (es. public </a:t>
            </a:r>
            <a:r>
              <a:rPr lang="it-IT" dirty="0" err="1"/>
              <a:t>static</a:t>
            </a:r>
            <a:r>
              <a:rPr lang="it-IT" dirty="0"/>
              <a:t> </a:t>
            </a:r>
            <a:r>
              <a:rPr lang="it-IT" dirty="0" err="1"/>
              <a:t>final</a:t>
            </a:r>
            <a:r>
              <a:rPr lang="it-IT" dirty="0"/>
              <a:t> double TASSO_MASSIMO = 5.0;). </a:t>
            </a:r>
          </a:p>
          <a:p>
            <a:r>
              <a:rPr lang="it-IT" dirty="0"/>
              <a:t>L'uso delle costanti rende il codice leggibile ed evita l'anti-pattern dei "Magic Numbers".</a:t>
            </a:r>
          </a:p>
        </p:txBody>
      </p:sp>
    </p:spTree>
    <p:extLst>
      <p:ext uri="{BB962C8B-B14F-4D97-AF65-F5344CB8AC3E}">
        <p14:creationId xmlns:p14="http://schemas.microsoft.com/office/powerpoint/2010/main" val="2996772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F10BF-993D-A6BF-CF30-0FFC9E42D22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B7936FB-F4D1-8E0B-A866-F906A4D15459}"/>
              </a:ext>
            </a:extLst>
          </p:cNvPr>
          <p:cNvSpPr>
            <a:spLocks noGrp="1"/>
          </p:cNvSpPr>
          <p:nvPr>
            <p:ph type="title"/>
          </p:nvPr>
        </p:nvSpPr>
        <p:spPr>
          <a:xfrm>
            <a:off x="838200" y="831206"/>
            <a:ext cx="10515600" cy="314198"/>
          </a:xfrm>
        </p:spPr>
        <p:txBody>
          <a:bodyPr/>
          <a:lstStyle/>
          <a:p>
            <a:r>
              <a:rPr lang="it-IT" dirty="0"/>
              <a:t>SLIDE 29: Esercizio Guidato – Generatore Automatico di Numeri di Conto</a:t>
            </a:r>
          </a:p>
        </p:txBody>
      </p:sp>
      <p:sp>
        <p:nvSpPr>
          <p:cNvPr id="3" name="Contenuto della lezione">
            <a:extLst>
              <a:ext uri="{FF2B5EF4-FFF2-40B4-BE49-F238E27FC236}">
                <a16:creationId xmlns:a16="http://schemas.microsoft.com/office/drawing/2014/main" id="{552541FD-D2C3-C59C-ADA3-69208A10D743}"/>
              </a:ext>
            </a:extLst>
          </p:cNvPr>
          <p:cNvSpPr>
            <a:spLocks noGrp="1"/>
          </p:cNvSpPr>
          <p:nvPr>
            <p:ph idx="1"/>
          </p:nvPr>
        </p:nvSpPr>
        <p:spPr>
          <a:xfrm>
            <a:off x="1317319" y="1451127"/>
            <a:ext cx="9557362" cy="4803369"/>
          </a:xfrm>
        </p:spPr>
        <p:txBody>
          <a:bodyPr/>
          <a:lstStyle/>
          <a:p>
            <a:r>
              <a:rPr lang="it-IT" dirty="0"/>
              <a:t>Esercitiamo l'abilità di combinare membri statici e di istanza per risolvere un problema concreto. </a:t>
            </a:r>
          </a:p>
          <a:p>
            <a:r>
              <a:rPr lang="it-IT" dirty="0"/>
              <a:t>Modifichiamo la classe </a:t>
            </a:r>
            <a:r>
              <a:rPr lang="it-IT" dirty="0" err="1"/>
              <a:t>ContoCorrente</a:t>
            </a:r>
            <a:r>
              <a:rPr lang="it-IT" dirty="0"/>
              <a:t> aggiungendo un campo di istanza privato di tipo </a:t>
            </a:r>
            <a:r>
              <a:rPr lang="it-IT" dirty="0" err="1"/>
              <a:t>String</a:t>
            </a:r>
            <a:r>
              <a:rPr lang="it-IT" dirty="0"/>
              <a:t> chiamato </a:t>
            </a:r>
            <a:r>
              <a:rPr lang="it-IT" dirty="0" err="1"/>
              <a:t>numeroConto</a:t>
            </a:r>
            <a:r>
              <a:rPr lang="it-IT" dirty="0"/>
              <a:t>. </a:t>
            </a:r>
          </a:p>
          <a:p>
            <a:r>
              <a:rPr lang="it-IT" dirty="0"/>
              <a:t>Vogliamo che questo codice alfanumerico sia generato in modo univoco e automatico dal sistema per ogni nuovo cliente.</a:t>
            </a:r>
          </a:p>
          <a:p>
            <a:r>
              <a:rPr lang="it-IT" dirty="0"/>
              <a:t>Per farlo, sfruttiamo la variabile statica </a:t>
            </a:r>
            <a:r>
              <a:rPr lang="it-IT" dirty="0" err="1"/>
              <a:t>contatoreConti</a:t>
            </a:r>
            <a:r>
              <a:rPr lang="it-IT" dirty="0"/>
              <a:t> introdotta in precedenza. </a:t>
            </a:r>
          </a:p>
          <a:p>
            <a:r>
              <a:rPr lang="it-IT" dirty="0"/>
              <a:t>Nel costruttore, prima incrementiamo il contatore statico, e poi assegniamo il valore al campo di istanza combinandolo con un prefisso fisso: </a:t>
            </a:r>
            <a:r>
              <a:rPr lang="it-IT" dirty="0" err="1"/>
              <a:t>this.numeroConto</a:t>
            </a:r>
            <a:r>
              <a:rPr lang="it-IT" dirty="0"/>
              <a:t> = "CC-" + </a:t>
            </a:r>
            <a:r>
              <a:rPr lang="it-IT" dirty="0" err="1"/>
              <a:t>contatoreConti</a:t>
            </a:r>
            <a:r>
              <a:rPr lang="it-IT" dirty="0"/>
              <a:t>;. </a:t>
            </a:r>
          </a:p>
          <a:p>
            <a:r>
              <a:rPr lang="it-IT" dirty="0"/>
              <a:t>Create un metodo getter pubblico per leggere il numero di conto, ma omettete il setter per impedirne la modifica. </a:t>
            </a:r>
          </a:p>
          <a:p>
            <a:r>
              <a:rPr lang="it-IT" dirty="0"/>
              <a:t>Provate a istanziare tre conti nel </a:t>
            </a:r>
            <a:r>
              <a:rPr lang="it-IT" dirty="0" err="1"/>
              <a:t>main</a:t>
            </a:r>
            <a:r>
              <a:rPr lang="it-IT" dirty="0"/>
              <a:t> e verificate che ciascun oggetto possieda un codice progressivo unico generato autonomamente senza l'intervento dell'utente.</a:t>
            </a:r>
          </a:p>
        </p:txBody>
      </p:sp>
    </p:spTree>
    <p:extLst>
      <p:ext uri="{BB962C8B-B14F-4D97-AF65-F5344CB8AC3E}">
        <p14:creationId xmlns:p14="http://schemas.microsoft.com/office/powerpoint/2010/main" val="3735123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014C9-34DA-C076-3664-A38B1A6F209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6ABED09-5A97-249C-F6A9-E02A51AC2761}"/>
              </a:ext>
            </a:extLst>
          </p:cNvPr>
          <p:cNvSpPr>
            <a:spLocks noGrp="1"/>
          </p:cNvSpPr>
          <p:nvPr>
            <p:ph type="title"/>
          </p:nvPr>
        </p:nvSpPr>
        <p:spPr>
          <a:xfrm>
            <a:off x="838200" y="831206"/>
            <a:ext cx="10515600" cy="314198"/>
          </a:xfrm>
        </p:spPr>
        <p:txBody>
          <a:bodyPr/>
          <a:lstStyle/>
          <a:p>
            <a:r>
              <a:rPr lang="it-IT" dirty="0"/>
              <a:t>SLIDE 30: Introduzione alla Documentazione del Codice: </a:t>
            </a:r>
            <a:r>
              <a:rPr lang="it-IT" dirty="0" err="1"/>
              <a:t>JavaDoc</a:t>
            </a:r>
            <a:endParaRPr lang="it-IT" dirty="0"/>
          </a:p>
        </p:txBody>
      </p:sp>
      <p:sp>
        <p:nvSpPr>
          <p:cNvPr id="3" name="Contenuto della lezione">
            <a:extLst>
              <a:ext uri="{FF2B5EF4-FFF2-40B4-BE49-F238E27FC236}">
                <a16:creationId xmlns:a16="http://schemas.microsoft.com/office/drawing/2014/main" id="{D10D4BB3-BE3A-7C7A-C568-11724F258533}"/>
              </a:ext>
            </a:extLst>
          </p:cNvPr>
          <p:cNvSpPr>
            <a:spLocks noGrp="1"/>
          </p:cNvSpPr>
          <p:nvPr>
            <p:ph idx="1"/>
          </p:nvPr>
        </p:nvSpPr>
        <p:spPr>
          <a:xfrm>
            <a:off x="1317319" y="1451127"/>
            <a:ext cx="9557362" cy="4803369"/>
          </a:xfrm>
        </p:spPr>
        <p:txBody>
          <a:bodyPr/>
          <a:lstStyle/>
          <a:p>
            <a:r>
              <a:rPr lang="it-IT" dirty="0"/>
              <a:t>Java include uno strumento nativo potentissimo chiamato </a:t>
            </a:r>
            <a:r>
              <a:rPr lang="it-IT" dirty="0" err="1"/>
              <a:t>JavaDoc</a:t>
            </a:r>
            <a:r>
              <a:rPr lang="it-IT" dirty="0"/>
              <a:t>. </a:t>
            </a:r>
          </a:p>
          <a:p>
            <a:r>
              <a:rPr lang="it-IT" dirty="0"/>
              <a:t>Consente di generare automaticamente pagine HTML di documentazione tecnica partendo direttamente dai commenti inseriti all'interno del codice sorgente. </a:t>
            </a:r>
          </a:p>
          <a:p>
            <a:r>
              <a:rPr lang="it-IT" dirty="0"/>
              <a:t>I commenti </a:t>
            </a:r>
            <a:r>
              <a:rPr lang="it-IT" dirty="0" err="1"/>
              <a:t>JavaDoc</a:t>
            </a:r>
            <a:r>
              <a:rPr lang="it-IT" dirty="0"/>
              <a:t> si distinguono dai commenti normali perché aprono con i caratteri / e chiudono con */. </a:t>
            </a:r>
          </a:p>
          <a:p>
            <a:r>
              <a:rPr lang="it-IT" dirty="0"/>
              <a:t>Al loro interno si utilizzano speciali tag contrassegnati dalla chiocciola, come @param per descrivere il significato dei parametri accettati da un metodo, @return per spiegare il valore restituito e @throws per le eccezioni. </a:t>
            </a:r>
          </a:p>
          <a:p>
            <a:r>
              <a:rPr lang="it-IT" dirty="0"/>
              <a:t>Documentare accuratamente le classi, i costruttori e i metodi pubblici è un obbligo aziendale che garantisce la manutenibilità del codice e facilita il lavoro in team.</a:t>
            </a:r>
          </a:p>
        </p:txBody>
      </p:sp>
    </p:spTree>
    <p:extLst>
      <p:ext uri="{BB962C8B-B14F-4D97-AF65-F5344CB8AC3E}">
        <p14:creationId xmlns:p14="http://schemas.microsoft.com/office/powerpoint/2010/main" val="18668213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20B3-6E73-79F5-DDDF-78AE2D12400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5484FAD-D2F9-F4BC-3F9E-850B46B93053}"/>
              </a:ext>
            </a:extLst>
          </p:cNvPr>
          <p:cNvSpPr>
            <a:spLocks noGrp="1"/>
          </p:cNvSpPr>
          <p:nvPr>
            <p:ph type="title"/>
          </p:nvPr>
        </p:nvSpPr>
        <p:spPr>
          <a:xfrm>
            <a:off x="838200" y="831206"/>
            <a:ext cx="10515600" cy="314198"/>
          </a:xfrm>
        </p:spPr>
        <p:txBody>
          <a:bodyPr/>
          <a:lstStyle/>
          <a:p>
            <a:r>
              <a:rPr lang="it-IT" dirty="0"/>
              <a:t>SLIDE 31: Il Metodo </a:t>
            </a:r>
            <a:r>
              <a:rPr lang="it-IT" dirty="0" err="1"/>
              <a:t>toString</a:t>
            </a:r>
            <a:r>
              <a:rPr lang="it-IT" dirty="0"/>
              <a:t>() e la Rappresentazione degli Oggetti</a:t>
            </a:r>
          </a:p>
        </p:txBody>
      </p:sp>
      <p:sp>
        <p:nvSpPr>
          <p:cNvPr id="3" name="Contenuto della lezione">
            <a:extLst>
              <a:ext uri="{FF2B5EF4-FFF2-40B4-BE49-F238E27FC236}">
                <a16:creationId xmlns:a16="http://schemas.microsoft.com/office/drawing/2014/main" id="{129D500C-8B15-2A3E-279D-5E5EC592A7FD}"/>
              </a:ext>
            </a:extLst>
          </p:cNvPr>
          <p:cNvSpPr>
            <a:spLocks noGrp="1"/>
          </p:cNvSpPr>
          <p:nvPr>
            <p:ph idx="1"/>
          </p:nvPr>
        </p:nvSpPr>
        <p:spPr>
          <a:xfrm>
            <a:off x="1317319" y="1451127"/>
            <a:ext cx="9557362" cy="4803369"/>
          </a:xfrm>
        </p:spPr>
        <p:txBody>
          <a:bodyPr/>
          <a:lstStyle/>
          <a:p>
            <a:r>
              <a:rPr lang="it-IT" dirty="0"/>
              <a:t>Se proviamo a stampare un oggetto direttamente a console scrivendo </a:t>
            </a:r>
            <a:r>
              <a:rPr lang="it-IT" dirty="0" err="1"/>
              <a:t>System.out.println</a:t>
            </a:r>
            <a:r>
              <a:rPr lang="it-IT" dirty="0"/>
              <a:t>(conto);, notiamo che l'output visualizzato è una stringa incomprensibile composta dal nome della classe seguito dal simbolo @ e da un codice esadecimale (l'</a:t>
            </a:r>
            <a:r>
              <a:rPr lang="it-IT" dirty="0" err="1"/>
              <a:t>hashcode</a:t>
            </a:r>
            <a:r>
              <a:rPr lang="it-IT" dirty="0"/>
              <a:t> del riferimento). </a:t>
            </a:r>
          </a:p>
          <a:p>
            <a:r>
              <a:rPr lang="it-IT" dirty="0"/>
              <a:t>Questo accade perché Java non sa come formattare visivamente i dati interni dell'oggetto. </a:t>
            </a:r>
          </a:p>
          <a:p>
            <a:r>
              <a:rPr lang="it-IT" dirty="0"/>
              <a:t>Per risolvere questo problema in modo professionale, ogni classe dovrebbe implementare (effettuare l'</a:t>
            </a:r>
            <a:r>
              <a:rPr lang="it-IT" dirty="0" err="1"/>
              <a:t>override</a:t>
            </a:r>
            <a:r>
              <a:rPr lang="it-IT" dirty="0"/>
              <a:t>) del metodo speciale public </a:t>
            </a:r>
            <a:r>
              <a:rPr lang="it-IT" dirty="0" err="1"/>
              <a:t>String</a:t>
            </a:r>
            <a:r>
              <a:rPr lang="it-IT" dirty="0"/>
              <a:t> </a:t>
            </a:r>
            <a:r>
              <a:rPr lang="it-IT" dirty="0" err="1"/>
              <a:t>toString</a:t>
            </a:r>
            <a:r>
              <a:rPr lang="it-IT" dirty="0"/>
              <a:t>(). </a:t>
            </a:r>
          </a:p>
          <a:p>
            <a:r>
              <a:rPr lang="it-IT" dirty="0"/>
              <a:t>Questo metodo ha lo scopo di raccogliere i valori degli attributi salienti dell'oggetto e organizzarli in una stringa chiara e leggibile dall'operatore umano. </a:t>
            </a:r>
          </a:p>
          <a:p>
            <a:r>
              <a:rPr lang="it-IT" dirty="0"/>
              <a:t>Ad esempio, per il nostro conto bancario, il metodo potrebbe restituire: </a:t>
            </a:r>
            <a:r>
              <a:rPr lang="it-IT" dirty="0">
                <a:solidFill>
                  <a:srgbClr val="171FE2"/>
                </a:solidFill>
                <a:latin typeface="Consolas" panose="020B0609020204030204" pitchFamily="49" charset="0"/>
              </a:rPr>
              <a:t>"Conto N. " + </a:t>
            </a:r>
            <a:r>
              <a:rPr lang="it-IT" dirty="0" err="1">
                <a:solidFill>
                  <a:srgbClr val="171FE2"/>
                </a:solidFill>
                <a:latin typeface="Consolas" panose="020B0609020204030204" pitchFamily="49" charset="0"/>
              </a:rPr>
              <a:t>numeroConto</a:t>
            </a:r>
            <a:r>
              <a:rPr lang="it-IT" dirty="0">
                <a:solidFill>
                  <a:srgbClr val="171FE2"/>
                </a:solidFill>
                <a:latin typeface="Consolas" panose="020B0609020204030204" pitchFamily="49" charset="0"/>
              </a:rPr>
              <a:t> + " - Titolare: " + titolare + " - Saldo: " + saldo + " EUR"</a:t>
            </a:r>
            <a:r>
              <a:rPr lang="it-IT" dirty="0"/>
              <a:t>.</a:t>
            </a:r>
          </a:p>
        </p:txBody>
      </p:sp>
    </p:spTree>
    <p:extLst>
      <p:ext uri="{BB962C8B-B14F-4D97-AF65-F5344CB8AC3E}">
        <p14:creationId xmlns:p14="http://schemas.microsoft.com/office/powerpoint/2010/main" val="490513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E4D03-1977-B66D-E404-0E6FEE6968C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1CF6A81B-B00A-3191-8510-A4FC1931253E}"/>
              </a:ext>
            </a:extLst>
          </p:cNvPr>
          <p:cNvSpPr>
            <a:spLocks noGrp="1"/>
          </p:cNvSpPr>
          <p:nvPr>
            <p:ph type="title"/>
          </p:nvPr>
        </p:nvSpPr>
        <p:spPr>
          <a:xfrm>
            <a:off x="838200" y="831206"/>
            <a:ext cx="10515600" cy="314198"/>
          </a:xfrm>
        </p:spPr>
        <p:txBody>
          <a:bodyPr/>
          <a:lstStyle/>
          <a:p>
            <a:r>
              <a:rPr lang="it-IT" dirty="0"/>
              <a:t>SLIDE 32: Esercizio Guidato – Formattazione e </a:t>
            </a:r>
            <a:r>
              <a:rPr lang="it-IT" dirty="0" err="1"/>
              <a:t>Override</a:t>
            </a:r>
            <a:r>
              <a:rPr lang="it-IT" dirty="0"/>
              <a:t> di </a:t>
            </a:r>
            <a:r>
              <a:rPr lang="it-IT" dirty="0" err="1"/>
              <a:t>toString</a:t>
            </a:r>
            <a:r>
              <a:rPr lang="it-IT" dirty="0"/>
              <a:t>()</a:t>
            </a:r>
          </a:p>
        </p:txBody>
      </p:sp>
      <p:sp>
        <p:nvSpPr>
          <p:cNvPr id="3" name="Contenuto della lezione">
            <a:extLst>
              <a:ext uri="{FF2B5EF4-FFF2-40B4-BE49-F238E27FC236}">
                <a16:creationId xmlns:a16="http://schemas.microsoft.com/office/drawing/2014/main" id="{3FBA0EA1-2611-B56F-337D-3E6D1DE9EA13}"/>
              </a:ext>
            </a:extLst>
          </p:cNvPr>
          <p:cNvSpPr>
            <a:spLocks noGrp="1"/>
          </p:cNvSpPr>
          <p:nvPr>
            <p:ph idx="1"/>
          </p:nvPr>
        </p:nvSpPr>
        <p:spPr>
          <a:xfrm>
            <a:off x="1317319" y="1451127"/>
            <a:ext cx="9557362" cy="4803369"/>
          </a:xfrm>
        </p:spPr>
        <p:txBody>
          <a:bodyPr/>
          <a:lstStyle/>
          <a:p>
            <a:r>
              <a:rPr lang="it-IT" dirty="0"/>
              <a:t>Sviluppiamo l'abilità di formattare l'output dei nostri oggetti personalizzati. </a:t>
            </a:r>
          </a:p>
          <a:p>
            <a:r>
              <a:rPr lang="it-IT" dirty="0"/>
              <a:t>Inserite l'implementazione del metodo </a:t>
            </a:r>
            <a:r>
              <a:rPr lang="it-IT" dirty="0" err="1">
                <a:solidFill>
                  <a:srgbClr val="171FE2"/>
                </a:solidFill>
                <a:latin typeface="Consolas" panose="020B0609020204030204" pitchFamily="49" charset="0"/>
              </a:rPr>
              <a:t>toString</a:t>
            </a:r>
            <a:r>
              <a:rPr lang="it-IT" dirty="0">
                <a:solidFill>
                  <a:srgbClr val="171FE2"/>
                </a:solidFill>
                <a:latin typeface="Consolas" panose="020B0609020204030204" pitchFamily="49" charset="0"/>
              </a:rPr>
              <a:t>() </a:t>
            </a:r>
            <a:r>
              <a:rPr lang="it-IT" dirty="0"/>
              <a:t>all'interno della classe </a:t>
            </a:r>
            <a:r>
              <a:rPr lang="it-IT" dirty="0" err="1"/>
              <a:t>ContoCorrente</a:t>
            </a:r>
            <a:r>
              <a:rPr lang="it-IT" dirty="0"/>
              <a:t> seguendo la sintassi corretta. </a:t>
            </a:r>
          </a:p>
          <a:p>
            <a:r>
              <a:rPr lang="it-IT" dirty="0"/>
              <a:t>Sopra la dichiarazione del metodo, ricordatevi di inserire l'annotazione @Override, che segnala al compilatore che state ridefinendo un metodo nativo di Java, aiutandovi a intercettare eventuali errori di digitazione nella firma. </a:t>
            </a:r>
          </a:p>
          <a:p>
            <a:r>
              <a:rPr lang="it-IT" dirty="0"/>
              <a:t>Nel corpo del metodo, utilizzate la concatenazione di stringhe per creare un report elegante dello stato del conto. </a:t>
            </a:r>
          </a:p>
          <a:p>
            <a:r>
              <a:rPr lang="it-IT" dirty="0"/>
              <a:t>Una volta completato, tornate nel metodo </a:t>
            </a:r>
            <a:r>
              <a:rPr lang="it-IT" dirty="0" err="1"/>
              <a:t>main</a:t>
            </a:r>
            <a:r>
              <a:rPr lang="it-IT" dirty="0"/>
              <a:t> ed eliminate tutte le vecchie istruzioni di stampa frammentate. </a:t>
            </a:r>
          </a:p>
          <a:p>
            <a:r>
              <a:rPr lang="it-IT" dirty="0"/>
              <a:t>Ora vi basterà scrivere semplicemente </a:t>
            </a:r>
            <a:r>
              <a:rPr lang="it-IT" dirty="0" err="1">
                <a:solidFill>
                  <a:srgbClr val="171FE2"/>
                </a:solidFill>
                <a:latin typeface="Consolas" panose="020B0609020204030204" pitchFamily="49" charset="0"/>
              </a:rPr>
              <a:t>System.out.println</a:t>
            </a:r>
            <a:r>
              <a:rPr lang="it-IT" dirty="0">
                <a:solidFill>
                  <a:srgbClr val="171FE2"/>
                </a:solidFill>
                <a:latin typeface="Consolas" panose="020B0609020204030204" pitchFamily="49" charset="0"/>
              </a:rPr>
              <a:t>(conto); </a:t>
            </a:r>
            <a:r>
              <a:rPr lang="it-IT" dirty="0"/>
              <a:t>per veder comparire istantaneamente a console l'intero report formattato del cliente. </a:t>
            </a:r>
          </a:p>
          <a:p>
            <a:r>
              <a:rPr lang="it-IT" dirty="0"/>
              <a:t>Questo pulisce il codice del programma principale in modo drastico.</a:t>
            </a:r>
          </a:p>
        </p:txBody>
      </p:sp>
    </p:spTree>
    <p:extLst>
      <p:ext uri="{BB962C8B-B14F-4D97-AF65-F5344CB8AC3E}">
        <p14:creationId xmlns:p14="http://schemas.microsoft.com/office/powerpoint/2010/main" val="194626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5F42-5884-2D64-6E50-F7081E1117F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78AEEDBD-502B-FE53-D53D-619A720974CF}"/>
              </a:ext>
            </a:extLst>
          </p:cNvPr>
          <p:cNvSpPr>
            <a:spLocks noGrp="1"/>
          </p:cNvSpPr>
          <p:nvPr>
            <p:ph type="title"/>
          </p:nvPr>
        </p:nvSpPr>
        <p:spPr>
          <a:xfrm>
            <a:off x="838200" y="831206"/>
            <a:ext cx="10515600" cy="314198"/>
          </a:xfrm>
        </p:spPr>
        <p:txBody>
          <a:bodyPr/>
          <a:lstStyle/>
          <a:p>
            <a:r>
              <a:rPr lang="it-IT" dirty="0"/>
              <a:t>SLIDE 33: Confronto tra Oggetti: l'Operatore '==' vs il Metodo </a:t>
            </a:r>
            <a:r>
              <a:rPr lang="it-IT" dirty="0" err="1"/>
              <a:t>equals</a:t>
            </a:r>
            <a:r>
              <a:rPr lang="it-IT" dirty="0"/>
              <a:t>()</a:t>
            </a:r>
          </a:p>
        </p:txBody>
      </p:sp>
      <p:sp>
        <p:nvSpPr>
          <p:cNvPr id="3" name="Contenuto della lezione">
            <a:extLst>
              <a:ext uri="{FF2B5EF4-FFF2-40B4-BE49-F238E27FC236}">
                <a16:creationId xmlns:a16="http://schemas.microsoft.com/office/drawing/2014/main" id="{CFDA139D-AFA9-67A5-350F-44E4DF25E0B0}"/>
              </a:ext>
            </a:extLst>
          </p:cNvPr>
          <p:cNvSpPr>
            <a:spLocks noGrp="1"/>
          </p:cNvSpPr>
          <p:nvPr>
            <p:ph idx="1"/>
          </p:nvPr>
        </p:nvSpPr>
        <p:spPr>
          <a:xfrm>
            <a:off x="1317319" y="1451127"/>
            <a:ext cx="9557362" cy="4803369"/>
          </a:xfrm>
        </p:spPr>
        <p:txBody>
          <a:bodyPr/>
          <a:lstStyle/>
          <a:p>
            <a:r>
              <a:rPr lang="it-IT" dirty="0"/>
              <a:t>Uno dei bug più frequenti commessi riguarda il confronto tra due oggetti. </a:t>
            </a:r>
          </a:p>
          <a:p>
            <a:r>
              <a:rPr lang="it-IT" dirty="0"/>
              <a:t>Se creiamo due oggetti distinti nello Heap con gli stessi identici dati, ad esempio due conti correnti intestati alla stessa persona con lo stesso saldo, e proviamo a confrontarli usando l'operatore relazionale == (es. </a:t>
            </a:r>
            <a:r>
              <a:rPr lang="it-IT" dirty="0" err="1"/>
              <a:t>if</a:t>
            </a:r>
            <a:r>
              <a:rPr lang="it-IT" dirty="0"/>
              <a:t> (conto1 == conto2)), il risultato della condizione sarà clamorosamente false. </a:t>
            </a:r>
          </a:p>
          <a:p>
            <a:r>
              <a:rPr lang="it-IT" dirty="0"/>
              <a:t>Questo succede perché l'operatore ==, applicato alle variabili oggetto, confronta esclusivamente i riferimenti memorizzati nello </a:t>
            </a:r>
            <a:r>
              <a:rPr lang="it-IT" dirty="0" err="1"/>
              <a:t>Stack</a:t>
            </a:r>
            <a:r>
              <a:rPr lang="it-IT" dirty="0"/>
              <a:t> (gli indirizzi di memoria), non il contenuto.</a:t>
            </a:r>
          </a:p>
          <a:p>
            <a:r>
              <a:rPr lang="it-IT" dirty="0"/>
              <a:t>I due oggetti si trovano in celle di memoria diverse, quindi i puntatori sono differenti. </a:t>
            </a:r>
          </a:p>
          <a:p>
            <a:r>
              <a:rPr lang="it-IT" dirty="0">
                <a:solidFill>
                  <a:srgbClr val="171FE2"/>
                </a:solidFill>
              </a:rPr>
              <a:t>Per confrontare il reale valore interno di due oggetti si deve utilizzare il metodo </a:t>
            </a:r>
            <a:r>
              <a:rPr lang="it-IT" dirty="0">
                <a:solidFill>
                  <a:srgbClr val="171FE2"/>
                </a:solidFill>
                <a:latin typeface="Consolas" panose="020B0609020204030204" pitchFamily="49" charset="0"/>
              </a:rPr>
              <a:t>public </a:t>
            </a:r>
            <a:r>
              <a:rPr lang="it-IT" dirty="0" err="1">
                <a:solidFill>
                  <a:srgbClr val="171FE2"/>
                </a:solidFill>
                <a:latin typeface="Consolas" panose="020B0609020204030204" pitchFamily="49" charset="0"/>
              </a:rPr>
              <a:t>boolean</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equals</a:t>
            </a:r>
            <a:r>
              <a:rPr lang="it-IT" dirty="0">
                <a:solidFill>
                  <a:srgbClr val="171FE2"/>
                </a:solidFill>
                <a:latin typeface="Consolas" panose="020B0609020204030204" pitchFamily="49" charset="0"/>
              </a:rPr>
              <a:t>(Object </a:t>
            </a:r>
            <a:r>
              <a:rPr lang="it-IT" dirty="0" err="1">
                <a:solidFill>
                  <a:srgbClr val="171FE2"/>
                </a:solidFill>
                <a:latin typeface="Consolas" panose="020B0609020204030204" pitchFamily="49" charset="0"/>
              </a:rPr>
              <a:t>obj</a:t>
            </a:r>
            <a:r>
              <a:rPr lang="it-IT" dirty="0">
                <a:solidFill>
                  <a:srgbClr val="171FE2"/>
                </a:solidFill>
                <a:latin typeface="Consolas" panose="020B0609020204030204" pitchFamily="49" charset="0"/>
              </a:rPr>
              <a:t>)</a:t>
            </a:r>
            <a:r>
              <a:rPr lang="it-IT" dirty="0">
                <a:solidFill>
                  <a:srgbClr val="171FE2"/>
                </a:solidFill>
              </a:rPr>
              <a:t>, </a:t>
            </a:r>
            <a:r>
              <a:rPr lang="it-IT" dirty="0"/>
              <a:t>ridefinendolo nella classe per specificare quali criteri definiscono l'uguaglianza tra due istanze.</a:t>
            </a:r>
          </a:p>
        </p:txBody>
      </p:sp>
    </p:spTree>
    <p:extLst>
      <p:ext uri="{BB962C8B-B14F-4D97-AF65-F5344CB8AC3E}">
        <p14:creationId xmlns:p14="http://schemas.microsoft.com/office/powerpoint/2010/main" val="3461930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A150-65EF-582C-9573-3D12DBD17A4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BDFDCB0-F71B-A00C-32E3-3B310AA8C6C8}"/>
              </a:ext>
            </a:extLst>
          </p:cNvPr>
          <p:cNvSpPr>
            <a:spLocks noGrp="1"/>
          </p:cNvSpPr>
          <p:nvPr>
            <p:ph type="title"/>
          </p:nvPr>
        </p:nvSpPr>
        <p:spPr>
          <a:xfrm>
            <a:off x="838200" y="831206"/>
            <a:ext cx="10515600" cy="314198"/>
          </a:xfrm>
        </p:spPr>
        <p:txBody>
          <a:bodyPr/>
          <a:lstStyle/>
          <a:p>
            <a:r>
              <a:rPr lang="it-IT" dirty="0"/>
              <a:t>SEZIONE 5: PROVA PRATICA DI VALUTAZIONE (Slide 34 - 40)</a:t>
            </a:r>
            <a:br>
              <a:rPr lang="it-IT" dirty="0"/>
            </a:br>
            <a:r>
              <a:rPr lang="it-IT" dirty="0"/>
              <a:t>SLIDE 34: Unità Didattica 4 – Laboratorio Finale e Compito Autentico</a:t>
            </a:r>
          </a:p>
        </p:txBody>
      </p:sp>
      <p:sp>
        <p:nvSpPr>
          <p:cNvPr id="3" name="Contenuto della lezione">
            <a:extLst>
              <a:ext uri="{FF2B5EF4-FFF2-40B4-BE49-F238E27FC236}">
                <a16:creationId xmlns:a16="http://schemas.microsoft.com/office/drawing/2014/main" id="{7C265D5E-FE5C-36EA-8BE1-34C35758AED9}"/>
              </a:ext>
            </a:extLst>
          </p:cNvPr>
          <p:cNvSpPr>
            <a:spLocks noGrp="1"/>
          </p:cNvSpPr>
          <p:nvPr>
            <p:ph idx="1"/>
          </p:nvPr>
        </p:nvSpPr>
        <p:spPr>
          <a:xfrm>
            <a:off x="1317319" y="1716303"/>
            <a:ext cx="9557362" cy="4803369"/>
          </a:xfrm>
        </p:spPr>
        <p:txBody>
          <a:bodyPr/>
          <a:lstStyle/>
          <a:p>
            <a:r>
              <a:rPr lang="it-IT" dirty="0"/>
              <a:t>Siamo giunti alla fase finale di verifica della micro-competenza legata all'Object-</a:t>
            </a:r>
            <a:r>
              <a:rPr lang="it-IT" dirty="0" err="1"/>
              <a:t>Oriented</a:t>
            </a:r>
            <a:r>
              <a:rPr lang="it-IT" dirty="0"/>
              <a:t> Programming. </a:t>
            </a:r>
          </a:p>
          <a:p>
            <a:r>
              <a:rPr lang="it-IT" dirty="0"/>
              <a:t>Siete chiamati a realizzare in totale autonomia un prototipo software per un "Registro Elettronico Scolastico", un dominio applicativo reale che conoscete perfettamente e che simula un contesto aziendale di gestione dati. </a:t>
            </a:r>
          </a:p>
          <a:p>
            <a:r>
              <a:rPr lang="it-IT" dirty="0"/>
              <a:t>Il sistema non deve essere una semplice sequenza di istruzioni, ma deve basarsi su un'architettura a classi solide, completamente incapsulate e protette da accessi illeciti. </a:t>
            </a:r>
          </a:p>
          <a:p>
            <a:r>
              <a:rPr lang="it-IT" dirty="0"/>
              <a:t>Questo laboratorio richiede l'integrazione strutturata di tutti i concetti analizzati nelle slide precedenti: dichiarazione di classi, allocazione di istanze nello Heap tramite l'operatore new, implementazione rigorosa dei getter e setter con filtri di validazione dell'input, uso di variabili statiche per il controllo del sistema, e formattazione dell'output tramite il metodo </a:t>
            </a:r>
            <a:r>
              <a:rPr lang="it-IT" dirty="0" err="1"/>
              <a:t>toString</a:t>
            </a:r>
            <a:r>
              <a:rPr lang="it-IT" dirty="0"/>
              <a:t>().</a:t>
            </a:r>
          </a:p>
        </p:txBody>
      </p:sp>
    </p:spTree>
    <p:extLst>
      <p:ext uri="{BB962C8B-B14F-4D97-AF65-F5344CB8AC3E}">
        <p14:creationId xmlns:p14="http://schemas.microsoft.com/office/powerpoint/2010/main" val="3436846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62C1-34B9-9C31-4CC2-FA9C4E35ECB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23DB2F45-03D7-9E59-E0A2-99382B4F64B8}"/>
              </a:ext>
            </a:extLst>
          </p:cNvPr>
          <p:cNvSpPr>
            <a:spLocks noGrp="1"/>
          </p:cNvSpPr>
          <p:nvPr>
            <p:ph type="title"/>
          </p:nvPr>
        </p:nvSpPr>
        <p:spPr>
          <a:xfrm>
            <a:off x="838200" y="831206"/>
            <a:ext cx="10515600" cy="314198"/>
          </a:xfrm>
        </p:spPr>
        <p:txBody>
          <a:bodyPr/>
          <a:lstStyle/>
          <a:p>
            <a:r>
              <a:rPr lang="it-IT" dirty="0"/>
              <a:t>SLIDE 35: Requisiti Dettagliati della Classe </a:t>
            </a:r>
            <a:r>
              <a:rPr lang="it-IT" dirty="0" err="1"/>
              <a:t>VotoScolastico</a:t>
            </a:r>
            <a:endParaRPr lang="it-IT" dirty="0"/>
          </a:p>
        </p:txBody>
      </p:sp>
      <p:sp>
        <p:nvSpPr>
          <p:cNvPr id="3" name="Contenuto della lezione">
            <a:extLst>
              <a:ext uri="{FF2B5EF4-FFF2-40B4-BE49-F238E27FC236}">
                <a16:creationId xmlns:a16="http://schemas.microsoft.com/office/drawing/2014/main" id="{2AC57A62-E716-D4CE-6766-AB1C9E19A0DF}"/>
              </a:ext>
            </a:extLst>
          </p:cNvPr>
          <p:cNvSpPr>
            <a:spLocks noGrp="1"/>
          </p:cNvSpPr>
          <p:nvPr>
            <p:ph idx="1"/>
          </p:nvPr>
        </p:nvSpPr>
        <p:spPr>
          <a:xfrm>
            <a:off x="1317319" y="1451127"/>
            <a:ext cx="9557362" cy="4803369"/>
          </a:xfrm>
        </p:spPr>
        <p:txBody>
          <a:bodyPr/>
          <a:lstStyle/>
          <a:p>
            <a:r>
              <a:rPr lang="it-IT" dirty="0"/>
              <a:t>Il primo elemento fondamentale da sviluppare per il laboratorio è la classe </a:t>
            </a:r>
            <a:r>
              <a:rPr lang="it-IT" dirty="0" err="1"/>
              <a:t>VotoScolastico</a:t>
            </a:r>
            <a:r>
              <a:rPr lang="it-IT" dirty="0"/>
              <a:t>. La classe deve possedere i seguenti attributi strettamente privati: </a:t>
            </a:r>
            <a:r>
              <a:rPr lang="it-IT" dirty="0" err="1"/>
              <a:t>String</a:t>
            </a:r>
            <a:r>
              <a:rPr lang="it-IT" dirty="0"/>
              <a:t> materia, double </a:t>
            </a:r>
            <a:r>
              <a:rPr lang="it-IT" dirty="0" err="1"/>
              <a:t>valoreVoto</a:t>
            </a:r>
            <a:r>
              <a:rPr lang="it-IT" dirty="0"/>
              <a:t>, e </a:t>
            </a:r>
            <a:r>
              <a:rPr lang="it-IT" dirty="0" err="1"/>
              <a:t>String</a:t>
            </a:r>
            <a:r>
              <a:rPr lang="it-IT" dirty="0"/>
              <a:t> </a:t>
            </a:r>
            <a:r>
              <a:rPr lang="it-IT" dirty="0" err="1"/>
              <a:t>dataAssegnazione</a:t>
            </a:r>
            <a:r>
              <a:rPr lang="it-IT" dirty="0"/>
              <a:t>. I requisiti tecnici obbligatori prevedono:</a:t>
            </a:r>
          </a:p>
          <a:p>
            <a:r>
              <a:rPr lang="it-IT" dirty="0"/>
              <a:t>Un costruttore completo che accetti tutti e tre i parametri, utilizzando la parola chiave </a:t>
            </a:r>
            <a:r>
              <a:rPr lang="it-IT" dirty="0" err="1"/>
              <a:t>this</a:t>
            </a:r>
            <a:r>
              <a:rPr lang="it-IT" dirty="0"/>
              <a:t> per evitare lo </a:t>
            </a:r>
            <a:r>
              <a:rPr lang="it-IT" dirty="0" err="1"/>
              <a:t>shadowing</a:t>
            </a:r>
            <a:r>
              <a:rPr lang="it-IT" dirty="0"/>
              <a:t>.</a:t>
            </a:r>
          </a:p>
          <a:p>
            <a:r>
              <a:rPr lang="it-IT" dirty="0"/>
              <a:t>Il costruttore deve integrare una logica di blocco o di default: se il voto inserito non è compreso tra 2.0 e 10.0, il sistema deve forzare il valore a 6.0 (sufficienza d'ufficio) e stampare un avviso di errore a console.</a:t>
            </a:r>
          </a:p>
          <a:p>
            <a:r>
              <a:rPr lang="it-IT" dirty="0"/>
              <a:t>Devono essere presenti tutti i metodi Getter.</a:t>
            </a:r>
          </a:p>
          <a:p>
            <a:r>
              <a:rPr lang="it-IT" dirty="0"/>
              <a:t>Il metodo </a:t>
            </a:r>
            <a:r>
              <a:rPr lang="it-IT" dirty="0" err="1"/>
              <a:t>setValoreVoto</a:t>
            </a:r>
            <a:r>
              <a:rPr lang="it-IT" dirty="0"/>
              <a:t> deve implementare la medesima validazione condizionale del costruttore per impedire modifiche successive con valori fuori range ministeriale.</a:t>
            </a:r>
          </a:p>
          <a:p>
            <a:r>
              <a:rPr lang="it-IT" dirty="0" err="1"/>
              <a:t>Override</a:t>
            </a:r>
            <a:r>
              <a:rPr lang="it-IT" dirty="0"/>
              <a:t> completo del metodo </a:t>
            </a:r>
            <a:r>
              <a:rPr lang="it-IT" dirty="0" err="1"/>
              <a:t>toString</a:t>
            </a:r>
            <a:r>
              <a:rPr lang="it-IT" dirty="0"/>
              <a:t>() per mostrare il voto in modo elegante.</a:t>
            </a:r>
          </a:p>
        </p:txBody>
      </p:sp>
    </p:spTree>
    <p:extLst>
      <p:ext uri="{BB962C8B-B14F-4D97-AF65-F5344CB8AC3E}">
        <p14:creationId xmlns:p14="http://schemas.microsoft.com/office/powerpoint/2010/main" val="815178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28180-8EA6-F1EF-B6AC-2FFE7CBC151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9B69B59-62AE-E78F-6729-6C315835A921}"/>
              </a:ext>
            </a:extLst>
          </p:cNvPr>
          <p:cNvSpPr>
            <a:spLocks noGrp="1"/>
          </p:cNvSpPr>
          <p:nvPr>
            <p:ph type="title"/>
          </p:nvPr>
        </p:nvSpPr>
        <p:spPr>
          <a:xfrm>
            <a:off x="838200" y="831206"/>
            <a:ext cx="10515600" cy="314198"/>
          </a:xfrm>
        </p:spPr>
        <p:txBody>
          <a:bodyPr/>
          <a:lstStyle/>
          <a:p>
            <a:r>
              <a:rPr lang="it-IT" dirty="0"/>
              <a:t>SLIDE 36: Implementazione del Flusso Logico nel Metodo </a:t>
            </a:r>
            <a:r>
              <a:rPr lang="it-IT" dirty="0" err="1"/>
              <a:t>Main</a:t>
            </a:r>
            <a:endParaRPr lang="it-IT" dirty="0"/>
          </a:p>
        </p:txBody>
      </p:sp>
      <p:sp>
        <p:nvSpPr>
          <p:cNvPr id="3" name="Contenuto della lezione">
            <a:extLst>
              <a:ext uri="{FF2B5EF4-FFF2-40B4-BE49-F238E27FC236}">
                <a16:creationId xmlns:a16="http://schemas.microsoft.com/office/drawing/2014/main" id="{9C33B83A-BECB-E720-A8BE-55AE027BACD7}"/>
              </a:ext>
            </a:extLst>
          </p:cNvPr>
          <p:cNvSpPr>
            <a:spLocks noGrp="1"/>
          </p:cNvSpPr>
          <p:nvPr>
            <p:ph idx="1"/>
          </p:nvPr>
        </p:nvSpPr>
        <p:spPr>
          <a:xfrm>
            <a:off x="1317319" y="1451127"/>
            <a:ext cx="9557362" cy="4803369"/>
          </a:xfrm>
        </p:spPr>
        <p:txBody>
          <a:bodyPr/>
          <a:lstStyle/>
          <a:p>
            <a:r>
              <a:rPr lang="it-IT" dirty="0"/>
              <a:t>Dopo aver strutturato la classe </a:t>
            </a:r>
            <a:r>
              <a:rPr lang="it-IT" dirty="0" err="1"/>
              <a:t>VotoScolastico</a:t>
            </a:r>
            <a:r>
              <a:rPr lang="it-IT" dirty="0"/>
              <a:t>, create la classe principale </a:t>
            </a:r>
            <a:r>
              <a:rPr lang="it-IT" dirty="0" err="1"/>
              <a:t>GestoreRegistro</a:t>
            </a:r>
            <a:r>
              <a:rPr lang="it-IT" dirty="0"/>
              <a:t> contenente il metodo </a:t>
            </a:r>
            <a:r>
              <a:rPr lang="it-IT" dirty="0" err="1"/>
              <a:t>main</a:t>
            </a:r>
            <a:r>
              <a:rPr lang="it-IT" dirty="0"/>
              <a:t>. </a:t>
            </a:r>
          </a:p>
          <a:p>
            <a:r>
              <a:rPr lang="it-IT" dirty="0"/>
              <a:t>All'interno del </a:t>
            </a:r>
            <a:r>
              <a:rPr lang="it-IT" dirty="0" err="1"/>
              <a:t>main</a:t>
            </a:r>
            <a:r>
              <a:rPr lang="it-IT" dirty="0"/>
              <a:t>, dovete simulare il comportamento di una pagella scolastica reale.</a:t>
            </a:r>
          </a:p>
          <a:p>
            <a:r>
              <a:rPr lang="it-IT" dirty="0"/>
              <a:t> Dichiarate e allocate un array di oggetti di tipo </a:t>
            </a:r>
            <a:r>
              <a:rPr lang="it-IT" dirty="0" err="1"/>
              <a:t>VotoScolastico</a:t>
            </a:r>
            <a:r>
              <a:rPr lang="it-IT" dirty="0"/>
              <a:t> capace di ospitare 5 elementi. Istanziate 5 voti diversi (ad esempio 2 di Informatica, 2 di Sistemi e 1 di Matematica) popolando l'array tramite l'operatore new. </a:t>
            </a:r>
          </a:p>
          <a:p>
            <a:r>
              <a:rPr lang="it-IT" dirty="0"/>
              <a:t>Inserite intenzionalmente un voto errato (es. un 12.0) per testare l'efficacia del sistema di validazione inserito nel costruttore. </a:t>
            </a:r>
          </a:p>
          <a:p>
            <a:r>
              <a:rPr lang="it-IT" dirty="0"/>
              <a:t>Successivamente, implementate un ciclo di iterazione (un ciclo for classico o un for-</a:t>
            </a:r>
            <a:r>
              <a:rPr lang="it-IT" dirty="0" err="1"/>
              <a:t>each</a:t>
            </a:r>
            <a:r>
              <a:rPr lang="it-IT" dirty="0"/>
              <a:t>) che scansioni l'array, stampi la scheda di ciascun voto sfruttando l'invocazione implicita del metodo </a:t>
            </a:r>
            <a:r>
              <a:rPr lang="it-IT" dirty="0" err="1"/>
              <a:t>toString</a:t>
            </a:r>
            <a:r>
              <a:rPr lang="it-IT" dirty="0"/>
              <a:t>() e accumuli i valori in una variabile locale per effettuare operazioni statistiche sul rendimento complessivo.</a:t>
            </a:r>
          </a:p>
        </p:txBody>
      </p:sp>
    </p:spTree>
    <p:extLst>
      <p:ext uri="{BB962C8B-B14F-4D97-AF65-F5344CB8AC3E}">
        <p14:creationId xmlns:p14="http://schemas.microsoft.com/office/powerpoint/2010/main" val="90632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9CE1-6954-6C78-0544-06B61F1F58C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058855D-BA15-3DD5-75E5-D072CFEBD977}"/>
              </a:ext>
            </a:extLst>
          </p:cNvPr>
          <p:cNvSpPr>
            <a:spLocks noGrp="1"/>
          </p:cNvSpPr>
          <p:nvPr>
            <p:ph type="title"/>
          </p:nvPr>
        </p:nvSpPr>
        <p:spPr>
          <a:xfrm>
            <a:off x="838200" y="831206"/>
            <a:ext cx="10515600" cy="314198"/>
          </a:xfrm>
        </p:spPr>
        <p:txBody>
          <a:bodyPr/>
          <a:lstStyle/>
          <a:p>
            <a:r>
              <a:rPr lang="it-IT" dirty="0"/>
              <a:t>SLIDE 37: Calcolo della Media e Formattazione dei Risultati</a:t>
            </a:r>
          </a:p>
        </p:txBody>
      </p:sp>
      <p:sp>
        <p:nvSpPr>
          <p:cNvPr id="3" name="Contenuto della lezione">
            <a:extLst>
              <a:ext uri="{FF2B5EF4-FFF2-40B4-BE49-F238E27FC236}">
                <a16:creationId xmlns:a16="http://schemas.microsoft.com/office/drawing/2014/main" id="{0DD1A4ED-C7D7-86CF-A41D-896D0261779D}"/>
              </a:ext>
            </a:extLst>
          </p:cNvPr>
          <p:cNvSpPr>
            <a:spLocks noGrp="1"/>
          </p:cNvSpPr>
          <p:nvPr>
            <p:ph idx="1"/>
          </p:nvPr>
        </p:nvSpPr>
        <p:spPr>
          <a:xfrm>
            <a:off x="1317319" y="1451127"/>
            <a:ext cx="9557362" cy="4803369"/>
          </a:xfrm>
        </p:spPr>
        <p:txBody>
          <a:bodyPr/>
          <a:lstStyle/>
          <a:p>
            <a:r>
              <a:rPr lang="it-IT" dirty="0"/>
              <a:t>Completate la logica del metodo </a:t>
            </a:r>
            <a:r>
              <a:rPr lang="it-IT" dirty="0" err="1"/>
              <a:t>main</a:t>
            </a:r>
            <a:r>
              <a:rPr lang="it-IT" dirty="0"/>
              <a:t> implementando il calcolo della media matematica dei voti presenti nell'array. </a:t>
            </a:r>
          </a:p>
          <a:p>
            <a:r>
              <a:rPr lang="it-IT" dirty="0"/>
              <a:t>Il ciclo deve sommare i valori estratti tramite il metodo getter </a:t>
            </a:r>
            <a:r>
              <a:rPr lang="it-IT" dirty="0" err="1"/>
              <a:t>getValoreVoto</a:t>
            </a:r>
            <a:r>
              <a:rPr lang="it-IT" dirty="0"/>
              <a:t>(). </a:t>
            </a:r>
          </a:p>
          <a:p>
            <a:r>
              <a:rPr lang="it-IT" dirty="0"/>
              <a:t>Al termine del ciclo, il programma deve calcolare la media dividendo la somma per la lunghezza dell'array. </a:t>
            </a:r>
          </a:p>
          <a:p>
            <a:r>
              <a:rPr lang="it-IT" dirty="0"/>
              <a:t>Implementate un controllo condizionale finale: se la media è uguale o superiore a 6.0, il sistema deve stampare a console un messaggio formattato del tipo: "Esito Anno Scolastico: PROMOSSO - Media: [Valore]"; in caso contrario, deve stampare un avviso di colore rosso o testuale indicando la non ammissione alla classe successiva. </a:t>
            </a:r>
          </a:p>
          <a:p>
            <a:r>
              <a:rPr lang="it-IT" dirty="0"/>
              <a:t>Questo esercizio allena l'abilità di estrarre dati in modo sicuro da strutture di oggetti complesse, una competenza base per qualsiasi sviluppatore software junior.</a:t>
            </a:r>
          </a:p>
        </p:txBody>
      </p:sp>
    </p:spTree>
    <p:extLst>
      <p:ext uri="{BB962C8B-B14F-4D97-AF65-F5344CB8AC3E}">
        <p14:creationId xmlns:p14="http://schemas.microsoft.com/office/powerpoint/2010/main" val="2365484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AEA93-8118-1FB1-1DDD-E62A60DA2FF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27366CCB-917C-B54B-842A-4C277C22BA93}"/>
              </a:ext>
            </a:extLst>
          </p:cNvPr>
          <p:cNvSpPr>
            <a:spLocks noGrp="1"/>
          </p:cNvSpPr>
          <p:nvPr>
            <p:ph type="title"/>
          </p:nvPr>
        </p:nvSpPr>
        <p:spPr>
          <a:xfrm>
            <a:off x="838200" y="831206"/>
            <a:ext cx="10515600" cy="314198"/>
          </a:xfrm>
        </p:spPr>
        <p:txBody>
          <a:bodyPr/>
          <a:lstStyle/>
          <a:p>
            <a:r>
              <a:rPr lang="it-IT" dirty="0"/>
              <a:t>SLIDE 38: Estensione Opzionale per l'Eccellenza: Conteggio Statico</a:t>
            </a:r>
          </a:p>
        </p:txBody>
      </p:sp>
      <p:sp>
        <p:nvSpPr>
          <p:cNvPr id="3" name="Contenuto della lezione">
            <a:extLst>
              <a:ext uri="{FF2B5EF4-FFF2-40B4-BE49-F238E27FC236}">
                <a16:creationId xmlns:a16="http://schemas.microsoft.com/office/drawing/2014/main" id="{6EFC94F3-79C7-98D8-4E52-7F5691FC8B35}"/>
              </a:ext>
            </a:extLst>
          </p:cNvPr>
          <p:cNvSpPr>
            <a:spLocks noGrp="1"/>
          </p:cNvSpPr>
          <p:nvPr>
            <p:ph idx="1"/>
          </p:nvPr>
        </p:nvSpPr>
        <p:spPr>
          <a:xfrm>
            <a:off x="1317319" y="1451127"/>
            <a:ext cx="9557362" cy="4803369"/>
          </a:xfrm>
        </p:spPr>
        <p:txBody>
          <a:bodyPr/>
          <a:lstStyle/>
          <a:p>
            <a:r>
              <a:rPr lang="it-IT" dirty="0"/>
              <a:t>Per gli studenti che mirano al voto massimo nella valutazione del laboratorio, viene richiesto un upgrade dell'architettura che sfrutti i membri statici. </a:t>
            </a:r>
          </a:p>
          <a:p>
            <a:r>
              <a:rPr lang="it-IT" dirty="0"/>
              <a:t>Aggiungete alla classe </a:t>
            </a:r>
            <a:r>
              <a:rPr lang="it-IT" dirty="0" err="1"/>
              <a:t>VotoScolastico</a:t>
            </a:r>
            <a:r>
              <a:rPr lang="it-IT" dirty="0"/>
              <a:t> una variabile privata statica </a:t>
            </a:r>
            <a:r>
              <a:rPr lang="it-IT" dirty="0" err="1"/>
              <a:t>totaleVotiInseriti</a:t>
            </a:r>
            <a:r>
              <a:rPr lang="it-IT" dirty="0"/>
              <a:t> e un contatore statico </a:t>
            </a:r>
            <a:r>
              <a:rPr lang="it-IT" dirty="0" err="1"/>
              <a:t>votiInsufficienti</a:t>
            </a:r>
            <a:r>
              <a:rPr lang="it-IT" dirty="0"/>
              <a:t>. </a:t>
            </a:r>
          </a:p>
          <a:p>
            <a:r>
              <a:rPr lang="it-IT" dirty="0"/>
              <a:t>Incrementate opportunamente questi contatori all'interno del costruttore ogni volta che viene creato un oggetto (il secondo contatore verrà incrementato solo se il voto è inferiore a 6.0). </a:t>
            </a:r>
          </a:p>
          <a:p>
            <a:r>
              <a:rPr lang="it-IT" dirty="0"/>
              <a:t>Create i relativi metodi getter statici. </a:t>
            </a:r>
          </a:p>
          <a:p>
            <a:r>
              <a:rPr lang="it-IT" dirty="0"/>
              <a:t>Nel </a:t>
            </a:r>
            <a:r>
              <a:rPr lang="it-IT" dirty="0" err="1"/>
              <a:t>main</a:t>
            </a:r>
            <a:r>
              <a:rPr lang="it-IT" dirty="0"/>
              <a:t>, prima della chiusura del programma, invocate questi metodi direttamente tramite la classe per stampare una statistica generale del registro, mostrando il numero totale di valutazioni registrate nel database temporaneo e la percentuale di insufficienze rilevate. </a:t>
            </a:r>
          </a:p>
          <a:p>
            <a:r>
              <a:rPr lang="it-IT" dirty="0"/>
              <a:t>Questo dimostra la piena comprensione della differenza tra stato globale e di istanza.</a:t>
            </a:r>
          </a:p>
        </p:txBody>
      </p:sp>
    </p:spTree>
    <p:extLst>
      <p:ext uri="{BB962C8B-B14F-4D97-AF65-F5344CB8AC3E}">
        <p14:creationId xmlns:p14="http://schemas.microsoft.com/office/powerpoint/2010/main" val="1166222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EFA7-D5ED-3529-D013-091077C5E33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25982A9-51D4-7BE7-959E-6C8731D794CC}"/>
              </a:ext>
            </a:extLst>
          </p:cNvPr>
          <p:cNvSpPr>
            <a:spLocks noGrp="1"/>
          </p:cNvSpPr>
          <p:nvPr>
            <p:ph type="title"/>
          </p:nvPr>
        </p:nvSpPr>
        <p:spPr>
          <a:xfrm>
            <a:off x="838200" y="831206"/>
            <a:ext cx="10515600" cy="314198"/>
          </a:xfrm>
        </p:spPr>
        <p:txBody>
          <a:bodyPr/>
          <a:lstStyle/>
          <a:p>
            <a:r>
              <a:rPr lang="it-IT" dirty="0"/>
              <a:t>SLIDE 39: Criteri di Valutazione delle Competenze Software</a:t>
            </a:r>
          </a:p>
        </p:txBody>
      </p:sp>
      <p:sp>
        <p:nvSpPr>
          <p:cNvPr id="3" name="Contenuto della lezione">
            <a:extLst>
              <a:ext uri="{FF2B5EF4-FFF2-40B4-BE49-F238E27FC236}">
                <a16:creationId xmlns:a16="http://schemas.microsoft.com/office/drawing/2014/main" id="{FDE7B814-B0F1-5DC4-619C-EA8EE488FF49}"/>
              </a:ext>
            </a:extLst>
          </p:cNvPr>
          <p:cNvSpPr>
            <a:spLocks noGrp="1"/>
          </p:cNvSpPr>
          <p:nvPr>
            <p:ph idx="1"/>
          </p:nvPr>
        </p:nvSpPr>
        <p:spPr>
          <a:xfrm>
            <a:off x="1317319" y="1451127"/>
            <a:ext cx="9557362" cy="4803369"/>
          </a:xfrm>
        </p:spPr>
        <p:txBody>
          <a:bodyPr/>
          <a:lstStyle/>
          <a:p>
            <a:r>
              <a:rPr lang="it-IT" dirty="0"/>
              <a:t>La valutazione di questo laboratorio finale non si baserà semplicemente sul fatto che il programma compili ed esegua le istruzioni senza crashare. Verranno applicati i criteri rigorosi dell'ingegneria del software moderno, mappati sulle competenze richieste dal mondo del lavoro:</a:t>
            </a:r>
          </a:p>
          <a:p>
            <a:r>
              <a:rPr lang="it-IT" b="1" dirty="0"/>
              <a:t>Rispetto dell'Incapsulamento (Peso 30%):</a:t>
            </a:r>
            <a:r>
              <a:rPr lang="it-IT" dirty="0"/>
              <a:t> Assenza totale di campi pubblici o package-private. Uso corretto dei modificatori private.</a:t>
            </a:r>
          </a:p>
          <a:p>
            <a:r>
              <a:rPr lang="it-IT" b="1" dirty="0"/>
              <a:t>Robustezza del Software (Peso 30%):</a:t>
            </a:r>
            <a:r>
              <a:rPr lang="it-IT" dirty="0"/>
              <a:t> Efficacia dei controlli condizionali nei setter e nei costruttori contro i dati corrotti.</a:t>
            </a:r>
          </a:p>
          <a:p>
            <a:r>
              <a:rPr lang="it-IT" b="1" dirty="0"/>
              <a:t>Pulizia e Architettura (Peso 20%):</a:t>
            </a:r>
            <a:r>
              <a:rPr lang="it-IT" dirty="0"/>
              <a:t> Corretto uso di </a:t>
            </a:r>
            <a:r>
              <a:rPr lang="it-IT" dirty="0" err="1"/>
              <a:t>this</a:t>
            </a:r>
            <a:r>
              <a:rPr lang="it-IT" dirty="0"/>
              <a:t>, dell'</a:t>
            </a:r>
            <a:r>
              <a:rPr lang="it-IT" dirty="0" err="1"/>
              <a:t>override</a:t>
            </a:r>
            <a:r>
              <a:rPr lang="it-IT" dirty="0"/>
              <a:t> di </a:t>
            </a:r>
            <a:r>
              <a:rPr lang="it-IT" dirty="0" err="1"/>
              <a:t>toString</a:t>
            </a:r>
            <a:r>
              <a:rPr lang="it-IT" dirty="0"/>
              <a:t>() e assenza di codice duplicato.</a:t>
            </a:r>
          </a:p>
          <a:p>
            <a:r>
              <a:rPr lang="it-IT" b="1" dirty="0"/>
              <a:t>Uso dei Membri Statici (Peso 20%):</a:t>
            </a:r>
            <a:r>
              <a:rPr lang="it-IT" dirty="0"/>
              <a:t> Corretta implementazione dei contatori globali senza conflitti di istanza.</a:t>
            </a:r>
          </a:p>
        </p:txBody>
      </p:sp>
    </p:spTree>
    <p:extLst>
      <p:ext uri="{BB962C8B-B14F-4D97-AF65-F5344CB8AC3E}">
        <p14:creationId xmlns:p14="http://schemas.microsoft.com/office/powerpoint/2010/main" val="4173699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C234-B2B8-CCEC-C6A9-30C687C817C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849276C-AEE8-0BC2-5FDA-0C1972B4963A}"/>
              </a:ext>
            </a:extLst>
          </p:cNvPr>
          <p:cNvSpPr>
            <a:spLocks noGrp="1"/>
          </p:cNvSpPr>
          <p:nvPr>
            <p:ph type="title"/>
          </p:nvPr>
        </p:nvSpPr>
        <p:spPr>
          <a:xfrm>
            <a:off x="838200" y="831206"/>
            <a:ext cx="10515600" cy="314198"/>
          </a:xfrm>
        </p:spPr>
        <p:txBody>
          <a:bodyPr/>
          <a:lstStyle/>
          <a:p>
            <a:r>
              <a:rPr lang="it-IT" dirty="0"/>
              <a:t>SLIDE 40: Conclusione del Modulo e Passaggio alle Java Collection</a:t>
            </a:r>
          </a:p>
        </p:txBody>
      </p:sp>
      <p:sp>
        <p:nvSpPr>
          <p:cNvPr id="3" name="Contenuto della lezione">
            <a:extLst>
              <a:ext uri="{FF2B5EF4-FFF2-40B4-BE49-F238E27FC236}">
                <a16:creationId xmlns:a16="http://schemas.microsoft.com/office/drawing/2014/main" id="{2F046600-AD29-673F-90A0-5402933B078B}"/>
              </a:ext>
            </a:extLst>
          </p:cNvPr>
          <p:cNvSpPr>
            <a:spLocks noGrp="1"/>
          </p:cNvSpPr>
          <p:nvPr>
            <p:ph idx="1"/>
          </p:nvPr>
        </p:nvSpPr>
        <p:spPr>
          <a:xfrm>
            <a:off x="1317319" y="1451127"/>
            <a:ext cx="9557362" cy="4803369"/>
          </a:xfrm>
        </p:spPr>
        <p:txBody>
          <a:bodyPr/>
          <a:lstStyle/>
          <a:p>
            <a:r>
              <a:rPr lang="it-IT" dirty="0"/>
              <a:t>Complimenti per aver completato il modulo SF03PR03 dedicato ai fondamenti della programmazione orientata agli oggetti. </a:t>
            </a:r>
          </a:p>
          <a:p>
            <a:r>
              <a:rPr lang="it-IT" dirty="0"/>
              <a:t>L'acquisizione di questa micro-competenza rappresenta la pietra miliare del vostro percorso di studi in informatica. </a:t>
            </a:r>
          </a:p>
          <a:p>
            <a:r>
              <a:rPr lang="it-IT" dirty="0"/>
              <a:t>Avete trasformato il vostro modo di pensare, passando da una logica puramente lineare a una visione architetturale basata su entità protette e cooperanti. </a:t>
            </a:r>
          </a:p>
          <a:p>
            <a:r>
              <a:rPr lang="it-IT" dirty="0"/>
              <a:t>Questa forma mentis vi permetterà di affrontare con estrema facilità il modulo successivo (SF03PR04 - Java Collection), in cui vedremo come gestire gruppi massivi di oggetti all'interno di strutture dati avanzate e dinamiche (come </a:t>
            </a:r>
            <a:r>
              <a:rPr lang="it-IT" dirty="0" err="1"/>
              <a:t>ArrayList</a:t>
            </a:r>
            <a:r>
              <a:rPr lang="it-IT" dirty="0"/>
              <a:t>, </a:t>
            </a:r>
            <a:r>
              <a:rPr lang="it-IT" dirty="0" err="1"/>
              <a:t>HashMap</a:t>
            </a:r>
            <a:r>
              <a:rPr lang="it-IT" dirty="0"/>
              <a:t> e </a:t>
            </a:r>
            <a:r>
              <a:rPr lang="it-IT" dirty="0" err="1"/>
              <a:t>LinkedList</a:t>
            </a:r>
            <a:r>
              <a:rPr lang="it-IT" dirty="0"/>
              <a:t>) fornite dal framework nativo di Java</a:t>
            </a:r>
            <a:r>
              <a:rPr lang="it-IT"/>
              <a:t>. </a:t>
            </a:r>
          </a:p>
          <a:p>
            <a:r>
              <a:rPr lang="it-IT"/>
              <a:t>Il </a:t>
            </a:r>
            <a:r>
              <a:rPr lang="it-IT" dirty="0"/>
              <a:t>codice pulito e l'ingegneria del software sono gli strumenti con cui progetterete il futuro tecnologico. Grazie per l'attenzione e buon lavoro in laboratorio!</a:t>
            </a:r>
          </a:p>
        </p:txBody>
      </p:sp>
    </p:spTree>
    <p:extLst>
      <p:ext uri="{BB962C8B-B14F-4D97-AF65-F5344CB8AC3E}">
        <p14:creationId xmlns:p14="http://schemas.microsoft.com/office/powerpoint/2010/main" val="1353198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E02355-4941-9C10-CA1D-649F04DB5143}"/>
              </a:ext>
            </a:extLst>
          </p:cNvPr>
          <p:cNvSpPr>
            <a:spLocks noGrp="1"/>
          </p:cNvSpPr>
          <p:nvPr>
            <p:ph type="title"/>
          </p:nvPr>
        </p:nvSpPr>
        <p:spPr/>
        <p:txBody>
          <a:bodyPr/>
          <a:lstStyle/>
          <a:p>
            <a:r>
              <a:rPr lang="it-IT" spc="0" dirty="0">
                <a:latin typeface="Neue Haas Grotesk Text Pro" panose="020B0504020202020204" pitchFamily="34" charset="0"/>
              </a:rPr>
              <a:t>GRAZIE PER L’ATTENZIONE</a:t>
            </a:r>
          </a:p>
        </p:txBody>
      </p:sp>
    </p:spTree>
    <p:extLst>
      <p:ext uri="{BB962C8B-B14F-4D97-AF65-F5344CB8AC3E}">
        <p14:creationId xmlns:p14="http://schemas.microsoft.com/office/powerpoint/2010/main" val="3003246572"/>
      </p:ext>
    </p:extLst>
  </p:cSld>
  <p:clrMapOvr>
    <a:masterClrMapping/>
  </p:clrMapOvr>
</p:sld>
</file>

<file path=ppt/theme/theme1.xml><?xml version="1.0" encoding="utf-8"?>
<a:theme xmlns:a="http://schemas.openxmlformats.org/drawingml/2006/main" name="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1b72fd8-e7d0-49ac-9795-d1b0bc6b7e1c" xsi:nil="true"/>
    <lcf76f155ced4ddcb4097134ff3c332f xmlns="8b3acf13-3a58-43b2-a29e-f23503de136d">
      <Terms xmlns="http://schemas.microsoft.com/office/infopath/2007/PartnerControls"/>
    </lcf76f155ced4ddcb4097134ff3c332f>
    <Argomento xmlns="8b3acf13-3a58-43b2-a29e-f23503de136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3455C6CD0B9BF4DB2CA3009677D9668" ma:contentTypeVersion="17" ma:contentTypeDescription="Create a new document." ma:contentTypeScope="" ma:versionID="6361f2605a906a42d9630ca59d277a8b">
  <xsd:schema xmlns:xsd="http://www.w3.org/2001/XMLSchema" xmlns:xs="http://www.w3.org/2001/XMLSchema" xmlns:p="http://schemas.microsoft.com/office/2006/metadata/properties" xmlns:ns2="8b3acf13-3a58-43b2-a29e-f23503de136d" xmlns:ns3="21b72fd8-e7d0-49ac-9795-d1b0bc6b7e1c" targetNamespace="http://schemas.microsoft.com/office/2006/metadata/properties" ma:root="true" ma:fieldsID="ae4eb9e2c998b5efed80ec6126f835fa" ns2:_="" ns3:_="">
    <xsd:import namespace="8b3acf13-3a58-43b2-a29e-f23503de136d"/>
    <xsd:import namespace="21b72fd8-e7d0-49ac-9795-d1b0bc6b7e1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Argoment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acf13-3a58-43b2-a29e-f23503de1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f31c764-9f90-46cb-b927-e7c76de0672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Argomento" ma:index="24" nillable="true" ma:displayName="Argomento" ma:format="Dropdown" ma:internalName="Argoment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b72fd8-e7d0-49ac-9795-d1b0bc6b7e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0603bf2-5c45-4900-ad6d-aa2e93470d68}" ma:internalName="TaxCatchAll" ma:showField="CatchAllData" ma:web="21b72fd8-e7d0-49ac-9795-d1b0bc6b7e1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66878A-54ED-4867-B478-72A29DC19B89}">
  <ds:schemaRefs>
    <ds:schemaRef ds:uri="http://schemas.microsoft.com/office/2006/metadata/properties"/>
    <ds:schemaRef ds:uri="http://schemas.microsoft.com/office/infopath/2007/PartnerControls"/>
    <ds:schemaRef ds:uri="21b72fd8-e7d0-49ac-9795-d1b0bc6b7e1c"/>
    <ds:schemaRef ds:uri="8b3acf13-3a58-43b2-a29e-f23503de136d"/>
  </ds:schemaRefs>
</ds:datastoreItem>
</file>

<file path=customXml/itemProps2.xml><?xml version="1.0" encoding="utf-8"?>
<ds:datastoreItem xmlns:ds="http://schemas.openxmlformats.org/officeDocument/2006/customXml" ds:itemID="{70468F63-B318-4D5F-A1DF-86BE98AC22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3acf13-3a58-43b2-a29e-f23503de136d"/>
    <ds:schemaRef ds:uri="21b72fd8-e7d0-49ac-9795-d1b0bc6b7e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C65656-B2D8-4C19-A873-091B25A5212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1517</TotalTime>
  <Words>6294</Words>
  <Application>Microsoft Office PowerPoint</Application>
  <PresentationFormat>Widescreen</PresentationFormat>
  <Paragraphs>263</Paragraphs>
  <Slides>43</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43</vt:i4>
      </vt:variant>
    </vt:vector>
  </HeadingPairs>
  <TitlesOfParts>
    <vt:vector size="49" baseType="lpstr">
      <vt:lpstr>Arial</vt:lpstr>
      <vt:lpstr>Calibri</vt:lpstr>
      <vt:lpstr>Consolas</vt:lpstr>
      <vt:lpstr>Neue Haas Grotesk Display Pro</vt:lpstr>
      <vt:lpstr>Neue Haas Grotesk Text Pro</vt:lpstr>
      <vt:lpstr>Intro</vt:lpstr>
      <vt:lpstr>Presentazione standard di PowerPoint</vt:lpstr>
      <vt:lpstr>Presentazione standard di PowerPoint</vt:lpstr>
      <vt:lpstr>SEZIONE 1: INTRODUZIONE E IL PASSAGGIO DI PARADIGMA (Slide 1 - 6) SLIDE 1: Titolo del Modulo e Obiettivi Competitivi</vt:lpstr>
      <vt:lpstr>SLIDE 2: Limiti della Programmazione Procedurale negli ITI</vt:lpstr>
      <vt:lpstr>SLIDE 3: La Filosofia Object-Oriented e i Sistemi Reali</vt:lpstr>
      <vt:lpstr>SLIDE 4: I Quattro Pilastri dell'OOP – Una Mappa Concettuale</vt:lpstr>
      <vt:lpstr>SLIDE 5: Gestione della Memoria in Java: Stack vs Heap</vt:lpstr>
      <vt:lpstr>SLIDE 6: Il Ruolo del Garbage Collector nella Gestione dello Heap</vt:lpstr>
      <vt:lpstr>SEZIONE 2: CLASSI, OGGETTI E CONTRATTI SINTATTICI (Slide 7 - 15) SLIDE 7: Unità Didattica 1 – Definizione di Classe come Tipo di Dato Tag Didattico: Conoscenza (Paragrafo 1)</vt:lpstr>
      <vt:lpstr>SLIDE 8: Dichiarare una Classe: Regole di Naming e Struttura File</vt:lpstr>
      <vt:lpstr>SLIDE 9: Variabili di Istanza vs Variabili Locali</vt:lpstr>
      <vt:lpstr>SLIDE 10: Anatomia dei Metodi e il Riferimento 'this'</vt:lpstr>
      <vt:lpstr>SLIDE 11: Il Ruolo dei Costruttori nel Ciclo di Vita dell'Oggetto</vt:lpstr>
      <vt:lpstr>SLIDE 12: Il Meccanismo di Overloading dei Costruttori</vt:lpstr>
      <vt:lpstr>SLIDE 13: La Chiamata tra Costruttori tramite 'this()'</vt:lpstr>
      <vt:lpstr>SLIDE 14: Esercizio Guidato – Progettazione della Classe ContoCorrente</vt:lpstr>
      <vt:lpstr>SLIDE 15: Istanze Multiple e Isolamento dello Stato in Memoria</vt:lpstr>
      <vt:lpstr>SEZIONE 3: IL PILASTRO DELL'INCAPSULAMENTO (Slide 16 - 24) SLIDE 16: Unità Didattica 2 – Il Pilastro dell'Incapsulamento</vt:lpstr>
      <vt:lpstr>SLIDE 17: Modificatori di Accesso e Livelli di Visibilità</vt:lpstr>
      <vt:lpstr>SLIDE 18: Perché l'Accesso Diretto ai Campi è un Pericolo Ingegneristico</vt:lpstr>
      <vt:lpstr>SLIDE 19: Convenzioni Standard per i Metodi Getter</vt:lpstr>
      <vt:lpstr>SLIDE 20: Convenzioni Standard per i Metodi Setter</vt:lpstr>
      <vt:lpstr>SLIDE 21: Esercizio Guidato – Validazione dei Dati nei Setter</vt:lpstr>
      <vt:lpstr>SLIDE 22: Mutabilità vs Immutabilità degli Oggetti</vt:lpstr>
      <vt:lpstr>SLIDE 23: Oggetti come Parametri dei Metodi: Passaggio per Riferimento</vt:lpstr>
      <vt:lpstr>SLIDE 24: Esercizio: Trasferimento Fondi tra due Conti Correnti</vt:lpstr>
      <vt:lpstr>SEZIONE 4: ELEMENTI STATICI E PROGETTAZIONE DI CLASSI (Slide 25 - 33) SLIDE 25: Unità Didattica 3 – I Membri Statici: la Parola Chiave 'static'</vt:lpstr>
      <vt:lpstr>SLIDE 26: Variabili Statiche come Contatori di Istanze</vt:lpstr>
      <vt:lpstr>SLIDE 27: Limitazioni dei Metodi Statici e il Contesto di Istanza</vt:lpstr>
      <vt:lpstr>SLIDE 28: Le Costanti in Java: Combinazione di 'static' e 'final'</vt:lpstr>
      <vt:lpstr>SLIDE 29: Esercizio Guidato – Generatore Automatico di Numeri di Conto</vt:lpstr>
      <vt:lpstr>SLIDE 30: Introduzione alla Documentazione del Codice: JavaDoc</vt:lpstr>
      <vt:lpstr>SLIDE 31: Il Metodo toString() e la Rappresentazione degli Oggetti</vt:lpstr>
      <vt:lpstr>SLIDE 32: Esercizio Guidato – Formattazione e Override di toString()</vt:lpstr>
      <vt:lpstr>SLIDE 33: Confronto tra Oggetti: l'Operatore '==' vs il Metodo equals()</vt:lpstr>
      <vt:lpstr>SEZIONE 5: PROVA PRATICA DI VALUTAZIONE (Slide 34 - 40) SLIDE 34: Unità Didattica 4 – Laboratorio Finale e Compito Autentico</vt:lpstr>
      <vt:lpstr>SLIDE 35: Requisiti Dettagliati della Classe VotoScolastico</vt:lpstr>
      <vt:lpstr>SLIDE 36: Implementazione del Flusso Logico nel Metodo Main</vt:lpstr>
      <vt:lpstr>SLIDE 37: Calcolo della Media e Formattazione dei Risultati</vt:lpstr>
      <vt:lpstr>SLIDE 38: Estensione Opzionale per l'Eccellenza: Conteggio Statico</vt:lpstr>
      <vt:lpstr>SLIDE 39: Criteri di Valutazione delle Competenze Software</vt:lpstr>
      <vt:lpstr>SLIDE 40: Conclusione del Modulo e Passaggio alle Java Collection</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Davide Grillo</dc:creator>
  <cp:lastModifiedBy>Mirko Onorato</cp:lastModifiedBy>
  <cp:revision>304</cp:revision>
  <dcterms:created xsi:type="dcterms:W3CDTF">2023-09-21T07:59:23Z</dcterms:created>
  <dcterms:modified xsi:type="dcterms:W3CDTF">2026-07-07T21:58:41Z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0x010100D3455C6CD0B9BF4DB2CA3009677D9668</vt:lpwstr>
  </property>
</Properties>
</file>