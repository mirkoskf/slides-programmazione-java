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21"/>
  </p:notesMasterIdLst>
  <p:handoutMasterIdLst>
    <p:handoutMasterId r:id="rId22"/>
  </p:handoutMasterIdLst>
  <p:sldIdLst>
    <p:sldId id="262" r:id="rId5"/>
    <p:sldId id="259" r:id="rId6"/>
    <p:sldId id="263" r:id="rId7"/>
    <p:sldId id="258" r:id="rId8"/>
    <p:sldId id="264" r:id="rId9"/>
    <p:sldId id="265" r:id="rId10"/>
    <p:sldId id="266" r:id="rId11"/>
    <p:sldId id="267" r:id="rId12"/>
    <p:sldId id="268" r:id="rId13"/>
    <p:sldId id="269" r:id="rId14"/>
    <p:sldId id="270" r:id="rId15"/>
    <p:sldId id="271" r:id="rId16"/>
    <p:sldId id="272" r:id="rId17"/>
    <p:sldId id="273" r:id="rId18"/>
    <p:sldId id="274" r:id="rId19"/>
    <p:sldId id="261" r:id="rId20"/>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rko Ony" initials="MO" lastIdx="3" clrIdx="0">
    <p:extLst>
      <p:ext uri="{19B8F6BF-5375-455C-9EA6-DF929625EA0E}">
        <p15:presenceInfo xmlns:p15="http://schemas.microsoft.com/office/powerpoint/2012/main" userId="cdc90d7e3e97d33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1FE2"/>
    <a:srgbClr val="0C0C0D"/>
    <a:srgbClr val="FFDB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20" autoAdjust="0"/>
    <p:restoredTop sz="92907" autoAdjust="0"/>
  </p:normalViewPr>
  <p:slideViewPr>
    <p:cSldViewPr snapToGrid="0" showGuides="1">
      <p:cViewPr varScale="1">
        <p:scale>
          <a:sx n="105" d="100"/>
          <a:sy n="105" d="100"/>
        </p:scale>
        <p:origin x="630"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56" d="100"/>
          <a:sy n="56" d="100"/>
        </p:scale>
        <p:origin x="1902"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8BF59EF6-0FF4-3C26-C2BB-DB4C816469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FA684938-E2E5-17C8-EF87-D39DC23A0CE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B567D21-D55F-4A7B-94FF-7608FD989819}" type="datetimeFigureOut">
              <a:rPr lang="it-IT" smtClean="0"/>
              <a:t>10/07/2026</a:t>
            </a:fld>
            <a:endParaRPr lang="it-IT"/>
          </a:p>
        </p:txBody>
      </p:sp>
      <p:sp>
        <p:nvSpPr>
          <p:cNvPr id="4" name="Segnaposto piè di pagina 3">
            <a:extLst>
              <a:ext uri="{FF2B5EF4-FFF2-40B4-BE49-F238E27FC236}">
                <a16:creationId xmlns:a16="http://schemas.microsoft.com/office/drawing/2014/main" id="{71588DC1-54E0-DA10-6330-B5B85E54BE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4BF496F1-A8FC-84F6-A381-661BDD027C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1F2323-8915-4474-89BB-0944B80755B1}" type="slidenum">
              <a:rPr lang="it-IT" smtClean="0"/>
              <a:t>‹N›</a:t>
            </a:fld>
            <a:endParaRPr lang="it-IT"/>
          </a:p>
        </p:txBody>
      </p:sp>
    </p:spTree>
    <p:extLst>
      <p:ext uri="{BB962C8B-B14F-4D97-AF65-F5344CB8AC3E}">
        <p14:creationId xmlns:p14="http://schemas.microsoft.com/office/powerpoint/2010/main" val="45145869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0B2B73-14A8-482F-9803-A95CC73B5B34}" type="datetimeFigureOut">
              <a:rPr lang="it-IT" smtClean="0"/>
              <a:t>10/07/2026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FDE81-C331-4896-AC61-55381248B14B}" type="slidenum">
              <a:rPr lang="it-IT" smtClean="0"/>
              <a:t>‹N›</a:t>
            </a:fld>
            <a:endParaRPr lang="it-IT"/>
          </a:p>
        </p:txBody>
      </p:sp>
    </p:spTree>
    <p:extLst>
      <p:ext uri="{BB962C8B-B14F-4D97-AF65-F5344CB8AC3E}">
        <p14:creationId xmlns:p14="http://schemas.microsoft.com/office/powerpoint/2010/main" val="446805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788FDE81-C331-4896-AC61-55381248B14B}" type="slidenum">
              <a:rPr lang="it-IT" smtClean="0"/>
              <a:t>2</a:t>
            </a:fld>
            <a:endParaRPr lang="it-IT"/>
          </a:p>
        </p:txBody>
      </p:sp>
    </p:spTree>
    <p:extLst>
      <p:ext uri="{BB962C8B-B14F-4D97-AF65-F5344CB8AC3E}">
        <p14:creationId xmlns:p14="http://schemas.microsoft.com/office/powerpoint/2010/main" val="13472482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jp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Intro">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pic>
        <p:nvPicPr>
          <p:cNvPr id="3" name="Logo">
            <a:extLst>
              <a:ext uri="{FF2B5EF4-FFF2-40B4-BE49-F238E27FC236}">
                <a16:creationId xmlns:a16="http://schemas.microsoft.com/office/drawing/2014/main" id="{4C834844-A2F7-AC9C-2087-6061FCF61E4E}"/>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81312" y="3055807"/>
            <a:ext cx="6429375" cy="746384"/>
          </a:xfrm>
          <a:prstGeom prst="rect">
            <a:avLst/>
          </a:prstGeom>
        </p:spPr>
      </p:pic>
      <p:sp>
        <p:nvSpPr>
          <p:cNvPr id="2" name="Segnaposto numero diapositiva 1">
            <a:extLst>
              <a:ext uri="{FF2B5EF4-FFF2-40B4-BE49-F238E27FC236}">
                <a16:creationId xmlns:a16="http://schemas.microsoft.com/office/drawing/2014/main" id="{38E5D1B6-A890-892D-9858-91BBCF4C4D74}"/>
              </a:ext>
            </a:extLst>
          </p:cNvPr>
          <p:cNvSpPr>
            <a:spLocks noGrp="1"/>
          </p:cNvSpPr>
          <p:nvPr>
            <p:ph type="sldNum" sz="quarter" idx="10"/>
          </p:nvPr>
        </p:nvSpPr>
        <p:spPr>
          <a:xfrm>
            <a:off x="8610600" y="6356350"/>
            <a:ext cx="2743200" cy="365125"/>
          </a:xfrm>
          <a:prstGeom prst="rect">
            <a:avLst/>
          </a:prstGeom>
        </p:spPr>
        <p:txBody>
          <a:bodyPr/>
          <a:lstStyle>
            <a:lvl1pPr>
              <a:defRPr>
                <a:solidFill>
                  <a:schemeClr val="tx1"/>
                </a:solidFill>
              </a:defRPr>
            </a:lvl1pPr>
          </a:lstStyle>
          <a:p>
            <a:fld id="{EE05E91E-B103-4211-9892-B5CF4BF06646}" type="slidenum">
              <a:rPr lang="it-IT" smtClean="0"/>
              <a:pPr/>
              <a:t>‹N›</a:t>
            </a:fld>
            <a:endParaRPr lang="it-IT"/>
          </a:p>
        </p:txBody>
      </p:sp>
    </p:spTree>
    <p:extLst>
      <p:ext uri="{BB962C8B-B14F-4D97-AF65-F5344CB8AC3E}">
        <p14:creationId xmlns:p14="http://schemas.microsoft.com/office/powerpoint/2010/main" val="3183160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olo della lezione">
    <p:spTree>
      <p:nvGrpSpPr>
        <p:cNvPr id="1" name=""/>
        <p:cNvGrpSpPr/>
        <p:nvPr/>
      </p:nvGrpSpPr>
      <p:grpSpPr>
        <a:xfrm>
          <a:off x="0" y="0"/>
          <a:ext cx="0" cy="0"/>
          <a:chOff x="0" y="0"/>
          <a:chExt cx="0" cy="0"/>
        </a:xfrm>
      </p:grpSpPr>
      <p:pic>
        <p:nvPicPr>
          <p:cNvPr id="10" name="Immagine 9">
            <a:extLst>
              <a:ext uri="{FF2B5EF4-FFF2-40B4-BE49-F238E27FC236}">
                <a16:creationId xmlns:a16="http://schemas.microsoft.com/office/drawing/2014/main" id="{03BCE473-8FC3-9F4F-E292-BFC28ABE7B25}"/>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harpenSoften amount="-100000"/>
                    </a14:imgEffect>
                    <a14:imgEffect>
                      <a14:saturation sat="66000"/>
                    </a14:imgEffect>
                  </a14:imgLayer>
                </a14:imgProps>
              </a:ext>
              <a:ext uri="{28A0092B-C50C-407E-A947-70E740481C1C}">
                <a14:useLocalDpi xmlns:a14="http://schemas.microsoft.com/office/drawing/2010/main" val="0"/>
              </a:ext>
            </a:extLst>
          </a:blip>
          <a:srcRect t="7498" b="7498"/>
          <a:stretch/>
        </p:blipFill>
        <p:spPr>
          <a:xfrm>
            <a:off x="8" y="4"/>
            <a:ext cx="12191984" cy="6857991"/>
          </a:xfrm>
          <a:prstGeom prst="rect">
            <a:avLst/>
          </a:prstGeom>
        </p:spPr>
      </p:pic>
      <p:sp>
        <p:nvSpPr>
          <p:cNvPr id="2" name="Titolo 1">
            <a:extLst>
              <a:ext uri="{FF2B5EF4-FFF2-40B4-BE49-F238E27FC236}">
                <a16:creationId xmlns:a16="http://schemas.microsoft.com/office/drawing/2014/main" id="{D46FDB36-122C-6ED3-0E68-A04440759196}"/>
              </a:ext>
            </a:extLst>
          </p:cNvPr>
          <p:cNvSpPr>
            <a:spLocks noGrp="1"/>
          </p:cNvSpPr>
          <p:nvPr>
            <p:ph type="ctrTitle" hasCustomPrompt="1"/>
          </p:nvPr>
        </p:nvSpPr>
        <p:spPr>
          <a:xfrm>
            <a:off x="4749604" y="2315869"/>
            <a:ext cx="2692791" cy="55802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2800" b="1" kern="1200">
                <a:solidFill>
                  <a:schemeClr val="bg1"/>
                </a:solidFill>
                <a:latin typeface="Neue Haas Grotesk Display Pro" panose="020D0304030502050203" pitchFamily="34" charset="0"/>
                <a:ea typeface="+mj-ea"/>
                <a:cs typeface="+mj-cs"/>
              </a:defRPr>
            </a:lvl1pPr>
          </a:lstStyle>
          <a:p>
            <a:r>
              <a:rPr lang="it-IT" dirty="0"/>
              <a:t>Lezione n</a:t>
            </a:r>
          </a:p>
        </p:txBody>
      </p:sp>
      <p:sp>
        <p:nvSpPr>
          <p:cNvPr id="3" name="Sottotitolo 2">
            <a:extLst>
              <a:ext uri="{FF2B5EF4-FFF2-40B4-BE49-F238E27FC236}">
                <a16:creationId xmlns:a16="http://schemas.microsoft.com/office/drawing/2014/main" id="{C0F8F589-6BFD-59A4-6E34-32CA9C30E50B}"/>
              </a:ext>
            </a:extLst>
          </p:cNvPr>
          <p:cNvSpPr>
            <a:spLocks noGrp="1"/>
          </p:cNvSpPr>
          <p:nvPr>
            <p:ph type="subTitle" idx="1" hasCustomPrompt="1"/>
          </p:nvPr>
        </p:nvSpPr>
        <p:spPr>
          <a:xfrm>
            <a:off x="838200" y="3152912"/>
            <a:ext cx="10515600" cy="67281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4400" b="1" kern="1200">
                <a:solidFill>
                  <a:schemeClr val="bg1"/>
                </a:solidFill>
                <a:latin typeface="Neue Haas Grotesk Display Pro" panose="020D0304030502050203"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dirty="0"/>
              <a:t>TITOLO DELLA LEZIONE</a:t>
            </a:r>
          </a:p>
        </p:txBody>
      </p:sp>
      <p:sp>
        <p:nvSpPr>
          <p:cNvPr id="7" name="Autore">
            <a:extLst>
              <a:ext uri="{FF2B5EF4-FFF2-40B4-BE49-F238E27FC236}">
                <a16:creationId xmlns:a16="http://schemas.microsoft.com/office/drawing/2014/main" id="{21C9F551-AFE9-0973-2117-C6CBF8585A06}"/>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bg1"/>
                </a:solidFill>
                <a:latin typeface="Arial"/>
                <a:cs typeface="Arial"/>
              </a:rPr>
              <a:t>Autore: Mirko Onorato</a:t>
            </a:r>
            <a:endParaRPr lang="it-IT" sz="950" spc="300" dirty="0">
              <a:solidFill>
                <a:schemeClr val="bg1"/>
              </a:solidFill>
              <a:latin typeface="Arial"/>
              <a:cs typeface="Arial"/>
            </a:endParaRPr>
          </a:p>
        </p:txBody>
      </p:sp>
      <p:pic>
        <p:nvPicPr>
          <p:cNvPr id="8" name="Logo">
            <a:extLst>
              <a:ext uri="{FF2B5EF4-FFF2-40B4-BE49-F238E27FC236}">
                <a16:creationId xmlns:a16="http://schemas.microsoft.com/office/drawing/2014/main" id="{C4425D4D-A67B-8DB9-9A03-E768C2FD3E34}"/>
              </a:ext>
            </a:extLst>
          </p:cNvPr>
          <p:cNvPicPr>
            <a:picLocks noChangeAspect="1"/>
          </p:cNvPicPr>
          <p:nvPr userDrawn="1"/>
        </p:nvPicPr>
        <p:blipFill>
          <a:blip r:embed="rId4">
            <a:lum bright="100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18488" y="285335"/>
            <a:ext cx="2211023" cy="314198"/>
          </a:xfrm>
          <a:prstGeom prst="rect">
            <a:avLst/>
          </a:prstGeom>
        </p:spPr>
      </p:pic>
      <p:sp>
        <p:nvSpPr>
          <p:cNvPr id="13" name="Segnaposto numero diapositiva 6" hidden="1">
            <a:extLst>
              <a:ext uri="{FF2B5EF4-FFF2-40B4-BE49-F238E27FC236}">
                <a16:creationId xmlns:a16="http://schemas.microsoft.com/office/drawing/2014/main" id="{F8AAF250-B3FA-F808-9996-FA310B7EEAE0}"/>
              </a:ext>
            </a:extLst>
          </p:cNvPr>
          <p:cNvSpPr>
            <a:spLocks noGrp="1"/>
          </p:cNvSpPr>
          <p:nvPr>
            <p:ph type="sldNum" sz="quarter" idx="10"/>
          </p:nvPr>
        </p:nvSpPr>
        <p:spPr>
          <a:xfrm>
            <a:off x="8610600" y="6356350"/>
            <a:ext cx="2743200" cy="365125"/>
          </a:xfrm>
          <a:prstGeom prst="rect">
            <a:avLst/>
          </a:prstGeom>
        </p:spPr>
        <p:txBody>
          <a:bodyPr/>
          <a:lstStyle>
            <a:lvl1pPr>
              <a:defRPr>
                <a:solidFill>
                  <a:schemeClr val="bg1"/>
                </a:solidFill>
              </a:defRPr>
            </a:lvl1pPr>
          </a:lstStyle>
          <a:p>
            <a:fld id="{EE05E91E-B103-4211-9892-B5CF4BF06646}" type="slidenum">
              <a:rPr lang="it-IT" smtClean="0"/>
              <a:pPr/>
              <a:t>‹N›</a:t>
            </a:fld>
            <a:endParaRPr lang="it-IT"/>
          </a:p>
        </p:txBody>
      </p:sp>
      <p:pic>
        <p:nvPicPr>
          <p:cNvPr id="4" name="object 2">
            <a:extLst>
              <a:ext uri="{FF2B5EF4-FFF2-40B4-BE49-F238E27FC236}">
                <a16:creationId xmlns:a16="http://schemas.microsoft.com/office/drawing/2014/main" id="{481FF4BB-6EC3-F2A7-6542-58D51086A02D}"/>
              </a:ext>
            </a:extLst>
          </p:cNvPr>
          <p:cNvPicPr preferRelativeResize="0"/>
          <p:nvPr userDrawn="1"/>
        </p:nvPicPr>
        <p:blipFill rotWithShape="1">
          <a:blip r:embed="rId6" cstate="print"/>
          <a:srcRect l="1386" t="187" r="342" b="95555"/>
          <a:stretch/>
        </p:blipFill>
        <p:spPr>
          <a:xfrm>
            <a:off x="0" y="0"/>
            <a:ext cx="12191992" cy="203059"/>
          </a:xfrm>
          <a:prstGeom prst="rect">
            <a:avLst/>
          </a:prstGeom>
        </p:spPr>
      </p:pic>
    </p:spTree>
    <p:extLst>
      <p:ext uri="{BB962C8B-B14F-4D97-AF65-F5344CB8AC3E}">
        <p14:creationId xmlns:p14="http://schemas.microsoft.com/office/powerpoint/2010/main" val="3682285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L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698DC6F-CD43-0811-A979-B271C0C3AF9E}"/>
              </a:ext>
            </a:extLst>
          </p:cNvPr>
          <p:cNvSpPr>
            <a:spLocks noGrp="1"/>
          </p:cNvSpPr>
          <p:nvPr>
            <p:ph type="title"/>
          </p:nvPr>
        </p:nvSpPr>
        <p:spPr>
          <a:xfrm>
            <a:off x="838200" y="831206"/>
            <a:ext cx="10515600" cy="314198"/>
          </a:xfrm>
          <a:prstGeom prst="rect">
            <a:avLst/>
          </a:prstGeom>
        </p:spPr>
        <p:txBody>
          <a:bodyPr/>
          <a:lstStyle>
            <a:lvl1pPr>
              <a:defRPr sz="2200" b="1">
                <a:solidFill>
                  <a:srgbClr val="171FE2"/>
                </a:solidFill>
                <a:latin typeface="Neue Haas Grotesk Text Pro" panose="020B0504020202020204" pitchFamily="34" charset="0"/>
              </a:defRPr>
            </a:lvl1pPr>
          </a:lstStyle>
          <a:p>
            <a:endParaRPr lang="it-IT" dirty="0"/>
          </a:p>
        </p:txBody>
      </p:sp>
      <p:sp>
        <p:nvSpPr>
          <p:cNvPr id="3" name="Segnaposto contenuto 2">
            <a:extLst>
              <a:ext uri="{FF2B5EF4-FFF2-40B4-BE49-F238E27FC236}">
                <a16:creationId xmlns:a16="http://schemas.microsoft.com/office/drawing/2014/main" id="{722E0480-F66A-DF55-F8D6-E7F6741750C0}"/>
              </a:ext>
            </a:extLst>
          </p:cNvPr>
          <p:cNvSpPr>
            <a:spLocks noGrp="1"/>
          </p:cNvSpPr>
          <p:nvPr>
            <p:ph idx="1" hasCustomPrompt="1"/>
          </p:nvPr>
        </p:nvSpPr>
        <p:spPr>
          <a:xfrm>
            <a:off x="418488" y="1399311"/>
            <a:ext cx="11355024" cy="4803369"/>
          </a:xfrm>
          <a:prstGeom prst="rect">
            <a:avLst/>
          </a:prstGeom>
        </p:spPr>
        <p:txBody>
          <a:bodyPr/>
          <a:lstStyle>
            <a:lvl1pPr marL="0" indent="0">
              <a:buNone/>
              <a:defRPr sz="1800">
                <a:latin typeface="Neue Haas Grotesk Text Pro" panose="020B0504020202020204" pitchFamily="34" charset="0"/>
              </a:defRPr>
            </a:lvl1pPr>
          </a:lstStyle>
          <a:p>
            <a:pPr lvl="0"/>
            <a:r>
              <a:rPr lang="it-IT" dirty="0"/>
              <a:t>Contenuto della lezione</a:t>
            </a:r>
          </a:p>
        </p:txBody>
      </p:sp>
      <p:sp>
        <p:nvSpPr>
          <p:cNvPr id="6" name="Segnaposto numero diapositiva 5">
            <a:extLst>
              <a:ext uri="{FF2B5EF4-FFF2-40B4-BE49-F238E27FC236}">
                <a16:creationId xmlns:a16="http://schemas.microsoft.com/office/drawing/2014/main" id="{E4F14CEF-205B-0C08-0A06-82B440095954}"/>
              </a:ext>
            </a:extLst>
          </p:cNvPr>
          <p:cNvSpPr>
            <a:spLocks noGrp="1"/>
          </p:cNvSpPr>
          <p:nvPr>
            <p:ph type="sldNum" sz="quarter" idx="12"/>
          </p:nvPr>
        </p:nvSpPr>
        <p:spPr>
          <a:xfrm>
            <a:off x="8610600" y="6356350"/>
            <a:ext cx="2743200" cy="365125"/>
          </a:xfrm>
          <a:prstGeom prst="rect">
            <a:avLst/>
          </a:prstGeom>
        </p:spPr>
        <p:txBody>
          <a:bodyPr/>
          <a:lstStyle>
            <a:lvl1pPr>
              <a:defRPr b="1"/>
            </a:lvl1pPr>
          </a:lstStyle>
          <a:p>
            <a:fld id="{EE05E91E-B103-4211-9892-B5CF4BF06646}" type="slidenum">
              <a:rPr lang="it-IT" smtClean="0"/>
              <a:pPr/>
              <a:t>‹N›</a:t>
            </a:fld>
            <a:endParaRPr lang="it-IT" dirty="0"/>
          </a:p>
        </p:txBody>
      </p:sp>
      <p:sp>
        <p:nvSpPr>
          <p:cNvPr id="7" name="Rettangolo 6">
            <a:extLst>
              <a:ext uri="{FF2B5EF4-FFF2-40B4-BE49-F238E27FC236}">
                <a16:creationId xmlns:a16="http://schemas.microsoft.com/office/drawing/2014/main" id="{7E4DB6AF-4CA5-F1AF-60DE-4AC9236D4298}"/>
              </a:ext>
            </a:extLst>
          </p:cNvPr>
          <p:cNvSpPr/>
          <p:nvPr userDrawn="1"/>
        </p:nvSpPr>
        <p:spPr>
          <a:xfrm>
            <a:off x="0" y="-2"/>
            <a:ext cx="12192000" cy="179193"/>
          </a:xfrm>
          <a:prstGeom prst="rect">
            <a:avLst/>
          </a:prstGeom>
          <a:solidFill>
            <a:srgbClr val="171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object 4">
            <a:extLst>
              <a:ext uri="{FF2B5EF4-FFF2-40B4-BE49-F238E27FC236}">
                <a16:creationId xmlns:a16="http://schemas.microsoft.com/office/drawing/2014/main" id="{590B833C-D2A8-59BC-D3D6-DC5153499B29}"/>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tx1"/>
                </a:solidFill>
                <a:latin typeface="Arial"/>
                <a:cs typeface="Arial"/>
              </a:rPr>
              <a:t>Autore: Mirko Onorato</a:t>
            </a:r>
            <a:endParaRPr lang="it-IT" sz="950" spc="300" dirty="0">
              <a:solidFill>
                <a:schemeClr val="tx1"/>
              </a:solidFill>
              <a:latin typeface="Arial"/>
              <a:cs typeface="Arial"/>
            </a:endParaRPr>
          </a:p>
        </p:txBody>
      </p:sp>
      <p:pic>
        <p:nvPicPr>
          <p:cNvPr id="9" name="Elemento grafico 8">
            <a:extLst>
              <a:ext uri="{FF2B5EF4-FFF2-40B4-BE49-F238E27FC236}">
                <a16:creationId xmlns:a16="http://schemas.microsoft.com/office/drawing/2014/main" id="{545164C9-21E1-0EF7-17C2-2E5528B7FC8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8488" y="285335"/>
            <a:ext cx="2211023" cy="314198"/>
          </a:xfrm>
          <a:prstGeom prst="rect">
            <a:avLst/>
          </a:prstGeom>
        </p:spPr>
      </p:pic>
    </p:spTree>
    <p:extLst>
      <p:ext uri="{BB962C8B-B14F-4D97-AF65-F5344CB8AC3E}">
        <p14:creationId xmlns:p14="http://schemas.microsoft.com/office/powerpoint/2010/main" val="4022562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Laboratorio">
    <p:spTree>
      <p:nvGrpSpPr>
        <p:cNvPr id="1" name=""/>
        <p:cNvGrpSpPr/>
        <p:nvPr/>
      </p:nvGrpSpPr>
      <p:grpSpPr>
        <a:xfrm>
          <a:off x="0" y="0"/>
          <a:ext cx="0" cy="0"/>
          <a:chOff x="0" y="0"/>
          <a:chExt cx="0" cy="0"/>
        </a:xfrm>
      </p:grpSpPr>
      <p:sp>
        <p:nvSpPr>
          <p:cNvPr id="11" name="Rettangolo 10">
            <a:extLst>
              <a:ext uri="{FF2B5EF4-FFF2-40B4-BE49-F238E27FC236}">
                <a16:creationId xmlns:a16="http://schemas.microsoft.com/office/drawing/2014/main" id="{5DB3A6F7-B730-F638-2762-1FD1042E5DD4}"/>
              </a:ext>
            </a:extLst>
          </p:cNvPr>
          <p:cNvSpPr/>
          <p:nvPr userDrawn="1"/>
        </p:nvSpPr>
        <p:spPr>
          <a:xfrm>
            <a:off x="0" y="0"/>
            <a:ext cx="12192000" cy="6858000"/>
          </a:xfrm>
          <a:prstGeom prst="rect">
            <a:avLst/>
          </a:prstGeom>
          <a:solidFill>
            <a:srgbClr val="FFDB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Titolo 1">
            <a:extLst>
              <a:ext uri="{FF2B5EF4-FFF2-40B4-BE49-F238E27FC236}">
                <a16:creationId xmlns:a16="http://schemas.microsoft.com/office/drawing/2014/main" id="{F698DC6F-CD43-0811-A979-B271C0C3AF9E}"/>
              </a:ext>
            </a:extLst>
          </p:cNvPr>
          <p:cNvSpPr>
            <a:spLocks noGrp="1"/>
          </p:cNvSpPr>
          <p:nvPr>
            <p:ph type="title" hasCustomPrompt="1"/>
          </p:nvPr>
        </p:nvSpPr>
        <p:spPr>
          <a:xfrm>
            <a:off x="838200" y="831206"/>
            <a:ext cx="10515600" cy="314198"/>
          </a:xfrm>
          <a:prstGeom prst="rect">
            <a:avLst/>
          </a:prstGeom>
        </p:spPr>
        <p:txBody>
          <a:bodyPr/>
          <a:lstStyle>
            <a:lvl1pPr>
              <a:defRPr sz="2200" b="1">
                <a:solidFill>
                  <a:schemeClr val="tx1"/>
                </a:solidFill>
                <a:latin typeface="Neue Haas Grotesk Text Pro" panose="020B0504020202020204" pitchFamily="34" charset="0"/>
              </a:defRPr>
            </a:lvl1pPr>
          </a:lstStyle>
          <a:p>
            <a:r>
              <a:rPr lang="it-IT" dirty="0"/>
              <a:t>Titolo del laboratorio</a:t>
            </a:r>
          </a:p>
        </p:txBody>
      </p:sp>
      <p:sp>
        <p:nvSpPr>
          <p:cNvPr id="3" name="Segnaposto contenuto 2">
            <a:extLst>
              <a:ext uri="{FF2B5EF4-FFF2-40B4-BE49-F238E27FC236}">
                <a16:creationId xmlns:a16="http://schemas.microsoft.com/office/drawing/2014/main" id="{722E0480-F66A-DF55-F8D6-E7F6741750C0}"/>
              </a:ext>
            </a:extLst>
          </p:cNvPr>
          <p:cNvSpPr>
            <a:spLocks noGrp="1"/>
          </p:cNvSpPr>
          <p:nvPr>
            <p:ph idx="1" hasCustomPrompt="1"/>
          </p:nvPr>
        </p:nvSpPr>
        <p:spPr>
          <a:xfrm>
            <a:off x="418488" y="1399311"/>
            <a:ext cx="11355024" cy="4803369"/>
          </a:xfrm>
          <a:prstGeom prst="rect">
            <a:avLst/>
          </a:prstGeom>
        </p:spPr>
        <p:txBody>
          <a:bodyPr/>
          <a:lstStyle>
            <a:lvl1pPr marL="0" indent="0">
              <a:buNone/>
              <a:defRPr sz="1800">
                <a:latin typeface="Neue Haas Grotesk Text Pro" panose="020B0504020202020204" pitchFamily="34" charset="0"/>
              </a:defRPr>
            </a:lvl1pPr>
          </a:lstStyle>
          <a:p>
            <a:pPr lvl="0"/>
            <a:r>
              <a:rPr lang="it-IT" dirty="0"/>
              <a:t>Traccia del laboratorio</a:t>
            </a:r>
          </a:p>
        </p:txBody>
      </p:sp>
      <p:sp>
        <p:nvSpPr>
          <p:cNvPr id="6" name="Segnaposto numero diapositiva 5">
            <a:extLst>
              <a:ext uri="{FF2B5EF4-FFF2-40B4-BE49-F238E27FC236}">
                <a16:creationId xmlns:a16="http://schemas.microsoft.com/office/drawing/2014/main" id="{E4F14CEF-205B-0C08-0A06-82B440095954}"/>
              </a:ext>
            </a:extLst>
          </p:cNvPr>
          <p:cNvSpPr>
            <a:spLocks noGrp="1"/>
          </p:cNvSpPr>
          <p:nvPr>
            <p:ph type="sldNum" sz="quarter" idx="12"/>
          </p:nvPr>
        </p:nvSpPr>
        <p:spPr>
          <a:xfrm>
            <a:off x="8610600" y="6356350"/>
            <a:ext cx="2743200" cy="365125"/>
          </a:xfrm>
          <a:prstGeom prst="rect">
            <a:avLst/>
          </a:prstGeom>
        </p:spPr>
        <p:txBody>
          <a:bodyPr/>
          <a:lstStyle>
            <a:lvl1pPr>
              <a:defRPr b="1"/>
            </a:lvl1pPr>
          </a:lstStyle>
          <a:p>
            <a:fld id="{EE05E91E-B103-4211-9892-B5CF4BF06646}" type="slidenum">
              <a:rPr lang="it-IT" smtClean="0"/>
              <a:pPr/>
              <a:t>‹N›</a:t>
            </a:fld>
            <a:endParaRPr lang="it-IT"/>
          </a:p>
        </p:txBody>
      </p:sp>
      <p:sp>
        <p:nvSpPr>
          <p:cNvPr id="7" name="Rettangolo 6">
            <a:extLst>
              <a:ext uri="{FF2B5EF4-FFF2-40B4-BE49-F238E27FC236}">
                <a16:creationId xmlns:a16="http://schemas.microsoft.com/office/drawing/2014/main" id="{7E4DB6AF-4CA5-F1AF-60DE-4AC9236D4298}"/>
              </a:ext>
            </a:extLst>
          </p:cNvPr>
          <p:cNvSpPr/>
          <p:nvPr userDrawn="1"/>
        </p:nvSpPr>
        <p:spPr>
          <a:xfrm>
            <a:off x="0" y="-2"/>
            <a:ext cx="12192000" cy="17919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8" name="object 4">
            <a:extLst>
              <a:ext uri="{FF2B5EF4-FFF2-40B4-BE49-F238E27FC236}">
                <a16:creationId xmlns:a16="http://schemas.microsoft.com/office/drawing/2014/main" id="{590B833C-D2A8-59BC-D3D6-DC5153499B29}"/>
              </a:ext>
            </a:extLst>
          </p:cNvPr>
          <p:cNvSpPr txBox="1"/>
          <p:nvPr userDrawn="1"/>
        </p:nvSpPr>
        <p:spPr>
          <a:xfrm>
            <a:off x="9435948" y="349177"/>
            <a:ext cx="2337564" cy="158377"/>
          </a:xfrm>
          <a:prstGeom prst="rect">
            <a:avLst/>
          </a:prstGeom>
        </p:spPr>
        <p:txBody>
          <a:bodyPr vert="horz" wrap="square" lIns="0" tIns="12065" rIns="0" bIns="0" rtlCol="0">
            <a:spAutoFit/>
          </a:bodyPr>
          <a:lstStyle/>
          <a:p>
            <a:pPr marL="12700" algn="l">
              <a:lnSpc>
                <a:spcPct val="100000"/>
              </a:lnSpc>
              <a:spcBef>
                <a:spcPts val="95"/>
              </a:spcBef>
              <a:tabLst>
                <a:tab pos="982980" algn="l"/>
              </a:tabLst>
            </a:pPr>
            <a:r>
              <a:rPr lang="it-IT" sz="950" b="1" spc="300" dirty="0">
                <a:solidFill>
                  <a:schemeClr val="tx1"/>
                </a:solidFill>
                <a:latin typeface="Arial"/>
                <a:cs typeface="Arial"/>
              </a:rPr>
              <a:t>Autore: Nome Cognome</a:t>
            </a:r>
            <a:endParaRPr lang="it-IT" sz="950" spc="300" dirty="0">
              <a:solidFill>
                <a:schemeClr val="tx1"/>
              </a:solidFill>
              <a:latin typeface="Arial"/>
              <a:cs typeface="Arial"/>
            </a:endParaRPr>
          </a:p>
        </p:txBody>
      </p:sp>
      <p:pic>
        <p:nvPicPr>
          <p:cNvPr id="9" name="Elemento grafico 8">
            <a:extLst>
              <a:ext uri="{FF2B5EF4-FFF2-40B4-BE49-F238E27FC236}">
                <a16:creationId xmlns:a16="http://schemas.microsoft.com/office/drawing/2014/main" id="{545164C9-21E1-0EF7-17C2-2E5528B7FC84}"/>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8488" y="285335"/>
            <a:ext cx="2211023" cy="314198"/>
          </a:xfrm>
          <a:prstGeom prst="rect">
            <a:avLst/>
          </a:prstGeom>
        </p:spPr>
      </p:pic>
    </p:spTree>
    <p:extLst>
      <p:ext uri="{BB962C8B-B14F-4D97-AF65-F5344CB8AC3E}">
        <p14:creationId xmlns:p14="http://schemas.microsoft.com/office/powerpoint/2010/main" val="2382784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Outro">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10" name="Segnaposto numero diapositiva 5">
            <a:extLst>
              <a:ext uri="{FF2B5EF4-FFF2-40B4-BE49-F238E27FC236}">
                <a16:creationId xmlns:a16="http://schemas.microsoft.com/office/drawing/2014/main" id="{A234C8D3-EBFE-A5AB-FBEC-506345C26835}"/>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400" kern="1200">
                <a:solidFill>
                  <a:schemeClr val="tx1"/>
                </a:solidFill>
                <a:latin typeface="Neue Haas Grotesk Text Pro"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05E91E-B103-4211-9892-B5CF4BF06646}" type="slidenum">
              <a:rPr lang="it-IT" smtClean="0"/>
              <a:pPr/>
              <a:t>‹N›</a:t>
            </a:fld>
            <a:endParaRPr lang="it-IT"/>
          </a:p>
        </p:txBody>
      </p:sp>
      <p:pic>
        <p:nvPicPr>
          <p:cNvPr id="11" name="Logo">
            <a:extLst>
              <a:ext uri="{FF2B5EF4-FFF2-40B4-BE49-F238E27FC236}">
                <a16:creationId xmlns:a16="http://schemas.microsoft.com/office/drawing/2014/main" id="{6DDC59E2-35B7-B79B-0CDA-5FE67578D34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24735" y="2446545"/>
            <a:ext cx="5342528" cy="620212"/>
          </a:xfrm>
          <a:prstGeom prst="rect">
            <a:avLst/>
          </a:prstGeom>
        </p:spPr>
      </p:pic>
      <p:sp>
        <p:nvSpPr>
          <p:cNvPr id="2" name="Titolo 1">
            <a:extLst>
              <a:ext uri="{FF2B5EF4-FFF2-40B4-BE49-F238E27FC236}">
                <a16:creationId xmlns:a16="http://schemas.microsoft.com/office/drawing/2014/main" id="{E295F674-D64B-ECCA-4DA2-D47F8EABE285}"/>
              </a:ext>
            </a:extLst>
          </p:cNvPr>
          <p:cNvSpPr>
            <a:spLocks noGrp="1"/>
          </p:cNvSpPr>
          <p:nvPr>
            <p:ph type="title" hasCustomPrompt="1"/>
          </p:nvPr>
        </p:nvSpPr>
        <p:spPr>
          <a:xfrm>
            <a:off x="2098283" y="3791244"/>
            <a:ext cx="7995432" cy="535518"/>
          </a:xfrm>
          <a:prstGeom prst="rect">
            <a:avLst/>
          </a:prstGeom>
        </p:spPr>
        <p:txBody>
          <a:bodyPr anchor="ctr"/>
          <a:lstStyle>
            <a:lvl1pPr algn="ctr">
              <a:defRPr sz="3600" b="1" spc="300">
                <a:solidFill>
                  <a:schemeClr val="bg1"/>
                </a:solidFill>
                <a:latin typeface="Neue Haas Grotesk Display Pro" panose="020D0304030502050203" pitchFamily="34" charset="0"/>
              </a:defRPr>
            </a:lvl1pPr>
          </a:lstStyle>
          <a:p>
            <a:r>
              <a:rPr lang="it-IT" dirty="0"/>
              <a:t>GRAZIE PER L’ATTENZIONE</a:t>
            </a:r>
          </a:p>
        </p:txBody>
      </p:sp>
    </p:spTree>
    <p:extLst>
      <p:ext uri="{BB962C8B-B14F-4D97-AF65-F5344CB8AC3E}">
        <p14:creationId xmlns:p14="http://schemas.microsoft.com/office/powerpoint/2010/main" val="1288546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Break">
    <p:spTree>
      <p:nvGrpSpPr>
        <p:cNvPr id="1" name=""/>
        <p:cNvGrpSpPr/>
        <p:nvPr/>
      </p:nvGrpSpPr>
      <p:grpSpPr>
        <a:xfrm>
          <a:off x="0" y="0"/>
          <a:ext cx="0" cy="0"/>
          <a:chOff x="0" y="0"/>
          <a:chExt cx="0" cy="0"/>
        </a:xfrm>
      </p:grpSpPr>
      <p:grpSp>
        <p:nvGrpSpPr>
          <p:cNvPr id="7" name="Sfondo">
            <a:extLst>
              <a:ext uri="{FF2B5EF4-FFF2-40B4-BE49-F238E27FC236}">
                <a16:creationId xmlns:a16="http://schemas.microsoft.com/office/drawing/2014/main" id="{3151B56A-A6F1-5CFE-90D4-C91637CA43DC}"/>
              </a:ext>
            </a:extLst>
          </p:cNvPr>
          <p:cNvGrpSpPr/>
          <p:nvPr userDrawn="1"/>
        </p:nvGrpSpPr>
        <p:grpSpPr>
          <a:xfrm>
            <a:off x="0" y="0"/>
            <a:ext cx="12191999" cy="6857998"/>
            <a:chOff x="0" y="0"/>
            <a:chExt cx="12191999" cy="6857998"/>
          </a:xfrm>
        </p:grpSpPr>
        <p:pic>
          <p:nvPicPr>
            <p:cNvPr id="8" name="bg object 16">
              <a:extLst>
                <a:ext uri="{FF2B5EF4-FFF2-40B4-BE49-F238E27FC236}">
                  <a16:creationId xmlns:a16="http://schemas.microsoft.com/office/drawing/2014/main" id="{F245C0BF-8E93-514B-6EA0-0DB46DDE199E}"/>
                </a:ext>
              </a:extLst>
            </p:cNvPr>
            <p:cNvPicPr/>
            <p:nvPr userDrawn="1"/>
          </p:nvPicPr>
          <p:blipFill>
            <a:blip r:embed="rId2" cstate="print"/>
            <a:stretch>
              <a:fillRect/>
            </a:stretch>
          </p:blipFill>
          <p:spPr>
            <a:xfrm>
              <a:off x="0" y="0"/>
              <a:ext cx="12191999" cy="6857998"/>
            </a:xfrm>
            <a:prstGeom prst="rect">
              <a:avLst/>
            </a:prstGeom>
          </p:spPr>
        </p:pic>
        <p:sp>
          <p:nvSpPr>
            <p:cNvPr id="9" name="Sfondo nero">
              <a:extLst>
                <a:ext uri="{FF2B5EF4-FFF2-40B4-BE49-F238E27FC236}">
                  <a16:creationId xmlns:a16="http://schemas.microsoft.com/office/drawing/2014/main" id="{7E15F8EB-6BFE-6BE4-8488-2A37B82D22A6}"/>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10" name="Segnaposto numero diapositiva 5">
            <a:extLst>
              <a:ext uri="{FF2B5EF4-FFF2-40B4-BE49-F238E27FC236}">
                <a16:creationId xmlns:a16="http://schemas.microsoft.com/office/drawing/2014/main" id="{A234C8D3-EBFE-A5AB-FBEC-506345C26835}"/>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it-IT"/>
            </a:defPPr>
            <a:lvl1pPr marL="0" algn="r" defTabSz="914400" rtl="0" eaLnBrk="1" latinLnBrk="0" hangingPunct="1">
              <a:defRPr sz="1400" kern="1200">
                <a:solidFill>
                  <a:schemeClr val="tx1"/>
                </a:solidFill>
                <a:latin typeface="Neue Haas Grotesk Text Pro"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E05E91E-B103-4211-9892-B5CF4BF06646}" type="slidenum">
              <a:rPr lang="it-IT" smtClean="0"/>
              <a:pPr/>
              <a:t>‹N›</a:t>
            </a:fld>
            <a:endParaRPr lang="it-IT"/>
          </a:p>
        </p:txBody>
      </p:sp>
      <p:pic>
        <p:nvPicPr>
          <p:cNvPr id="11" name="Logo">
            <a:extLst>
              <a:ext uri="{FF2B5EF4-FFF2-40B4-BE49-F238E27FC236}">
                <a16:creationId xmlns:a16="http://schemas.microsoft.com/office/drawing/2014/main" id="{6DDC59E2-35B7-B79B-0CDA-5FE67578D34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24735" y="2446545"/>
            <a:ext cx="5342528" cy="620212"/>
          </a:xfrm>
          <a:prstGeom prst="rect">
            <a:avLst/>
          </a:prstGeom>
        </p:spPr>
      </p:pic>
      <p:sp>
        <p:nvSpPr>
          <p:cNvPr id="2" name="Titolo 1">
            <a:extLst>
              <a:ext uri="{FF2B5EF4-FFF2-40B4-BE49-F238E27FC236}">
                <a16:creationId xmlns:a16="http://schemas.microsoft.com/office/drawing/2014/main" id="{E295F674-D64B-ECCA-4DA2-D47F8EABE285}"/>
              </a:ext>
            </a:extLst>
          </p:cNvPr>
          <p:cNvSpPr>
            <a:spLocks noGrp="1"/>
          </p:cNvSpPr>
          <p:nvPr>
            <p:ph type="title" hasCustomPrompt="1"/>
          </p:nvPr>
        </p:nvSpPr>
        <p:spPr>
          <a:xfrm>
            <a:off x="2098283" y="3791244"/>
            <a:ext cx="7995432" cy="535518"/>
          </a:xfrm>
          <a:prstGeom prst="rect">
            <a:avLst/>
          </a:prstGeom>
        </p:spPr>
        <p:txBody>
          <a:bodyPr anchor="ctr"/>
          <a:lstStyle>
            <a:lvl1pPr algn="ctr">
              <a:defRPr sz="3600" b="1" spc="300">
                <a:solidFill>
                  <a:schemeClr val="bg1"/>
                </a:solidFill>
                <a:latin typeface="Neue Haas Grotesk Display Pro" panose="020D0304030502050203" pitchFamily="34" charset="0"/>
              </a:defRPr>
            </a:lvl1pPr>
          </a:lstStyle>
          <a:p>
            <a:r>
              <a:rPr lang="it-IT" dirty="0"/>
              <a:t>BREAK</a:t>
            </a:r>
          </a:p>
        </p:txBody>
      </p:sp>
    </p:spTree>
    <p:extLst>
      <p:ext uri="{BB962C8B-B14F-4D97-AF65-F5344CB8AC3E}">
        <p14:creationId xmlns:p14="http://schemas.microsoft.com/office/powerpoint/2010/main" val="736105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sv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9" name="Sfondo">
            <a:extLst>
              <a:ext uri="{FF2B5EF4-FFF2-40B4-BE49-F238E27FC236}">
                <a16:creationId xmlns:a16="http://schemas.microsoft.com/office/drawing/2014/main" id="{0871CBC8-6163-D253-2648-0C5B2A35DADC}"/>
              </a:ext>
            </a:extLst>
          </p:cNvPr>
          <p:cNvGrpSpPr/>
          <p:nvPr userDrawn="1"/>
        </p:nvGrpSpPr>
        <p:grpSpPr>
          <a:xfrm>
            <a:off x="0" y="0"/>
            <a:ext cx="12191999" cy="6857998"/>
            <a:chOff x="0" y="0"/>
            <a:chExt cx="12191999" cy="6857998"/>
          </a:xfrm>
        </p:grpSpPr>
        <p:pic>
          <p:nvPicPr>
            <p:cNvPr id="7" name="bg object 16">
              <a:extLst>
                <a:ext uri="{FF2B5EF4-FFF2-40B4-BE49-F238E27FC236}">
                  <a16:creationId xmlns:a16="http://schemas.microsoft.com/office/drawing/2014/main" id="{D3B481F3-FDD2-E9B0-AAF0-6B05C97B7493}"/>
                </a:ext>
              </a:extLst>
            </p:cNvPr>
            <p:cNvPicPr/>
            <p:nvPr userDrawn="1"/>
          </p:nvPicPr>
          <p:blipFill>
            <a:blip r:embed="rId8" cstate="print"/>
            <a:stretch>
              <a:fillRect/>
            </a:stretch>
          </p:blipFill>
          <p:spPr>
            <a:xfrm>
              <a:off x="0" y="0"/>
              <a:ext cx="12191999" cy="6857998"/>
            </a:xfrm>
            <a:prstGeom prst="rect">
              <a:avLst/>
            </a:prstGeom>
          </p:spPr>
        </p:pic>
        <p:sp>
          <p:nvSpPr>
            <p:cNvPr id="8" name="Sfondo nero">
              <a:extLst>
                <a:ext uri="{FF2B5EF4-FFF2-40B4-BE49-F238E27FC236}">
                  <a16:creationId xmlns:a16="http://schemas.microsoft.com/office/drawing/2014/main" id="{2B2124EE-D2EC-EB26-C788-2D1671E2C0D4}"/>
                </a:ext>
              </a:extLst>
            </p:cNvPr>
            <p:cNvSpPr/>
            <p:nvPr userDrawn="1"/>
          </p:nvSpPr>
          <p:spPr>
            <a:xfrm>
              <a:off x="228600" y="203061"/>
              <a:ext cx="11734800" cy="6451878"/>
            </a:xfrm>
            <a:custGeom>
              <a:avLst/>
              <a:gdLst/>
              <a:ahLst/>
              <a:cxnLst/>
              <a:rect l="l" t="t" r="r" b="b"/>
              <a:pathLst>
                <a:path w="11506200" h="6248400">
                  <a:moveTo>
                    <a:pt x="11506200" y="0"/>
                  </a:moveTo>
                  <a:lnTo>
                    <a:pt x="0" y="0"/>
                  </a:lnTo>
                  <a:lnTo>
                    <a:pt x="0" y="6248400"/>
                  </a:lnTo>
                  <a:lnTo>
                    <a:pt x="11506200" y="6248400"/>
                  </a:lnTo>
                  <a:lnTo>
                    <a:pt x="11506200" y="0"/>
                  </a:lnTo>
                  <a:close/>
                </a:path>
              </a:pathLst>
            </a:custGeom>
            <a:solidFill>
              <a:srgbClr val="000000"/>
            </a:solidFill>
          </p:spPr>
          <p:txBody>
            <a:bodyPr wrap="square" lIns="0" tIns="0" rIns="0" bIns="0" rtlCol="0"/>
            <a:lstStyle/>
            <a:p>
              <a:endParaRPr b="0" i="0" dirty="0">
                <a:latin typeface="Arial" panose="020B0604020202020204" pitchFamily="34" charset="0"/>
              </a:endParaRPr>
            </a:p>
          </p:txBody>
        </p:sp>
      </p:grpSp>
      <p:sp>
        <p:nvSpPr>
          <p:cNvPr id="6" name="Segnaposto numero diapositiva 5" hidden="1">
            <a:extLst>
              <a:ext uri="{FF2B5EF4-FFF2-40B4-BE49-F238E27FC236}">
                <a16:creationId xmlns:a16="http://schemas.microsoft.com/office/drawing/2014/main" id="{8BF62DA6-567D-9738-C9B4-B35130FB09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latin typeface="Neue Haas Grotesk Text Pro" panose="020B0504020202020204" pitchFamily="34" charset="0"/>
              </a:defRPr>
            </a:lvl1pPr>
          </a:lstStyle>
          <a:p>
            <a:fld id="{EE05E91E-B103-4211-9892-B5CF4BF06646}" type="slidenum">
              <a:rPr lang="it-IT" smtClean="0"/>
              <a:pPr/>
              <a:t>‹N›</a:t>
            </a:fld>
            <a:endParaRPr lang="it-IT"/>
          </a:p>
        </p:txBody>
      </p:sp>
      <p:pic>
        <p:nvPicPr>
          <p:cNvPr id="10" name="Logo">
            <a:extLst>
              <a:ext uri="{FF2B5EF4-FFF2-40B4-BE49-F238E27FC236}">
                <a16:creationId xmlns:a16="http://schemas.microsoft.com/office/drawing/2014/main" id="{08AF4DDA-AF5C-9192-0A90-B2EE16B19797}"/>
              </a:ext>
            </a:extLst>
          </p:cNvPr>
          <p:cNvPicPr>
            <a:picLocks noChangeAspect="1"/>
          </p:cNvPicPr>
          <p:nvPr userDrawn="1"/>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81312" y="3055807"/>
            <a:ext cx="6429375" cy="746384"/>
          </a:xfrm>
          <a:prstGeom prst="rect">
            <a:avLst/>
          </a:prstGeom>
        </p:spPr>
      </p:pic>
    </p:spTree>
    <p:extLst>
      <p:ext uri="{BB962C8B-B14F-4D97-AF65-F5344CB8AC3E}">
        <p14:creationId xmlns:p14="http://schemas.microsoft.com/office/powerpoint/2010/main" val="3447315000"/>
      </p:ext>
    </p:extLst>
  </p:cSld>
  <p:clrMap bg1="lt1" tx1="dk1" bg2="lt2" tx2="dk2" accent1="accent1" accent2="accent2" accent3="accent3" accent4="accent4" accent5="accent5" accent6="accent6" hlink="hlink" folHlink="folHlink"/>
  <p:sldLayoutIdLst>
    <p:sldLayoutId id="2147483693" r:id="rId1"/>
    <p:sldLayoutId id="2147483691" r:id="rId2"/>
    <p:sldLayoutId id="2147483674" r:id="rId3"/>
    <p:sldLayoutId id="2147483692" r:id="rId4"/>
    <p:sldLayoutId id="2147483678" r:id="rId5"/>
    <p:sldLayoutId id="214748369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9659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a:extLst>
              <a:ext uri="{FF2B5EF4-FFF2-40B4-BE49-F238E27FC236}">
                <a16:creationId xmlns:a16="http://schemas.microsoft.com/office/drawing/2014/main" id="{614AE908-95ED-7A3B-515A-275CA8318424}"/>
              </a:ext>
            </a:extLst>
          </p:cNvPr>
          <p:cNvSpPr>
            <a:spLocks noGrp="1"/>
          </p:cNvSpPr>
          <p:nvPr>
            <p:ph type="subTitle" idx="1"/>
          </p:nvPr>
        </p:nvSpPr>
        <p:spPr>
          <a:xfrm>
            <a:off x="838200" y="2795046"/>
            <a:ext cx="10515600" cy="1445982"/>
          </a:xfrm>
        </p:spPr>
        <p:txBody>
          <a:bodyPr/>
          <a:lstStyle/>
          <a:p>
            <a:r>
              <a:rPr lang="it-IT" dirty="0"/>
              <a:t>Java </a:t>
            </a:r>
            <a:r>
              <a:rPr lang="it-IT" dirty="0" err="1"/>
              <a:t>Collections</a:t>
            </a:r>
            <a:endParaRPr lang="it-IT" dirty="0"/>
          </a:p>
          <a:p>
            <a:endParaRPr lang="it-IT" dirty="0"/>
          </a:p>
        </p:txBody>
      </p:sp>
      <p:sp>
        <p:nvSpPr>
          <p:cNvPr id="7" name="Segnaposto numero diapositiva 6">
            <a:extLst>
              <a:ext uri="{FF2B5EF4-FFF2-40B4-BE49-F238E27FC236}">
                <a16:creationId xmlns:a16="http://schemas.microsoft.com/office/drawing/2014/main" id="{EDAC5512-E772-1D07-1956-6544F2732AF4}"/>
              </a:ext>
            </a:extLst>
          </p:cNvPr>
          <p:cNvSpPr>
            <a:spLocks noGrp="1"/>
          </p:cNvSpPr>
          <p:nvPr>
            <p:ph type="sldNum" sz="quarter" idx="10"/>
          </p:nvPr>
        </p:nvSpPr>
        <p:spPr/>
        <p:txBody>
          <a:bodyPr/>
          <a:lstStyle/>
          <a:p>
            <a:fld id="{EE05E91E-B103-4211-9892-B5CF4BF06646}" type="slidenum">
              <a:rPr lang="it-IT" smtClean="0">
                <a:solidFill>
                  <a:srgbClr val="0C0C0D"/>
                </a:solidFill>
              </a:rPr>
              <a:pPr/>
              <a:t>2</a:t>
            </a:fld>
            <a:endParaRPr lang="it-IT" dirty="0">
              <a:solidFill>
                <a:srgbClr val="0C0C0D"/>
              </a:solidFill>
            </a:endParaRPr>
          </a:p>
        </p:txBody>
      </p:sp>
    </p:spTree>
    <p:extLst>
      <p:ext uri="{BB962C8B-B14F-4D97-AF65-F5344CB8AC3E}">
        <p14:creationId xmlns:p14="http://schemas.microsoft.com/office/powerpoint/2010/main" val="339079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A5539-3D10-C260-E493-7DEDE722D46B}"/>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19C18701-8936-E1DE-05D2-B40D18EB87FD}"/>
              </a:ext>
            </a:extLst>
          </p:cNvPr>
          <p:cNvSpPr>
            <a:spLocks noGrp="1"/>
          </p:cNvSpPr>
          <p:nvPr>
            <p:ph type="title"/>
          </p:nvPr>
        </p:nvSpPr>
        <p:spPr>
          <a:xfrm>
            <a:off x="838200" y="831206"/>
            <a:ext cx="10515600" cy="314198"/>
          </a:xfrm>
        </p:spPr>
        <p:txBody>
          <a:bodyPr/>
          <a:lstStyle/>
          <a:p>
            <a:r>
              <a:rPr lang="it-IT" dirty="0"/>
              <a:t>SEZIONE 1: I LIMITI DEGLI ARRAY E L'INTRODUZIONE AL FRAMEWORK (Slide 1 - 6)</a:t>
            </a:r>
            <a:br>
              <a:rPr lang="it-IT" dirty="0"/>
            </a:br>
            <a:r>
              <a:rPr lang="it-IT" dirty="0"/>
              <a:t>SLIDE 1: Titolo del Modulo e Obiettivi Competitivi</a:t>
            </a:r>
          </a:p>
        </p:txBody>
      </p:sp>
      <p:sp>
        <p:nvSpPr>
          <p:cNvPr id="3" name="Contenuto della lezione">
            <a:extLst>
              <a:ext uri="{FF2B5EF4-FFF2-40B4-BE49-F238E27FC236}">
                <a16:creationId xmlns:a16="http://schemas.microsoft.com/office/drawing/2014/main" id="{43BF5AB2-5B46-7AD2-2974-FFAAFA65ADB8}"/>
              </a:ext>
            </a:extLst>
          </p:cNvPr>
          <p:cNvSpPr>
            <a:spLocks noGrp="1"/>
          </p:cNvSpPr>
          <p:nvPr>
            <p:ph idx="1"/>
          </p:nvPr>
        </p:nvSpPr>
        <p:spPr>
          <a:xfrm>
            <a:off x="1317319" y="2120082"/>
            <a:ext cx="9557362" cy="4803369"/>
          </a:xfrm>
        </p:spPr>
        <p:txBody>
          <a:bodyPr/>
          <a:lstStyle/>
          <a:p>
            <a:r>
              <a:rPr lang="it-IT" dirty="0"/>
              <a:t>Nelle lezioni precedenti abbiamo compreso come modellare singoli oggetti e come raggrupparli all'interno di array statici. Tuttavia, nello sviluppo del software aziendale moderno, i dati non hanno quasi mai una dimensione fissa e prevedibile a priori.</a:t>
            </a:r>
          </a:p>
          <a:p>
            <a:r>
              <a:rPr lang="it-IT" dirty="0"/>
              <a:t>Immaginate di dover gestire i tweet di una piattaforma social, i prodotti nel carrello di un e-commerce o la lista degli utenti connessi a un server di gioco: </a:t>
            </a:r>
            <a:r>
              <a:rPr lang="it-IT" dirty="0">
                <a:solidFill>
                  <a:srgbClr val="171FE2"/>
                </a:solidFill>
              </a:rPr>
              <a:t>queste strutture dati crescono e si rimpiccioliscono dinamicamente istante per istante</a:t>
            </a:r>
            <a:r>
              <a:rPr lang="it-IT" dirty="0"/>
              <a:t>.</a:t>
            </a:r>
          </a:p>
          <a:p>
            <a:r>
              <a:rPr lang="it-IT" dirty="0"/>
              <a:t>L'obiettivo competitivo di questo modulo è acquisire la micro-competenza necessaria a padroneggiare le strutture dati dinamiche avanzate messe a disposizione dall'architettura standard di Java. </a:t>
            </a:r>
          </a:p>
          <a:p>
            <a:r>
              <a:rPr lang="it-IT" dirty="0"/>
              <a:t>Imparerete non solo a usare queste collezioni, ma a scegliere scientemente la struttura più efficiente (in termini di occupazione di memoria e tempi di calcolo) per risolvere uno specifico problema ingegneristico.</a:t>
            </a:r>
          </a:p>
        </p:txBody>
      </p:sp>
    </p:spTree>
    <p:extLst>
      <p:ext uri="{BB962C8B-B14F-4D97-AF65-F5344CB8AC3E}">
        <p14:creationId xmlns:p14="http://schemas.microsoft.com/office/powerpoint/2010/main" val="3965415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della lezione">
            <a:extLst>
              <a:ext uri="{FF2B5EF4-FFF2-40B4-BE49-F238E27FC236}">
                <a16:creationId xmlns:a16="http://schemas.microsoft.com/office/drawing/2014/main" id="{C232A863-9AB2-F1DD-0EBE-01D055E0CAD3}"/>
              </a:ext>
            </a:extLst>
          </p:cNvPr>
          <p:cNvSpPr>
            <a:spLocks noGrp="1"/>
          </p:cNvSpPr>
          <p:nvPr>
            <p:ph type="title"/>
          </p:nvPr>
        </p:nvSpPr>
        <p:spPr>
          <a:xfrm>
            <a:off x="838200" y="831206"/>
            <a:ext cx="10515600" cy="314198"/>
          </a:xfrm>
        </p:spPr>
        <p:txBody>
          <a:bodyPr/>
          <a:lstStyle/>
          <a:p>
            <a:r>
              <a:rPr lang="it-IT" dirty="0"/>
              <a:t>SLIDE 2: I Limiti Strutturali degli Array Statici</a:t>
            </a:r>
          </a:p>
        </p:txBody>
      </p:sp>
      <p:sp>
        <p:nvSpPr>
          <p:cNvPr id="3" name="Contenuto della lezione">
            <a:extLst>
              <a:ext uri="{FF2B5EF4-FFF2-40B4-BE49-F238E27FC236}">
                <a16:creationId xmlns:a16="http://schemas.microsoft.com/office/drawing/2014/main" id="{4B7AE27A-7139-F647-C23C-B014C3A3B6AE}"/>
              </a:ext>
            </a:extLst>
          </p:cNvPr>
          <p:cNvSpPr>
            <a:spLocks noGrp="1"/>
          </p:cNvSpPr>
          <p:nvPr>
            <p:ph idx="1"/>
          </p:nvPr>
        </p:nvSpPr>
        <p:spPr>
          <a:xfrm>
            <a:off x="1317319" y="1800042"/>
            <a:ext cx="9557362" cy="4803369"/>
          </a:xfrm>
        </p:spPr>
        <p:txBody>
          <a:bodyPr/>
          <a:lstStyle/>
          <a:p>
            <a:r>
              <a:rPr lang="it-IT" dirty="0"/>
              <a:t>Per comprendere l'utilità del Java Collection Framework, dobbiamo analizzare criticamente i limiti intrinseci degli array monodimensionali studiati finora negli istituti tecnici. </a:t>
            </a:r>
          </a:p>
          <a:p>
            <a:r>
              <a:rPr lang="it-IT" dirty="0"/>
              <a:t>Il limite più macroscopico è la staticità della dimensione: una volta allocato un array nello Heap (es. </a:t>
            </a:r>
            <a:r>
              <a:rPr lang="it-IT" dirty="0" err="1">
                <a:solidFill>
                  <a:srgbClr val="171FE2"/>
                </a:solidFill>
                <a:latin typeface="Consolas" panose="020B0609020204030204" pitchFamily="49" charset="0"/>
              </a:rPr>
              <a:t>int</a:t>
            </a:r>
            <a:r>
              <a:rPr lang="it-IT" dirty="0">
                <a:solidFill>
                  <a:srgbClr val="171FE2"/>
                </a:solidFill>
                <a:latin typeface="Consolas" panose="020B0609020204030204" pitchFamily="49" charset="0"/>
              </a:rPr>
              <a:t>[] dati = new </a:t>
            </a:r>
            <a:r>
              <a:rPr lang="it-IT" dirty="0" err="1">
                <a:solidFill>
                  <a:srgbClr val="171FE2"/>
                </a:solidFill>
                <a:latin typeface="Consolas" panose="020B0609020204030204" pitchFamily="49" charset="0"/>
              </a:rPr>
              <a:t>int</a:t>
            </a:r>
            <a:r>
              <a:rPr lang="it-IT" dirty="0">
                <a:solidFill>
                  <a:srgbClr val="171FE2"/>
                </a:solidFill>
                <a:latin typeface="Consolas" panose="020B0609020204030204" pitchFamily="49" charset="0"/>
              </a:rPr>
              <a:t>[10];</a:t>
            </a:r>
            <a:r>
              <a:rPr lang="it-IT" dirty="0"/>
              <a:t>), la sua dimensione è immutabile. </a:t>
            </a:r>
          </a:p>
          <a:p>
            <a:r>
              <a:rPr lang="it-IT" dirty="0"/>
              <a:t>Se l'undicesimo utente tenta di iscriversi, il sistema risponderà con un crash irreversibile, a meno di non scrivere complessi algoritmi manuali per copiare i dati in un array più grande. </a:t>
            </a:r>
          </a:p>
          <a:p>
            <a:r>
              <a:rPr lang="it-IT" dirty="0"/>
              <a:t>Inoltre, </a:t>
            </a:r>
            <a:r>
              <a:rPr lang="it-IT" dirty="0">
                <a:solidFill>
                  <a:srgbClr val="171FE2"/>
                </a:solidFill>
              </a:rPr>
              <a:t>gli array sono carenti dal punto di vista logico</a:t>
            </a:r>
            <a:r>
              <a:rPr lang="it-IT" dirty="0"/>
              <a:t>: </a:t>
            </a:r>
            <a:r>
              <a:rPr lang="it-IT" dirty="0">
                <a:solidFill>
                  <a:srgbClr val="171FE2"/>
                </a:solidFill>
              </a:rPr>
              <a:t>non offrono metodi nativi pronti per inserire un elemento in mezzo alla struttura</a:t>
            </a:r>
            <a:r>
              <a:rPr lang="it-IT" dirty="0"/>
              <a:t> (richiedendo lo shift manuale di tutte le celle successive) né per eliminare un elemento lasciando la memoria compatta. </a:t>
            </a:r>
          </a:p>
          <a:p>
            <a:r>
              <a:rPr lang="it-IT" dirty="0"/>
              <a:t>Gestire manualmente queste operazioni procedurali aumenta drasticamente la probabilità di inserire bug di fuori range nel codice.</a:t>
            </a:r>
          </a:p>
        </p:txBody>
      </p:sp>
    </p:spTree>
    <p:extLst>
      <p:ext uri="{BB962C8B-B14F-4D97-AF65-F5344CB8AC3E}">
        <p14:creationId xmlns:p14="http://schemas.microsoft.com/office/powerpoint/2010/main" val="526178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6D813-3C27-616B-41A9-765F17596748}"/>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544BA35A-8B18-EF91-B412-B99806862CB8}"/>
              </a:ext>
            </a:extLst>
          </p:cNvPr>
          <p:cNvSpPr>
            <a:spLocks noGrp="1"/>
          </p:cNvSpPr>
          <p:nvPr>
            <p:ph type="title"/>
          </p:nvPr>
        </p:nvSpPr>
        <p:spPr>
          <a:xfrm>
            <a:off x="838200" y="831206"/>
            <a:ext cx="10515600" cy="314198"/>
          </a:xfrm>
        </p:spPr>
        <p:txBody>
          <a:bodyPr/>
          <a:lstStyle/>
          <a:p>
            <a:r>
              <a:rPr lang="it-IT" dirty="0"/>
              <a:t>SLIDE 3: Cos'è il Java Collection Framework?</a:t>
            </a:r>
          </a:p>
        </p:txBody>
      </p:sp>
      <p:sp>
        <p:nvSpPr>
          <p:cNvPr id="3" name="Contenuto della lezione">
            <a:extLst>
              <a:ext uri="{FF2B5EF4-FFF2-40B4-BE49-F238E27FC236}">
                <a16:creationId xmlns:a16="http://schemas.microsoft.com/office/drawing/2014/main" id="{8A2377B0-87FC-5E04-AA8F-58BCD7385182}"/>
              </a:ext>
            </a:extLst>
          </p:cNvPr>
          <p:cNvSpPr>
            <a:spLocks noGrp="1"/>
          </p:cNvSpPr>
          <p:nvPr>
            <p:ph idx="1"/>
          </p:nvPr>
        </p:nvSpPr>
        <p:spPr>
          <a:xfrm>
            <a:off x="1317319" y="1800042"/>
            <a:ext cx="9557362" cy="4803369"/>
          </a:xfrm>
        </p:spPr>
        <p:txBody>
          <a:bodyPr/>
          <a:lstStyle/>
          <a:p>
            <a:r>
              <a:rPr lang="it-IT" dirty="0"/>
              <a:t>Il Java Collection Framework (JCF) è un'architettura unificata fornita nativamente all'interno del pacchetto </a:t>
            </a:r>
            <a:r>
              <a:rPr lang="it-IT" b="1" dirty="0" err="1">
                <a:solidFill>
                  <a:srgbClr val="171FE2"/>
                </a:solidFill>
              </a:rPr>
              <a:t>java.util</a:t>
            </a:r>
            <a:r>
              <a:rPr lang="it-IT" b="1" dirty="0">
                <a:solidFill>
                  <a:srgbClr val="171FE2"/>
                </a:solidFill>
              </a:rPr>
              <a:t> </a:t>
            </a:r>
            <a:r>
              <a:rPr lang="it-IT" dirty="0"/>
              <a:t>che mette a disposizione del programmatore un insieme di interfacce, implementazioni (classi concrete) e algoritmi polimorfici per manipolare gruppi di oggetti in modo dinamico. </a:t>
            </a:r>
          </a:p>
          <a:p>
            <a:endParaRPr lang="it-IT" dirty="0"/>
          </a:p>
          <a:p>
            <a:r>
              <a:rPr lang="it-IT" dirty="0"/>
              <a:t>Progettato originariamente da Joshua Bloch, il framework solleva lo sviluppatore dall'esigenza di dover reinventare la ruota scrivendo da zero le strutture dati classiche dell'informatica (come liste concatenate, pile, code o tabelle </a:t>
            </a:r>
            <a:r>
              <a:rPr lang="it-IT" dirty="0" err="1"/>
              <a:t>hash</a:t>
            </a:r>
            <a:r>
              <a:rPr lang="it-IT" dirty="0"/>
              <a:t>). </a:t>
            </a:r>
          </a:p>
          <a:p>
            <a:endParaRPr lang="it-IT" dirty="0"/>
          </a:p>
          <a:p>
            <a:r>
              <a:rPr lang="it-IT" dirty="0"/>
              <a:t>Il JCF è interamente orientato agli oggetti e si basa su una gerarchia rigorosa governata da interfacce comuni. Questo significa che strutture dati radicalmente diverse dal punto di vista del funzionamento interno condividono gli stessi identici nomi di metodi per l'inserimento, la cancellazione e la ricerca, garantendo un'altissima interoperabilità e pulizia del codice sorgente.</a:t>
            </a:r>
          </a:p>
        </p:txBody>
      </p:sp>
    </p:spTree>
    <p:extLst>
      <p:ext uri="{BB962C8B-B14F-4D97-AF65-F5344CB8AC3E}">
        <p14:creationId xmlns:p14="http://schemas.microsoft.com/office/powerpoint/2010/main" val="2273831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84140-9A35-3EF7-09E1-FEB319FCD1DB}"/>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BEBB7091-2FCD-C28D-4ED9-499C344B3085}"/>
              </a:ext>
            </a:extLst>
          </p:cNvPr>
          <p:cNvSpPr>
            <a:spLocks noGrp="1"/>
          </p:cNvSpPr>
          <p:nvPr>
            <p:ph type="title"/>
          </p:nvPr>
        </p:nvSpPr>
        <p:spPr>
          <a:xfrm>
            <a:off x="838200" y="831206"/>
            <a:ext cx="10515600" cy="314198"/>
          </a:xfrm>
        </p:spPr>
        <p:txBody>
          <a:bodyPr/>
          <a:lstStyle/>
          <a:p>
            <a:r>
              <a:rPr lang="it-IT" dirty="0"/>
              <a:t>SLIDE 4: La Gerarchia delle Interfacce: Collection, List, Set e </a:t>
            </a:r>
            <a:r>
              <a:rPr lang="it-IT" dirty="0" err="1"/>
              <a:t>Map</a:t>
            </a:r>
            <a:endParaRPr lang="it-IT" dirty="0"/>
          </a:p>
        </p:txBody>
      </p:sp>
      <p:sp>
        <p:nvSpPr>
          <p:cNvPr id="3" name="Contenuto della lezione">
            <a:extLst>
              <a:ext uri="{FF2B5EF4-FFF2-40B4-BE49-F238E27FC236}">
                <a16:creationId xmlns:a16="http://schemas.microsoft.com/office/drawing/2014/main" id="{80ABCCDF-915E-9B48-F874-81245D7C9107}"/>
              </a:ext>
            </a:extLst>
          </p:cNvPr>
          <p:cNvSpPr>
            <a:spLocks noGrp="1"/>
          </p:cNvSpPr>
          <p:nvPr>
            <p:ph idx="1"/>
          </p:nvPr>
        </p:nvSpPr>
        <p:spPr>
          <a:xfrm>
            <a:off x="1317319" y="1800042"/>
            <a:ext cx="9557362" cy="4803369"/>
          </a:xfrm>
        </p:spPr>
        <p:txBody>
          <a:bodyPr/>
          <a:lstStyle/>
          <a:p>
            <a:r>
              <a:rPr lang="it-IT" dirty="0"/>
              <a:t>Il cuore del framework è strutturato attraverso una precisa gerarchia di interfacce.</a:t>
            </a:r>
          </a:p>
          <a:p>
            <a:r>
              <a:rPr lang="it-IT" dirty="0"/>
              <a:t>L'interfaccia radice è </a:t>
            </a:r>
            <a:r>
              <a:rPr lang="it-IT" b="1" dirty="0">
                <a:solidFill>
                  <a:srgbClr val="171FE2"/>
                </a:solidFill>
              </a:rPr>
              <a:t>Collection</a:t>
            </a:r>
            <a:r>
              <a:rPr lang="it-IT" dirty="0"/>
              <a:t>, che definisce le operazioni globali eseguibili su qualsiasi raggruppamento di oggetti. Da essa derivano tre sotto-interfacce fondamentali, ciascuna rappresentante un preciso modello logico di organizzazione dati. </a:t>
            </a:r>
          </a:p>
          <a:p>
            <a:pPr marL="285750" indent="-285750">
              <a:buFont typeface="Arial" panose="020B0604020202020204" pitchFamily="34" charset="0"/>
              <a:buChar char="•"/>
            </a:pPr>
            <a:r>
              <a:rPr lang="it-IT" dirty="0"/>
              <a:t>L'interfaccia </a:t>
            </a:r>
            <a:r>
              <a:rPr lang="it-IT" b="1" dirty="0">
                <a:solidFill>
                  <a:srgbClr val="171FE2"/>
                </a:solidFill>
              </a:rPr>
              <a:t>List</a:t>
            </a:r>
            <a:r>
              <a:rPr lang="it-IT" dirty="0"/>
              <a:t> rappresenta una sequenza ordinata di elementi che ammette duplicati e in cui ogni elemento è associato a un indice posizionale numerico. </a:t>
            </a:r>
          </a:p>
          <a:p>
            <a:pPr marL="285750" indent="-285750">
              <a:buFont typeface="Arial" panose="020B0604020202020204" pitchFamily="34" charset="0"/>
              <a:buChar char="•"/>
            </a:pPr>
            <a:r>
              <a:rPr lang="it-IT" dirty="0"/>
              <a:t>L'interfaccia </a:t>
            </a:r>
            <a:r>
              <a:rPr lang="it-IT" b="1" dirty="0">
                <a:solidFill>
                  <a:srgbClr val="171FE2"/>
                </a:solidFill>
              </a:rPr>
              <a:t>Set</a:t>
            </a:r>
            <a:r>
              <a:rPr lang="it-IT" dirty="0"/>
              <a:t> rappresenta un insieme matematico di elementi unici, che non ammette in alcun modo duplicati e non garantisce un ordine di inserimento. </a:t>
            </a:r>
          </a:p>
          <a:p>
            <a:pPr marL="285750" indent="-285750">
              <a:buFont typeface="Arial" panose="020B0604020202020204" pitchFamily="34" charset="0"/>
              <a:buChar char="•"/>
            </a:pPr>
            <a:r>
              <a:rPr lang="it-IT" dirty="0"/>
              <a:t>Separata da questa gerarchia principale troviamo l'interfaccia </a:t>
            </a:r>
            <a:r>
              <a:rPr lang="it-IT" b="1" dirty="0" err="1">
                <a:solidFill>
                  <a:srgbClr val="171FE2"/>
                </a:solidFill>
              </a:rPr>
              <a:t>Map</a:t>
            </a:r>
            <a:r>
              <a:rPr lang="it-IT" dirty="0"/>
              <a:t>, che modella la struttura a dizionario, basata su coppie di tipo "Chiave-Valore", dove ogni chiave univoca è associata a un determinato elemento. </a:t>
            </a:r>
          </a:p>
        </p:txBody>
      </p:sp>
    </p:spTree>
    <p:extLst>
      <p:ext uri="{BB962C8B-B14F-4D97-AF65-F5344CB8AC3E}">
        <p14:creationId xmlns:p14="http://schemas.microsoft.com/office/powerpoint/2010/main" val="13857780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C9C33-0C62-FB79-39D9-1E3FCD354940}"/>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E1D08D7A-99A4-1D06-3147-D7B7DCACB42A}"/>
              </a:ext>
            </a:extLst>
          </p:cNvPr>
          <p:cNvSpPr>
            <a:spLocks noGrp="1"/>
          </p:cNvSpPr>
          <p:nvPr>
            <p:ph type="title"/>
          </p:nvPr>
        </p:nvSpPr>
        <p:spPr>
          <a:xfrm>
            <a:off x="838200" y="831206"/>
            <a:ext cx="10515600" cy="314198"/>
          </a:xfrm>
        </p:spPr>
        <p:txBody>
          <a:bodyPr/>
          <a:lstStyle/>
          <a:p>
            <a:r>
              <a:rPr lang="it-IT" dirty="0"/>
              <a:t>SLIDE 5: Il Concetto di </a:t>
            </a:r>
            <a:r>
              <a:rPr lang="it-IT" dirty="0" err="1"/>
              <a:t>Autoboxing</a:t>
            </a:r>
            <a:r>
              <a:rPr lang="it-IT" dirty="0"/>
              <a:t> e Unboxing</a:t>
            </a:r>
          </a:p>
        </p:txBody>
      </p:sp>
      <p:sp>
        <p:nvSpPr>
          <p:cNvPr id="3" name="Contenuto della lezione">
            <a:extLst>
              <a:ext uri="{FF2B5EF4-FFF2-40B4-BE49-F238E27FC236}">
                <a16:creationId xmlns:a16="http://schemas.microsoft.com/office/drawing/2014/main" id="{E4A8DC19-5C7E-6438-17B0-06A02EA2ED37}"/>
              </a:ext>
            </a:extLst>
          </p:cNvPr>
          <p:cNvSpPr>
            <a:spLocks noGrp="1"/>
          </p:cNvSpPr>
          <p:nvPr>
            <p:ph idx="1"/>
          </p:nvPr>
        </p:nvSpPr>
        <p:spPr>
          <a:xfrm>
            <a:off x="1317319" y="1800042"/>
            <a:ext cx="9557362" cy="4803369"/>
          </a:xfrm>
        </p:spPr>
        <p:txBody>
          <a:bodyPr/>
          <a:lstStyle/>
          <a:p>
            <a:r>
              <a:rPr lang="it-IT" dirty="0"/>
              <a:t>Un vincolo ferreo e imprescindibile del Java Collection Framework è che esso può memorizzare esclusivamente e rigorosamente "Oggetti" (riferimenti nello Heap) e non tipi di dati primitivi (come </a:t>
            </a:r>
            <a:r>
              <a:rPr lang="it-IT" dirty="0" err="1"/>
              <a:t>int</a:t>
            </a:r>
            <a:r>
              <a:rPr lang="it-IT" dirty="0"/>
              <a:t>, double o </a:t>
            </a:r>
            <a:r>
              <a:rPr lang="it-IT" dirty="0" err="1"/>
              <a:t>char</a:t>
            </a:r>
            <a:r>
              <a:rPr lang="it-IT" dirty="0"/>
              <a:t>). </a:t>
            </a:r>
          </a:p>
          <a:p>
            <a:r>
              <a:rPr lang="it-IT" dirty="0"/>
              <a:t>Per superare questo limite senza costringere il programmatore a rinunciare all'uso dei numeri, Java introduce le classi "</a:t>
            </a:r>
            <a:r>
              <a:rPr lang="it-IT" dirty="0" err="1"/>
              <a:t>Wrapper</a:t>
            </a:r>
            <a:r>
              <a:rPr lang="it-IT" dirty="0"/>
              <a:t>" (involucro), come </a:t>
            </a:r>
            <a:r>
              <a:rPr lang="it-IT" dirty="0" err="1"/>
              <a:t>Integer</a:t>
            </a:r>
            <a:r>
              <a:rPr lang="it-IT" dirty="0"/>
              <a:t>, Double e </a:t>
            </a:r>
            <a:r>
              <a:rPr lang="it-IT" dirty="0" err="1"/>
              <a:t>Boolean</a:t>
            </a:r>
            <a:r>
              <a:rPr lang="it-IT" dirty="0"/>
              <a:t>, che incapsulano il valore primitivo dentro un vero oggetto. </a:t>
            </a:r>
          </a:p>
          <a:p>
            <a:r>
              <a:rPr lang="it-IT" dirty="0"/>
              <a:t>La Java Virtual Machine gestisce il passaggio tra primitivo e oggetto in modo completamente trasparente grazie ai meccanismi di </a:t>
            </a:r>
            <a:r>
              <a:rPr lang="it-IT" dirty="0" err="1">
                <a:solidFill>
                  <a:srgbClr val="171FE2"/>
                </a:solidFill>
              </a:rPr>
              <a:t>Autoboxing</a:t>
            </a:r>
            <a:r>
              <a:rPr lang="it-IT" dirty="0">
                <a:solidFill>
                  <a:srgbClr val="171FE2"/>
                </a:solidFill>
              </a:rPr>
              <a:t> e Unboxing</a:t>
            </a:r>
            <a:r>
              <a:rPr lang="it-IT" dirty="0"/>
              <a:t>.</a:t>
            </a:r>
          </a:p>
          <a:p>
            <a:pPr marL="285750" indent="-285750">
              <a:buFont typeface="Arial" panose="020B0604020202020204" pitchFamily="34" charset="0"/>
              <a:buChar char="•"/>
            </a:pPr>
            <a:r>
              <a:rPr lang="it-IT" dirty="0"/>
              <a:t> L'</a:t>
            </a:r>
            <a:r>
              <a:rPr lang="it-IT" b="1" dirty="0" err="1">
                <a:solidFill>
                  <a:srgbClr val="171FE2"/>
                </a:solidFill>
              </a:rPr>
              <a:t>Autoboxing</a:t>
            </a:r>
            <a:r>
              <a:rPr lang="it-IT" dirty="0"/>
              <a:t> converte automaticamente un primitivo nel rispettivo oggetto </a:t>
            </a:r>
            <a:r>
              <a:rPr lang="it-IT" dirty="0" err="1"/>
              <a:t>wrapper</a:t>
            </a:r>
            <a:r>
              <a:rPr lang="it-IT" dirty="0"/>
              <a:t> quando inserito in una collezione (es. inserire 5 in una lista memorizza un </a:t>
            </a:r>
            <a:r>
              <a:rPr lang="it-IT" dirty="0" err="1"/>
              <a:t>Integer</a:t>
            </a:r>
            <a:r>
              <a:rPr lang="it-IT" dirty="0"/>
              <a:t>).</a:t>
            </a:r>
          </a:p>
          <a:p>
            <a:pPr marL="285750" indent="-285750">
              <a:buFont typeface="Arial" panose="020B0604020202020204" pitchFamily="34" charset="0"/>
              <a:buChar char="•"/>
            </a:pPr>
            <a:r>
              <a:rPr lang="it-IT" dirty="0"/>
              <a:t> L'</a:t>
            </a:r>
            <a:r>
              <a:rPr lang="it-IT" b="1" dirty="0">
                <a:solidFill>
                  <a:srgbClr val="171FE2"/>
                </a:solidFill>
              </a:rPr>
              <a:t>Unboxing</a:t>
            </a:r>
            <a:r>
              <a:rPr lang="it-IT" dirty="0"/>
              <a:t> compie l'operazione contraria quando estraiamo il dato. Questo processo, sebbene comodissimo, consuma risorse CPU e va monitorato nei sistemi ad alte prestazioni.</a:t>
            </a:r>
          </a:p>
        </p:txBody>
      </p:sp>
    </p:spTree>
    <p:extLst>
      <p:ext uri="{BB962C8B-B14F-4D97-AF65-F5344CB8AC3E}">
        <p14:creationId xmlns:p14="http://schemas.microsoft.com/office/powerpoint/2010/main" val="1817508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3CCA0-6D22-DFFF-CACC-98F61D79CE13}"/>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DA0273A-3AC6-B33B-852B-8AA5806FC715}"/>
              </a:ext>
            </a:extLst>
          </p:cNvPr>
          <p:cNvSpPr>
            <a:spLocks noGrp="1"/>
          </p:cNvSpPr>
          <p:nvPr>
            <p:ph type="title"/>
          </p:nvPr>
        </p:nvSpPr>
        <p:spPr>
          <a:xfrm>
            <a:off x="838200" y="831206"/>
            <a:ext cx="10515600" cy="314198"/>
          </a:xfrm>
        </p:spPr>
        <p:txBody>
          <a:bodyPr/>
          <a:lstStyle/>
          <a:p>
            <a:r>
              <a:rPr lang="it-IT" dirty="0"/>
              <a:t>SLIDE 6: Introduzione ai </a:t>
            </a:r>
            <a:r>
              <a:rPr lang="it-IT" dirty="0" err="1"/>
              <a:t>Generics</a:t>
            </a:r>
            <a:r>
              <a:rPr lang="it-IT" dirty="0"/>
              <a:t>: la Notazione Diamond ''</a:t>
            </a:r>
          </a:p>
        </p:txBody>
      </p:sp>
      <p:sp>
        <p:nvSpPr>
          <p:cNvPr id="3" name="Contenuto della lezione">
            <a:extLst>
              <a:ext uri="{FF2B5EF4-FFF2-40B4-BE49-F238E27FC236}">
                <a16:creationId xmlns:a16="http://schemas.microsoft.com/office/drawing/2014/main" id="{0885EB50-4D90-9E60-DEA7-17886788AEB3}"/>
              </a:ext>
            </a:extLst>
          </p:cNvPr>
          <p:cNvSpPr>
            <a:spLocks noGrp="1"/>
          </p:cNvSpPr>
          <p:nvPr>
            <p:ph idx="1"/>
          </p:nvPr>
        </p:nvSpPr>
        <p:spPr>
          <a:xfrm>
            <a:off x="1317319" y="1800042"/>
            <a:ext cx="9557362" cy="4803369"/>
          </a:xfrm>
        </p:spPr>
        <p:txBody>
          <a:bodyPr/>
          <a:lstStyle/>
          <a:p>
            <a:r>
              <a:rPr lang="it-IT" dirty="0"/>
              <a:t>Nelle prime versioni di Java, le collezioni memorizzavano oggetti generici di tipo Object, costringendo il programmatore a effettuare pesanti e pericolosi casting espliciti al momento dell'estrazione dei dati. </a:t>
            </a:r>
          </a:p>
          <a:p>
            <a:r>
              <a:rPr lang="it-IT" dirty="0"/>
              <a:t>Per garantire la "</a:t>
            </a:r>
            <a:r>
              <a:rPr lang="it-IT" dirty="0" err="1"/>
              <a:t>Type</a:t>
            </a:r>
            <a:r>
              <a:rPr lang="it-IT" dirty="0"/>
              <a:t> </a:t>
            </a:r>
            <a:r>
              <a:rPr lang="it-IT" dirty="0" err="1"/>
              <a:t>Safety</a:t>
            </a:r>
            <a:r>
              <a:rPr lang="it-IT" dirty="0"/>
              <a:t>" (sicurezza dei tipi a tempo di compilazione), Java ha introdotto i </a:t>
            </a:r>
            <a:r>
              <a:rPr lang="it-IT" dirty="0" err="1"/>
              <a:t>Generics</a:t>
            </a:r>
            <a:r>
              <a:rPr lang="it-IT" dirty="0"/>
              <a:t>, contrassegnati dalla </a:t>
            </a:r>
            <a:r>
              <a:rPr lang="it-IT" b="1" dirty="0">
                <a:solidFill>
                  <a:srgbClr val="171FE2"/>
                </a:solidFill>
              </a:rPr>
              <a:t>notazione Diamond</a:t>
            </a:r>
            <a:r>
              <a:rPr lang="it-IT" dirty="0"/>
              <a:t>, ovvero </a:t>
            </a:r>
            <a:r>
              <a:rPr lang="it-IT" dirty="0">
                <a:solidFill>
                  <a:srgbClr val="171FE2"/>
                </a:solidFill>
              </a:rPr>
              <a:t>le parentesi angolari &lt;E&gt;</a:t>
            </a:r>
            <a:r>
              <a:rPr lang="it-IT" dirty="0"/>
              <a:t>. </a:t>
            </a:r>
          </a:p>
          <a:p>
            <a:r>
              <a:rPr lang="it-IT" dirty="0"/>
              <a:t>Quando dichiariamo una collezione, siamo obbligati a specificare tra le parentesi angolari quale tipo esatto di oggetti la struttura potrà ospitare (es. </a:t>
            </a:r>
            <a:r>
              <a:rPr lang="it-IT" dirty="0" err="1"/>
              <a:t>ArrayList</a:t>
            </a:r>
            <a:r>
              <a:rPr lang="it-IT" dirty="0"/>
              <a:t>&lt;</a:t>
            </a:r>
            <a:r>
              <a:rPr lang="it-IT" dirty="0" err="1"/>
              <a:t>String</a:t>
            </a:r>
            <a:r>
              <a:rPr lang="it-IT" dirty="0"/>
              <a:t>&gt; lista;). </a:t>
            </a:r>
          </a:p>
          <a:p>
            <a:r>
              <a:rPr lang="it-IT" dirty="0"/>
              <a:t>Il compilatore Java utilizzerà questa informazione per impedire tassativamente l'inserimento di oggetti non conformi (es. bloccherà il tentativo di inserire un intero in una lista di stringhe), eliminando alla radice il rischio di generare eccezioni catastrofiche di casting errato durante l'esecuzione del software a </a:t>
            </a:r>
            <a:r>
              <a:rPr lang="it-IT" dirty="0" err="1"/>
              <a:t>runtime</a:t>
            </a:r>
            <a:r>
              <a:rPr lang="it-IT" dirty="0"/>
              <a:t>.</a:t>
            </a:r>
          </a:p>
        </p:txBody>
      </p:sp>
    </p:spTree>
    <p:extLst>
      <p:ext uri="{BB962C8B-B14F-4D97-AF65-F5344CB8AC3E}">
        <p14:creationId xmlns:p14="http://schemas.microsoft.com/office/powerpoint/2010/main" val="1829037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AAFA7-77B1-7A95-1BB9-337D1D592D7F}"/>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26B1B333-7289-9BB5-9C85-357C5B3EDA36}"/>
              </a:ext>
            </a:extLst>
          </p:cNvPr>
          <p:cNvSpPr>
            <a:spLocks noGrp="1"/>
          </p:cNvSpPr>
          <p:nvPr>
            <p:ph type="title"/>
          </p:nvPr>
        </p:nvSpPr>
        <p:spPr>
          <a:xfrm>
            <a:off x="838200" y="831206"/>
            <a:ext cx="10515600" cy="314198"/>
          </a:xfrm>
        </p:spPr>
        <p:txBody>
          <a:bodyPr/>
          <a:lstStyle/>
          <a:p>
            <a:r>
              <a:rPr lang="it-IT" dirty="0"/>
              <a:t>SEZIONE 2: LE LISTE DINAMICHE – ARRAYLIST VS LINKEDLIST (Slide 7 - 15)</a:t>
            </a:r>
            <a:br>
              <a:rPr lang="it-IT" dirty="0"/>
            </a:br>
            <a:r>
              <a:rPr lang="it-IT" dirty="0"/>
              <a:t>SLIDE 7: Unità Didattica 1 – L'Interfaccia List e la Classe </a:t>
            </a:r>
            <a:r>
              <a:rPr lang="it-IT" dirty="0" err="1"/>
              <a:t>ArrayList</a:t>
            </a:r>
            <a:endParaRPr lang="it-IT" dirty="0"/>
          </a:p>
        </p:txBody>
      </p:sp>
      <p:sp>
        <p:nvSpPr>
          <p:cNvPr id="3" name="Contenuto della lezione">
            <a:extLst>
              <a:ext uri="{FF2B5EF4-FFF2-40B4-BE49-F238E27FC236}">
                <a16:creationId xmlns:a16="http://schemas.microsoft.com/office/drawing/2014/main" id="{DA4BFE85-62C7-851B-A07C-2AAFE1E59D66}"/>
              </a:ext>
            </a:extLst>
          </p:cNvPr>
          <p:cNvSpPr>
            <a:spLocks noGrp="1"/>
          </p:cNvSpPr>
          <p:nvPr>
            <p:ph idx="1"/>
          </p:nvPr>
        </p:nvSpPr>
        <p:spPr>
          <a:xfrm>
            <a:off x="1317319" y="1973778"/>
            <a:ext cx="9557362" cy="4803369"/>
          </a:xfrm>
        </p:spPr>
        <p:txBody>
          <a:bodyPr/>
          <a:lstStyle/>
          <a:p>
            <a:r>
              <a:rPr lang="it-IT" dirty="0"/>
              <a:t>L'interfaccia List definisce una collezione ordinata di elementi accessibili tramite un indice numerico intero. </a:t>
            </a:r>
          </a:p>
          <a:p>
            <a:r>
              <a:rPr lang="it-IT" dirty="0"/>
              <a:t>La sua implementazione più famosa, versatile e utilizzata nello sviluppo software è la classe </a:t>
            </a:r>
            <a:r>
              <a:rPr lang="it-IT" dirty="0" err="1"/>
              <a:t>ArrayList</a:t>
            </a:r>
            <a:r>
              <a:rPr lang="it-IT" dirty="0"/>
              <a:t>. </a:t>
            </a:r>
          </a:p>
          <a:p>
            <a:r>
              <a:rPr lang="it-IT" dirty="0"/>
              <a:t>Dal punto di vista architetturale interno, un </a:t>
            </a:r>
            <a:r>
              <a:rPr lang="it-IT" dirty="0" err="1"/>
              <a:t>ArrayList</a:t>
            </a:r>
            <a:r>
              <a:rPr lang="it-IT" dirty="0"/>
              <a:t> incapsula al suo interno un normale array statico di oggetti. </a:t>
            </a:r>
          </a:p>
          <a:p>
            <a:r>
              <a:rPr lang="it-IT" dirty="0">
                <a:solidFill>
                  <a:srgbClr val="171FE2"/>
                </a:solidFill>
              </a:rPr>
              <a:t>La magia della dinamicità risiede nella gestione automatica del ridimensionamento operata dalla classe</a:t>
            </a:r>
            <a:r>
              <a:rPr lang="it-IT" dirty="0"/>
              <a:t>: quando l'array interno si riempie completamente e l'utente invoca un nuovo inserimento, l'</a:t>
            </a:r>
            <a:r>
              <a:rPr lang="it-IT" dirty="0" err="1"/>
              <a:t>ArrayList</a:t>
            </a:r>
            <a:r>
              <a:rPr lang="it-IT" dirty="0"/>
              <a:t> provvede autonomamente ad allocare nello Heap un nuovo array interno più grande (tipicamente il 50% in più del precedente), vi copia tutti i vecchi elementi e </a:t>
            </a:r>
            <a:r>
              <a:rPr lang="it-IT" dirty="0" err="1"/>
              <a:t>dealloca</a:t>
            </a:r>
            <a:r>
              <a:rPr lang="it-IT" dirty="0"/>
              <a:t> il vecchio vettore orfano. </a:t>
            </a:r>
          </a:p>
          <a:p>
            <a:r>
              <a:rPr lang="it-IT" dirty="0">
                <a:solidFill>
                  <a:srgbClr val="171FE2"/>
                </a:solidFill>
              </a:rPr>
              <a:t>Questo comportamento offre al programmatore l'illusione di una struttura a capacità infinita, sollevandolo da qualsiasi gestione manuale dei limiti di memoria.</a:t>
            </a:r>
          </a:p>
        </p:txBody>
      </p:sp>
    </p:spTree>
    <p:extLst>
      <p:ext uri="{BB962C8B-B14F-4D97-AF65-F5344CB8AC3E}">
        <p14:creationId xmlns:p14="http://schemas.microsoft.com/office/powerpoint/2010/main" val="2737241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1F877-6D20-DAA8-5E63-C7B0172A7A14}"/>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5E52003D-57F6-0CAE-10FE-9E833410D4AC}"/>
              </a:ext>
            </a:extLst>
          </p:cNvPr>
          <p:cNvSpPr>
            <a:spLocks noGrp="1"/>
          </p:cNvSpPr>
          <p:nvPr>
            <p:ph type="title"/>
          </p:nvPr>
        </p:nvSpPr>
        <p:spPr>
          <a:xfrm>
            <a:off x="838200" y="831206"/>
            <a:ext cx="10515600" cy="314198"/>
          </a:xfrm>
        </p:spPr>
        <p:txBody>
          <a:bodyPr/>
          <a:lstStyle/>
          <a:p>
            <a:r>
              <a:rPr lang="it-IT" dirty="0"/>
              <a:t>SLIDE 8: Operazioni Fondamentali su </a:t>
            </a:r>
            <a:r>
              <a:rPr lang="it-IT" dirty="0" err="1"/>
              <a:t>ArrayList</a:t>
            </a:r>
            <a:r>
              <a:rPr lang="it-IT" dirty="0"/>
              <a:t>: </a:t>
            </a:r>
            <a:r>
              <a:rPr lang="it-IT" dirty="0" err="1"/>
              <a:t>add</a:t>
            </a:r>
            <a:r>
              <a:rPr lang="it-IT" dirty="0"/>
              <a:t>(), </a:t>
            </a:r>
            <a:r>
              <a:rPr lang="it-IT" dirty="0" err="1"/>
              <a:t>get</a:t>
            </a:r>
            <a:r>
              <a:rPr lang="it-IT" dirty="0"/>
              <a:t>(), size()</a:t>
            </a:r>
          </a:p>
        </p:txBody>
      </p:sp>
      <p:sp>
        <p:nvSpPr>
          <p:cNvPr id="3" name="Contenuto della lezione">
            <a:extLst>
              <a:ext uri="{FF2B5EF4-FFF2-40B4-BE49-F238E27FC236}">
                <a16:creationId xmlns:a16="http://schemas.microsoft.com/office/drawing/2014/main" id="{A57E29AE-55A3-8112-6E29-A88A70B41691}"/>
              </a:ext>
            </a:extLst>
          </p:cNvPr>
          <p:cNvSpPr>
            <a:spLocks noGrp="1"/>
          </p:cNvSpPr>
          <p:nvPr>
            <p:ph idx="1"/>
          </p:nvPr>
        </p:nvSpPr>
        <p:spPr>
          <a:xfrm>
            <a:off x="1317319" y="1589730"/>
            <a:ext cx="9557362" cy="4803369"/>
          </a:xfrm>
        </p:spPr>
        <p:txBody>
          <a:bodyPr/>
          <a:lstStyle/>
          <a:p>
            <a:r>
              <a:rPr lang="it-IT" dirty="0"/>
              <a:t>Saper interagire con un </a:t>
            </a:r>
            <a:r>
              <a:rPr lang="it-IT" dirty="0" err="1"/>
              <a:t>ArrayList</a:t>
            </a:r>
            <a:r>
              <a:rPr lang="it-IT" dirty="0"/>
              <a:t> richiede la padronanza dei suoi metodi standard forniti dall'interfaccia. </a:t>
            </a:r>
          </a:p>
          <a:p>
            <a:r>
              <a:rPr lang="it-IT" dirty="0"/>
              <a:t>Per inserire un elemento in coda alla struttura si utilizza il metodo </a:t>
            </a:r>
            <a:r>
              <a:rPr lang="it-IT" dirty="0">
                <a:solidFill>
                  <a:srgbClr val="171FE2"/>
                </a:solidFill>
                <a:latin typeface="Consolas" panose="020B0609020204030204" pitchFamily="49" charset="0"/>
              </a:rPr>
              <a:t>.</a:t>
            </a:r>
            <a:r>
              <a:rPr lang="it-IT" dirty="0" err="1">
                <a:solidFill>
                  <a:srgbClr val="171FE2"/>
                </a:solidFill>
                <a:latin typeface="Consolas" panose="020B0609020204030204" pitchFamily="49" charset="0"/>
              </a:rPr>
              <a:t>add</a:t>
            </a:r>
            <a:r>
              <a:rPr lang="it-IT" dirty="0">
                <a:solidFill>
                  <a:srgbClr val="171FE2"/>
                </a:solidFill>
                <a:latin typeface="Consolas" panose="020B0609020204030204" pitchFamily="49" charset="0"/>
              </a:rPr>
              <a:t>(elemento)</a:t>
            </a:r>
            <a:r>
              <a:rPr lang="it-IT" dirty="0"/>
              <a:t>. </a:t>
            </a:r>
          </a:p>
          <a:p>
            <a:r>
              <a:rPr lang="it-IT" dirty="0"/>
              <a:t>Per estrarre un valore memorizzato in una determinata posizione, si utilizza il metodo </a:t>
            </a:r>
            <a:r>
              <a:rPr lang="it-IT" dirty="0">
                <a:solidFill>
                  <a:srgbClr val="171FE2"/>
                </a:solidFill>
                <a:latin typeface="Consolas" panose="020B0609020204030204" pitchFamily="49" charset="0"/>
              </a:rPr>
              <a:t>.</a:t>
            </a:r>
            <a:r>
              <a:rPr lang="it-IT" dirty="0" err="1">
                <a:solidFill>
                  <a:srgbClr val="171FE2"/>
                </a:solidFill>
                <a:latin typeface="Consolas" panose="020B0609020204030204" pitchFamily="49" charset="0"/>
              </a:rPr>
              <a:t>get</a:t>
            </a:r>
            <a:r>
              <a:rPr lang="it-IT" dirty="0">
                <a:solidFill>
                  <a:srgbClr val="171FE2"/>
                </a:solidFill>
                <a:latin typeface="Consolas" panose="020B0609020204030204" pitchFamily="49" charset="0"/>
              </a:rPr>
              <a:t>(indice)</a:t>
            </a:r>
            <a:r>
              <a:rPr lang="it-IT" dirty="0"/>
              <a:t>, passando l'indice intero desiderato (ricordando che l'indicizzazione parte sempre da zero). </a:t>
            </a:r>
          </a:p>
          <a:p>
            <a:r>
              <a:rPr lang="it-IT" dirty="0"/>
              <a:t>A differenza degli array statici che esponevano la proprietà </a:t>
            </a:r>
            <a:r>
              <a:rPr lang="it-IT" dirty="0">
                <a:solidFill>
                  <a:srgbClr val="171FE2"/>
                </a:solidFill>
                <a:latin typeface="Consolas" panose="020B0609020204030204" pitchFamily="49" charset="0"/>
              </a:rPr>
              <a:t>.</a:t>
            </a:r>
            <a:r>
              <a:rPr lang="it-IT" dirty="0" err="1">
                <a:solidFill>
                  <a:srgbClr val="171FE2"/>
                </a:solidFill>
                <a:latin typeface="Consolas" panose="020B0609020204030204" pitchFamily="49" charset="0"/>
              </a:rPr>
              <a:t>length</a:t>
            </a:r>
            <a:r>
              <a:rPr lang="it-IT" dirty="0"/>
              <a:t>, le collezioni del framework utilizzano il metodo pubblico </a:t>
            </a:r>
            <a:r>
              <a:rPr lang="it-IT" dirty="0">
                <a:solidFill>
                  <a:srgbClr val="171FE2"/>
                </a:solidFill>
                <a:latin typeface="Consolas" panose="020B0609020204030204" pitchFamily="49" charset="0"/>
              </a:rPr>
              <a:t>.size() </a:t>
            </a:r>
            <a:r>
              <a:rPr lang="it-IT" dirty="0"/>
              <a:t>per restituire il numero esatto di elementi effettivamente presenti in quel momento nella struttura. </a:t>
            </a:r>
          </a:p>
          <a:p>
            <a:r>
              <a:rPr lang="it-IT" dirty="0"/>
              <a:t>Sviluppiamo l'abilità pratica dichiarando una lista di stringhe per gestire i nomi degli studenti: </a:t>
            </a:r>
            <a:r>
              <a:rPr lang="it-IT" dirty="0" err="1">
                <a:solidFill>
                  <a:srgbClr val="171FE2"/>
                </a:solidFill>
                <a:latin typeface="Consolas" panose="020B0609020204030204" pitchFamily="49" charset="0"/>
              </a:rPr>
              <a:t>ArrayList</a:t>
            </a:r>
            <a:r>
              <a:rPr lang="it-IT" dirty="0">
                <a:solidFill>
                  <a:srgbClr val="171FE2"/>
                </a:solidFill>
                <a:latin typeface="Consolas" panose="020B0609020204030204" pitchFamily="49" charset="0"/>
              </a:rPr>
              <a:t>&lt;</a:t>
            </a:r>
            <a:r>
              <a:rPr lang="it-IT" dirty="0" err="1">
                <a:solidFill>
                  <a:srgbClr val="171FE2"/>
                </a:solidFill>
                <a:latin typeface="Consolas" panose="020B0609020204030204" pitchFamily="49" charset="0"/>
              </a:rPr>
              <a:t>String</a:t>
            </a:r>
            <a:r>
              <a:rPr lang="it-IT" dirty="0">
                <a:solidFill>
                  <a:srgbClr val="171FE2"/>
                </a:solidFill>
                <a:latin typeface="Consolas" panose="020B0609020204030204" pitchFamily="49" charset="0"/>
              </a:rPr>
              <a:t>&gt; studenti = new </a:t>
            </a:r>
            <a:r>
              <a:rPr lang="it-IT" dirty="0" err="1">
                <a:solidFill>
                  <a:srgbClr val="171FE2"/>
                </a:solidFill>
                <a:latin typeface="Consolas" panose="020B0609020204030204" pitchFamily="49" charset="0"/>
              </a:rPr>
              <a:t>ArrayList</a:t>
            </a:r>
            <a:r>
              <a:rPr lang="it-IT" dirty="0">
                <a:solidFill>
                  <a:srgbClr val="171FE2"/>
                </a:solidFill>
                <a:latin typeface="Consolas" panose="020B0609020204030204" pitchFamily="49" charset="0"/>
              </a:rPr>
              <a:t>&lt;&gt;();</a:t>
            </a:r>
            <a:r>
              <a:rPr lang="it-IT" dirty="0"/>
              <a:t>. </a:t>
            </a:r>
          </a:p>
          <a:p>
            <a:r>
              <a:rPr lang="it-IT" dirty="0">
                <a:solidFill>
                  <a:srgbClr val="171FE2"/>
                </a:solidFill>
              </a:rPr>
              <a:t>Inseriamo tre nomi con il metodo </a:t>
            </a:r>
            <a:r>
              <a:rPr lang="it-IT" dirty="0" err="1">
                <a:solidFill>
                  <a:srgbClr val="171FE2"/>
                </a:solidFill>
              </a:rPr>
              <a:t>add</a:t>
            </a:r>
            <a:r>
              <a:rPr lang="it-IT" dirty="0">
                <a:solidFill>
                  <a:srgbClr val="171FE2"/>
                </a:solidFill>
              </a:rPr>
              <a:t>, e utilizziamo un ciclo per stamparli estraendoli sequenzialmente tramite il metodo </a:t>
            </a:r>
            <a:r>
              <a:rPr lang="it-IT" dirty="0" err="1">
                <a:solidFill>
                  <a:srgbClr val="171FE2"/>
                </a:solidFill>
              </a:rPr>
              <a:t>get</a:t>
            </a:r>
            <a:r>
              <a:rPr lang="it-IT" dirty="0">
                <a:solidFill>
                  <a:srgbClr val="171FE2"/>
                </a:solidFill>
              </a:rPr>
              <a:t>.</a:t>
            </a:r>
          </a:p>
        </p:txBody>
      </p:sp>
    </p:spTree>
    <p:extLst>
      <p:ext uri="{BB962C8B-B14F-4D97-AF65-F5344CB8AC3E}">
        <p14:creationId xmlns:p14="http://schemas.microsoft.com/office/powerpoint/2010/main" val="2363620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89F19-CAE2-2928-88D6-DCF865385762}"/>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4A52DEB6-A969-B969-555E-B8D4A2349E70}"/>
              </a:ext>
            </a:extLst>
          </p:cNvPr>
          <p:cNvSpPr>
            <a:spLocks noGrp="1"/>
          </p:cNvSpPr>
          <p:nvPr>
            <p:ph type="title"/>
          </p:nvPr>
        </p:nvSpPr>
        <p:spPr>
          <a:xfrm>
            <a:off x="838200" y="831206"/>
            <a:ext cx="10515600" cy="314198"/>
          </a:xfrm>
        </p:spPr>
        <p:txBody>
          <a:bodyPr/>
          <a:lstStyle/>
          <a:p>
            <a:r>
              <a:rPr lang="it-IT" dirty="0"/>
              <a:t>SLIDE 9: Rimozione e Modifica: i Metodi </a:t>
            </a:r>
            <a:r>
              <a:rPr lang="it-IT" dirty="0" err="1"/>
              <a:t>remove</a:t>
            </a:r>
            <a:r>
              <a:rPr lang="it-IT" dirty="0"/>
              <a:t>() e set()</a:t>
            </a:r>
          </a:p>
        </p:txBody>
      </p:sp>
      <p:sp>
        <p:nvSpPr>
          <p:cNvPr id="3" name="Contenuto della lezione">
            <a:extLst>
              <a:ext uri="{FF2B5EF4-FFF2-40B4-BE49-F238E27FC236}">
                <a16:creationId xmlns:a16="http://schemas.microsoft.com/office/drawing/2014/main" id="{FDC0B7FD-5A75-5222-E1D4-29756F5B6C92}"/>
              </a:ext>
            </a:extLst>
          </p:cNvPr>
          <p:cNvSpPr>
            <a:spLocks noGrp="1"/>
          </p:cNvSpPr>
          <p:nvPr>
            <p:ph idx="1"/>
          </p:nvPr>
        </p:nvSpPr>
        <p:spPr>
          <a:xfrm>
            <a:off x="1317319" y="1589730"/>
            <a:ext cx="9557362" cy="4803369"/>
          </a:xfrm>
        </p:spPr>
        <p:txBody>
          <a:bodyPr/>
          <a:lstStyle/>
          <a:p>
            <a:r>
              <a:rPr lang="it-IT" dirty="0"/>
              <a:t>Oltre all'inserimento e alla lettura, un </a:t>
            </a:r>
            <a:r>
              <a:rPr lang="it-IT" dirty="0" err="1"/>
              <a:t>ArrayList</a:t>
            </a:r>
            <a:r>
              <a:rPr lang="it-IT" dirty="0"/>
              <a:t> permette di alterare la propria struttura interna con estrema facilità. </a:t>
            </a:r>
          </a:p>
          <a:p>
            <a:r>
              <a:rPr lang="it-IT" dirty="0"/>
              <a:t>Per modificare il valore contenuto in una determinata posizione senza variare la dimensione della lista, si utilizza il metodo </a:t>
            </a:r>
            <a:r>
              <a:rPr lang="it-IT" dirty="0">
                <a:solidFill>
                  <a:srgbClr val="171FE2"/>
                </a:solidFill>
                <a:latin typeface="Consolas" panose="020B0609020204030204" pitchFamily="49" charset="0"/>
              </a:rPr>
              <a:t>.set(indice, </a:t>
            </a:r>
            <a:r>
              <a:rPr lang="it-IT" dirty="0" err="1">
                <a:solidFill>
                  <a:srgbClr val="171FE2"/>
                </a:solidFill>
                <a:latin typeface="Consolas" panose="020B0609020204030204" pitchFamily="49" charset="0"/>
              </a:rPr>
              <a:t>nuovoElemento</a:t>
            </a:r>
            <a:r>
              <a:rPr lang="it-IT" dirty="0">
                <a:solidFill>
                  <a:srgbClr val="171FE2"/>
                </a:solidFill>
                <a:latin typeface="Consolas" panose="020B0609020204030204" pitchFamily="49" charset="0"/>
              </a:rPr>
              <a:t>)</a:t>
            </a:r>
            <a:r>
              <a:rPr lang="it-IT" dirty="0"/>
              <a:t>, che sovrascrive la cella specificata. </a:t>
            </a:r>
          </a:p>
          <a:p>
            <a:r>
              <a:rPr lang="it-IT" dirty="0"/>
              <a:t>Per eliminare un elemento, il framework mette a disposizione il metodo </a:t>
            </a:r>
            <a:r>
              <a:rPr lang="it-IT" dirty="0">
                <a:solidFill>
                  <a:srgbClr val="171FE2"/>
                </a:solidFill>
                <a:latin typeface="Consolas" panose="020B0609020204030204" pitchFamily="49" charset="0"/>
              </a:rPr>
              <a:t>.</a:t>
            </a:r>
            <a:r>
              <a:rPr lang="it-IT" dirty="0" err="1">
                <a:solidFill>
                  <a:srgbClr val="171FE2"/>
                </a:solidFill>
                <a:latin typeface="Consolas" panose="020B0609020204030204" pitchFamily="49" charset="0"/>
              </a:rPr>
              <a:t>remove</a:t>
            </a:r>
            <a:r>
              <a:rPr lang="it-IT" dirty="0">
                <a:solidFill>
                  <a:srgbClr val="171FE2"/>
                </a:solidFill>
                <a:latin typeface="Consolas" panose="020B0609020204030204" pitchFamily="49" charset="0"/>
              </a:rPr>
              <a:t>()</a:t>
            </a:r>
            <a:r>
              <a:rPr lang="it-IT" dirty="0"/>
              <a:t>, che può accettare come argomento sia l'indice numerico della cella da cancellare </a:t>
            </a:r>
            <a:r>
              <a:rPr lang="it-IT" dirty="0">
                <a:solidFill>
                  <a:srgbClr val="171FE2"/>
                </a:solidFill>
                <a:latin typeface="Consolas" panose="020B0609020204030204" pitchFamily="49" charset="0"/>
              </a:rPr>
              <a:t>(.</a:t>
            </a:r>
            <a:r>
              <a:rPr lang="it-IT" dirty="0" err="1">
                <a:solidFill>
                  <a:srgbClr val="171FE2"/>
                </a:solidFill>
                <a:latin typeface="Consolas" panose="020B0609020204030204" pitchFamily="49" charset="0"/>
              </a:rPr>
              <a:t>remove</a:t>
            </a:r>
            <a:r>
              <a:rPr lang="it-IT" dirty="0">
                <a:solidFill>
                  <a:srgbClr val="171FE2"/>
                </a:solidFill>
                <a:latin typeface="Consolas" panose="020B0609020204030204" pitchFamily="49" charset="0"/>
              </a:rPr>
              <a:t>(2)</a:t>
            </a:r>
            <a:r>
              <a:rPr lang="it-IT" dirty="0"/>
              <a:t>), sia direttamente il riferimento all'oggetto da rimuovere (</a:t>
            </a:r>
            <a:r>
              <a:rPr lang="it-IT" dirty="0">
                <a:solidFill>
                  <a:srgbClr val="171FE2"/>
                </a:solidFill>
                <a:latin typeface="Consolas" panose="020B0609020204030204" pitchFamily="49" charset="0"/>
              </a:rPr>
              <a:t>.</a:t>
            </a:r>
            <a:r>
              <a:rPr lang="it-IT" dirty="0" err="1">
                <a:solidFill>
                  <a:srgbClr val="171FE2"/>
                </a:solidFill>
                <a:latin typeface="Consolas" panose="020B0609020204030204" pitchFamily="49" charset="0"/>
              </a:rPr>
              <a:t>remove</a:t>
            </a:r>
            <a:r>
              <a:rPr lang="it-IT" dirty="0">
                <a:solidFill>
                  <a:srgbClr val="171FE2"/>
                </a:solidFill>
                <a:latin typeface="Consolas" panose="020B0609020204030204" pitchFamily="49" charset="0"/>
              </a:rPr>
              <a:t>("Mario")</a:t>
            </a:r>
            <a:r>
              <a:rPr lang="it-IT" dirty="0"/>
              <a:t>). </a:t>
            </a:r>
          </a:p>
          <a:p>
            <a:r>
              <a:rPr lang="it-IT" dirty="0"/>
              <a:t>Quando si esegue una rimozione, l' </a:t>
            </a:r>
            <a:r>
              <a:rPr lang="it-IT" dirty="0" err="1"/>
              <a:t>ArrayList</a:t>
            </a:r>
            <a:r>
              <a:rPr lang="it-IT" dirty="0"/>
              <a:t> provvede istantaneamente a compattare la memoria nello Heap, </a:t>
            </a:r>
            <a:r>
              <a:rPr lang="it-IT" dirty="0">
                <a:solidFill>
                  <a:srgbClr val="171FE2"/>
                </a:solidFill>
              </a:rPr>
              <a:t>scalando all'indietro di una posizione tutti gli elementi che si trovavano a destra dell'elemento eliminato</a:t>
            </a:r>
            <a:r>
              <a:rPr lang="it-IT" dirty="0"/>
              <a:t>, aggiornando dinamicamente il valore restituito dal metodo size.</a:t>
            </a:r>
            <a:endParaRPr lang="it-IT" dirty="0">
              <a:solidFill>
                <a:srgbClr val="171FE2"/>
              </a:solidFill>
            </a:endParaRPr>
          </a:p>
        </p:txBody>
      </p:sp>
    </p:spTree>
    <p:extLst>
      <p:ext uri="{BB962C8B-B14F-4D97-AF65-F5344CB8AC3E}">
        <p14:creationId xmlns:p14="http://schemas.microsoft.com/office/powerpoint/2010/main" val="3257343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AACFB-E0DD-8A11-1350-03BD96B8B805}"/>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C90A2083-F744-BEDA-FBDE-D39052EF39D6}"/>
              </a:ext>
            </a:extLst>
          </p:cNvPr>
          <p:cNvSpPr>
            <a:spLocks noGrp="1"/>
          </p:cNvSpPr>
          <p:nvPr>
            <p:ph type="title"/>
          </p:nvPr>
        </p:nvSpPr>
        <p:spPr>
          <a:xfrm>
            <a:off x="838200" y="831206"/>
            <a:ext cx="10515600" cy="314198"/>
          </a:xfrm>
        </p:spPr>
        <p:txBody>
          <a:bodyPr/>
          <a:lstStyle/>
          <a:p>
            <a:r>
              <a:rPr lang="it-IT" dirty="0"/>
              <a:t>SLIDE 10: La Classe </a:t>
            </a:r>
            <a:r>
              <a:rPr lang="it-IT" dirty="0" err="1"/>
              <a:t>LinkedList</a:t>
            </a:r>
            <a:r>
              <a:rPr lang="it-IT" dirty="0"/>
              <a:t> e la Struttura a Lista Concatenata</a:t>
            </a:r>
          </a:p>
        </p:txBody>
      </p:sp>
      <p:sp>
        <p:nvSpPr>
          <p:cNvPr id="3" name="Contenuto della lezione">
            <a:extLst>
              <a:ext uri="{FF2B5EF4-FFF2-40B4-BE49-F238E27FC236}">
                <a16:creationId xmlns:a16="http://schemas.microsoft.com/office/drawing/2014/main" id="{A3E0BAFA-A309-2052-4630-476168083410}"/>
              </a:ext>
            </a:extLst>
          </p:cNvPr>
          <p:cNvSpPr>
            <a:spLocks noGrp="1"/>
          </p:cNvSpPr>
          <p:nvPr>
            <p:ph idx="1"/>
          </p:nvPr>
        </p:nvSpPr>
        <p:spPr>
          <a:xfrm>
            <a:off x="1317319" y="1589730"/>
            <a:ext cx="9557362" cy="4803369"/>
          </a:xfrm>
        </p:spPr>
        <p:txBody>
          <a:bodyPr/>
          <a:lstStyle/>
          <a:p>
            <a:r>
              <a:rPr lang="it-IT" dirty="0"/>
              <a:t>La seconda implementazione fondamentale dell'interfaccia List è la classe </a:t>
            </a:r>
            <a:r>
              <a:rPr lang="it-IT" dirty="0" err="1"/>
              <a:t>LinkedList</a:t>
            </a:r>
            <a:r>
              <a:rPr lang="it-IT" dirty="0"/>
              <a:t>.</a:t>
            </a:r>
          </a:p>
          <a:p>
            <a:r>
              <a:rPr lang="it-IT" dirty="0"/>
              <a:t>Sebbene dal punto di vista sintattico esponga gli stessi identici metodi di </a:t>
            </a:r>
            <a:r>
              <a:rPr lang="it-IT" dirty="0" err="1"/>
              <a:t>ArrayList</a:t>
            </a:r>
            <a:r>
              <a:rPr lang="it-IT" dirty="0"/>
              <a:t> (</a:t>
            </a:r>
            <a:r>
              <a:rPr lang="it-IT" dirty="0" err="1"/>
              <a:t>add</a:t>
            </a:r>
            <a:r>
              <a:rPr lang="it-IT" dirty="0"/>
              <a:t>, </a:t>
            </a:r>
            <a:r>
              <a:rPr lang="it-IT" dirty="0" err="1"/>
              <a:t>get</a:t>
            </a:r>
            <a:r>
              <a:rPr lang="it-IT" dirty="0"/>
              <a:t>, </a:t>
            </a:r>
            <a:r>
              <a:rPr lang="it-IT" dirty="0" err="1"/>
              <a:t>remove</a:t>
            </a:r>
            <a:r>
              <a:rPr lang="it-IT" dirty="0"/>
              <a:t>), il suo funzionamento interno a livello hardware è radicalmente differente.</a:t>
            </a:r>
          </a:p>
          <a:p>
            <a:r>
              <a:rPr lang="it-IT" b="1" dirty="0" err="1"/>
              <a:t>LinkedList</a:t>
            </a:r>
            <a:r>
              <a:rPr lang="it-IT" dirty="0"/>
              <a:t> non utilizza un array in cui gli elementi sono salvati uno accanto all'altro in memoria. </a:t>
            </a:r>
            <a:r>
              <a:rPr lang="it-IT" dirty="0">
                <a:solidFill>
                  <a:srgbClr val="171FE2"/>
                </a:solidFill>
              </a:rPr>
              <a:t>Ogni elemento viene invece inserito in un oggetto speciale chiamato </a:t>
            </a:r>
            <a:r>
              <a:rPr lang="it-IT" b="1" dirty="0">
                <a:solidFill>
                  <a:srgbClr val="171FE2"/>
                </a:solidFill>
              </a:rPr>
              <a:t>nodo</a:t>
            </a:r>
            <a:r>
              <a:rPr lang="it-IT" dirty="0"/>
              <a:t>.</a:t>
            </a:r>
          </a:p>
          <a:p>
            <a:r>
              <a:rPr lang="it-IT" dirty="0"/>
              <a:t>Ogni nodo contiene il dato e due riferimenti: uno al nodo precedente e uno al nodo successivo. </a:t>
            </a:r>
          </a:p>
          <a:p>
            <a:r>
              <a:rPr lang="it-IT" dirty="0">
                <a:solidFill>
                  <a:srgbClr val="171FE2"/>
                </a:solidFill>
              </a:rPr>
              <a:t>I nodi possono trovarsi in punti diversi della memoria e non devono essere vicini tra loro</a:t>
            </a:r>
            <a:r>
              <a:rPr lang="it-IT" dirty="0"/>
              <a:t>.</a:t>
            </a:r>
          </a:p>
          <a:p>
            <a:r>
              <a:rPr lang="it-IT" dirty="0"/>
              <a:t>Nonostante questo, tutti i nodi rimangono collegati grazie ai riferimenti tra un nodo e l'altro, formando una </a:t>
            </a:r>
            <a:r>
              <a:rPr lang="it-IT" b="1" dirty="0"/>
              <a:t>lista doppiamente concatenata</a:t>
            </a:r>
            <a:r>
              <a:rPr lang="it-IT" dirty="0"/>
              <a:t>. </a:t>
            </a:r>
          </a:p>
          <a:p>
            <a:r>
              <a:rPr lang="it-IT" dirty="0"/>
              <a:t>È la JVM che gestisce questi collegamenti, permettendo di percorrere la lista nell'ordine corretto.</a:t>
            </a:r>
            <a:endParaRPr lang="it-IT" dirty="0">
              <a:solidFill>
                <a:srgbClr val="171FE2"/>
              </a:solidFill>
            </a:endParaRPr>
          </a:p>
        </p:txBody>
      </p:sp>
    </p:spTree>
    <p:extLst>
      <p:ext uri="{BB962C8B-B14F-4D97-AF65-F5344CB8AC3E}">
        <p14:creationId xmlns:p14="http://schemas.microsoft.com/office/powerpoint/2010/main" val="3669771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79ED6-BB40-434F-A0B9-B1D0C3A7DC45}"/>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3E089C97-FEA1-D2C8-86E6-77D02BC20042}"/>
              </a:ext>
            </a:extLst>
          </p:cNvPr>
          <p:cNvSpPr>
            <a:spLocks noGrp="1"/>
          </p:cNvSpPr>
          <p:nvPr>
            <p:ph type="title"/>
          </p:nvPr>
        </p:nvSpPr>
        <p:spPr>
          <a:xfrm>
            <a:off x="838200" y="831206"/>
            <a:ext cx="10515600" cy="314198"/>
          </a:xfrm>
        </p:spPr>
        <p:txBody>
          <a:bodyPr/>
          <a:lstStyle/>
          <a:p>
            <a:r>
              <a:rPr lang="it-IT" dirty="0"/>
              <a:t>SLIDE 11: Analisi Algoritmica e Complessità Computazionale (Notazione O-Grande)</a:t>
            </a:r>
          </a:p>
        </p:txBody>
      </p:sp>
      <p:sp>
        <p:nvSpPr>
          <p:cNvPr id="3" name="Contenuto della lezione">
            <a:extLst>
              <a:ext uri="{FF2B5EF4-FFF2-40B4-BE49-F238E27FC236}">
                <a16:creationId xmlns:a16="http://schemas.microsoft.com/office/drawing/2014/main" id="{CE5DBE35-4350-6393-54F2-DB9C2E808E49}"/>
              </a:ext>
            </a:extLst>
          </p:cNvPr>
          <p:cNvSpPr>
            <a:spLocks noGrp="1"/>
          </p:cNvSpPr>
          <p:nvPr>
            <p:ph idx="1"/>
          </p:nvPr>
        </p:nvSpPr>
        <p:spPr>
          <a:xfrm>
            <a:off x="1317319" y="1589730"/>
            <a:ext cx="9557362" cy="4803369"/>
          </a:xfrm>
        </p:spPr>
        <p:txBody>
          <a:bodyPr/>
          <a:lstStyle/>
          <a:p>
            <a:r>
              <a:rPr lang="it-IT" dirty="0"/>
              <a:t>Negli istituti tecnici industriali è fondamentale saper analizzare le prestazioni del codice attraverso la notazione computazionale O-Grande. </a:t>
            </a:r>
          </a:p>
          <a:p>
            <a:r>
              <a:rPr lang="it-IT" dirty="0"/>
              <a:t>L'idea di </a:t>
            </a:r>
            <a:r>
              <a:rPr lang="it-IT" b="1" dirty="0"/>
              <a:t>O-Grande (Big O)</a:t>
            </a:r>
            <a:r>
              <a:rPr lang="it-IT" dirty="0"/>
              <a:t> è descrivere </a:t>
            </a:r>
            <a:r>
              <a:rPr lang="it-IT" b="1" dirty="0"/>
              <a:t>come cambia il tempo di esecuzione di un algoritmo quando aumentano i dati da elaborare</a:t>
            </a:r>
            <a:r>
              <a:rPr lang="it-IT" dirty="0"/>
              <a:t>.</a:t>
            </a:r>
          </a:p>
          <a:p>
            <a:pPr marL="285750" indent="-285750">
              <a:buFont typeface="Arial" panose="020B0604020202020204" pitchFamily="34" charset="0"/>
              <a:buChar char="•"/>
            </a:pPr>
            <a:r>
              <a:rPr lang="it-IT" b="1" dirty="0"/>
              <a:t>O(1) – Tempo costante</a:t>
            </a:r>
            <a:br>
              <a:rPr lang="it-IT" dirty="0"/>
            </a:br>
            <a:r>
              <a:rPr lang="it-IT" dirty="0"/>
              <a:t>L'operazione impiega sempre lo stesso tempo, anche se la lista contiene 10, 1.000 o 1.000.000 di elementi. Il numero di dati non influisce sulla velocità.</a:t>
            </a:r>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r>
              <a:rPr lang="it-IT" b="1" dirty="0"/>
              <a:t>O(N) – Tempo lineare</a:t>
            </a:r>
            <a:br>
              <a:rPr lang="it-IT" dirty="0"/>
            </a:br>
            <a:r>
              <a:rPr lang="it-IT" dirty="0"/>
              <a:t>Il tempo cresce in proporzione al numero di elementi (</a:t>
            </a:r>
            <a:r>
              <a:rPr lang="it-IT" b="1" dirty="0"/>
              <a:t>N</a:t>
            </a:r>
            <a:r>
              <a:rPr lang="it-IT" dirty="0"/>
              <a:t> indica il numero di dati). Più grande è la lista, più tempo serve.</a:t>
            </a:r>
          </a:p>
        </p:txBody>
      </p:sp>
    </p:spTree>
    <p:extLst>
      <p:ext uri="{BB962C8B-B14F-4D97-AF65-F5344CB8AC3E}">
        <p14:creationId xmlns:p14="http://schemas.microsoft.com/office/powerpoint/2010/main" val="1072507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5C2FE-F2F8-A272-45B1-1AA6AFFFCA9F}"/>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ADCEDE9C-6461-E2AE-7F03-3F593AC60A75}"/>
              </a:ext>
            </a:extLst>
          </p:cNvPr>
          <p:cNvSpPr>
            <a:spLocks noGrp="1"/>
          </p:cNvSpPr>
          <p:nvPr>
            <p:ph type="title"/>
          </p:nvPr>
        </p:nvSpPr>
        <p:spPr>
          <a:xfrm>
            <a:off x="838200" y="831206"/>
            <a:ext cx="10515600" cy="314198"/>
          </a:xfrm>
        </p:spPr>
        <p:txBody>
          <a:bodyPr/>
          <a:lstStyle/>
          <a:p>
            <a:r>
              <a:rPr lang="it-IT" dirty="0"/>
              <a:t>SLIDE 12: Analisi Algoritmica e Complessità Computazionale (Notazione O-Grande)</a:t>
            </a:r>
          </a:p>
        </p:txBody>
      </p:sp>
      <p:sp>
        <p:nvSpPr>
          <p:cNvPr id="3" name="Contenuto della lezione">
            <a:extLst>
              <a:ext uri="{FF2B5EF4-FFF2-40B4-BE49-F238E27FC236}">
                <a16:creationId xmlns:a16="http://schemas.microsoft.com/office/drawing/2014/main" id="{9F6C5B43-4148-208D-2D77-44DC03503A0C}"/>
              </a:ext>
            </a:extLst>
          </p:cNvPr>
          <p:cNvSpPr>
            <a:spLocks noGrp="1"/>
          </p:cNvSpPr>
          <p:nvPr>
            <p:ph idx="1"/>
          </p:nvPr>
        </p:nvSpPr>
        <p:spPr>
          <a:xfrm>
            <a:off x="1317319" y="1589730"/>
            <a:ext cx="9557362" cy="4803369"/>
          </a:xfrm>
        </p:spPr>
        <p:txBody>
          <a:bodyPr/>
          <a:lstStyle/>
          <a:p>
            <a:r>
              <a:rPr lang="it-IT" dirty="0"/>
              <a:t>Il confronto tra </a:t>
            </a:r>
            <a:r>
              <a:rPr lang="it-IT" dirty="0" err="1"/>
              <a:t>ArrayList</a:t>
            </a:r>
            <a:r>
              <a:rPr lang="it-IT" dirty="0"/>
              <a:t> e </a:t>
            </a:r>
            <a:r>
              <a:rPr lang="it-IT" dirty="0" err="1"/>
              <a:t>LinkedList</a:t>
            </a:r>
            <a:r>
              <a:rPr lang="it-IT" dirty="0"/>
              <a:t> ne è l'esempio perfetto. </a:t>
            </a:r>
          </a:p>
          <a:p>
            <a:r>
              <a:rPr lang="it-IT" dirty="0"/>
              <a:t>L' </a:t>
            </a:r>
            <a:r>
              <a:rPr lang="it-IT" dirty="0" err="1"/>
              <a:t>ArrayList</a:t>
            </a:r>
            <a:r>
              <a:rPr lang="it-IT" dirty="0"/>
              <a:t> eccelle nella lettura: l'operazione .</a:t>
            </a:r>
            <a:r>
              <a:rPr lang="it-IT" dirty="0" err="1"/>
              <a:t>get</a:t>
            </a:r>
            <a:r>
              <a:rPr lang="it-IT" dirty="0"/>
              <a:t>(indice) è immediata, richiedendo un tempo costante O(1), perché la JVM calcola matematicamente l'indirizzo di memoria della cella dell'array. </a:t>
            </a:r>
          </a:p>
          <a:p>
            <a:r>
              <a:rPr lang="it-IT" b="1" dirty="0"/>
              <a:t>Esempio:</a:t>
            </a:r>
            <a:r>
              <a:rPr lang="it-IT" dirty="0"/>
              <a:t> </a:t>
            </a:r>
            <a:r>
              <a:rPr lang="it-IT" dirty="0" err="1">
                <a:solidFill>
                  <a:srgbClr val="171FE2"/>
                </a:solidFill>
                <a:latin typeface="Consolas" panose="020B0609020204030204" pitchFamily="49" charset="0"/>
              </a:rPr>
              <a:t>arrayList.get</a:t>
            </a:r>
            <a:r>
              <a:rPr lang="it-IT" dirty="0">
                <a:solidFill>
                  <a:srgbClr val="171FE2"/>
                </a:solidFill>
                <a:latin typeface="Consolas" panose="020B0609020204030204" pitchFamily="49" charset="0"/>
              </a:rPr>
              <a:t>(5)</a:t>
            </a:r>
            <a:br>
              <a:rPr lang="it-IT" dirty="0"/>
            </a:br>
            <a:r>
              <a:rPr lang="it-IT" dirty="0"/>
              <a:t>La JVM sa subito dove si trova l'elemento in memoria e lo legge direttamente.</a:t>
            </a:r>
          </a:p>
          <a:p>
            <a:r>
              <a:rPr lang="it-IT" dirty="0"/>
              <a:t>Tuttavia, l' </a:t>
            </a:r>
            <a:r>
              <a:rPr lang="it-IT" dirty="0" err="1"/>
              <a:t>ArrayList</a:t>
            </a:r>
            <a:r>
              <a:rPr lang="it-IT" dirty="0"/>
              <a:t> è inefficiente nell'inserimento o rimozione in mezzo alla lista (tempo O(N)), a causa dello </a:t>
            </a:r>
            <a:r>
              <a:rPr lang="it-IT" dirty="0">
                <a:solidFill>
                  <a:srgbClr val="171FE2"/>
                </a:solidFill>
              </a:rPr>
              <a:t>shift dei dati</a:t>
            </a:r>
            <a:r>
              <a:rPr lang="it-IT" dirty="0"/>
              <a:t>. Quando inseriamo o eliminiamo un elemento </a:t>
            </a:r>
            <a:r>
              <a:rPr lang="it-IT" b="1" dirty="0"/>
              <a:t>in una posizione interna</a:t>
            </a:r>
            <a:r>
              <a:rPr lang="it-IT" dirty="0"/>
              <a:t> di un </a:t>
            </a:r>
            <a:r>
              <a:rPr lang="it-IT" dirty="0" err="1"/>
              <a:t>ArrayList</a:t>
            </a:r>
            <a:r>
              <a:rPr lang="it-IT" dirty="0"/>
              <a:t>, tutti gli elementi successivi devono essere </a:t>
            </a:r>
            <a:r>
              <a:rPr lang="it-IT" b="1" dirty="0"/>
              <a:t>spostati</a:t>
            </a:r>
            <a:r>
              <a:rPr lang="it-IT" dirty="0"/>
              <a:t> per mantenere l'ordine della lista.</a:t>
            </a:r>
          </a:p>
          <a:p>
            <a:r>
              <a:rPr lang="it-IT" dirty="0"/>
              <a:t>La </a:t>
            </a:r>
            <a:r>
              <a:rPr lang="it-IT" dirty="0" err="1"/>
              <a:t>LinkedList</a:t>
            </a:r>
            <a:r>
              <a:rPr lang="it-IT" dirty="0"/>
              <a:t> si comporta in modo opposto: l'inserimento o rimozione di un nodo è fulmineo (tempo O(1)), poiché basta aggiornare i puntatori dei nodi adiacenti. Di contro, l'accesso casuale tramite </a:t>
            </a:r>
            <a:r>
              <a:rPr lang="it-IT" dirty="0" err="1"/>
              <a:t>get</a:t>
            </a:r>
            <a:r>
              <a:rPr lang="it-IT" dirty="0"/>
              <a:t> è lentissimo (tempo O(N)), perché la JVM deve scorrere la catena partendo dall'inizio fino a raggiungere il nodo desiderato.</a:t>
            </a:r>
          </a:p>
          <a:p>
            <a:r>
              <a:rPr lang="it-IT" b="1" dirty="0"/>
              <a:t>Esempio:</a:t>
            </a:r>
            <a:r>
              <a:rPr lang="it-IT" dirty="0"/>
              <a:t> </a:t>
            </a:r>
            <a:r>
              <a:rPr lang="it-IT" dirty="0" err="1">
                <a:solidFill>
                  <a:srgbClr val="171FE2"/>
                </a:solidFill>
                <a:latin typeface="Consolas" panose="020B0609020204030204" pitchFamily="49" charset="0"/>
              </a:rPr>
              <a:t>linkedList.get</a:t>
            </a:r>
            <a:r>
              <a:rPr lang="it-IT" dirty="0">
                <a:solidFill>
                  <a:srgbClr val="171FE2"/>
                </a:solidFill>
                <a:latin typeface="Consolas" panose="020B0609020204030204" pitchFamily="49" charset="0"/>
              </a:rPr>
              <a:t>(500)</a:t>
            </a:r>
            <a:br>
              <a:rPr lang="it-IT" dirty="0"/>
            </a:br>
            <a:r>
              <a:rPr lang="it-IT" dirty="0"/>
              <a:t>Per arrivare all'elemento desiderato, la JVM deve passare da un nodo all'altro. Se la lista raddoppia di dimensione, anche il tempo necessario circa raddoppia.</a:t>
            </a:r>
            <a:endParaRPr lang="it-IT" dirty="0">
              <a:solidFill>
                <a:srgbClr val="171FE2"/>
              </a:solidFill>
            </a:endParaRPr>
          </a:p>
        </p:txBody>
      </p:sp>
    </p:spTree>
    <p:extLst>
      <p:ext uri="{BB962C8B-B14F-4D97-AF65-F5344CB8AC3E}">
        <p14:creationId xmlns:p14="http://schemas.microsoft.com/office/powerpoint/2010/main" val="162775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63719-482D-6F6A-2F9B-CE20E91C40E4}"/>
            </a:ext>
          </a:extLst>
        </p:cNvPr>
        <p:cNvGrpSpPr/>
        <p:nvPr/>
      </p:nvGrpSpPr>
      <p:grpSpPr>
        <a:xfrm>
          <a:off x="0" y="0"/>
          <a:ext cx="0" cy="0"/>
          <a:chOff x="0" y="0"/>
          <a:chExt cx="0" cy="0"/>
        </a:xfrm>
      </p:grpSpPr>
      <p:sp>
        <p:nvSpPr>
          <p:cNvPr id="2" name="Titolo della lezione">
            <a:extLst>
              <a:ext uri="{FF2B5EF4-FFF2-40B4-BE49-F238E27FC236}">
                <a16:creationId xmlns:a16="http://schemas.microsoft.com/office/drawing/2014/main" id="{3780AD31-9AB3-97BF-F287-574D047C023C}"/>
              </a:ext>
            </a:extLst>
          </p:cNvPr>
          <p:cNvSpPr>
            <a:spLocks noGrp="1"/>
          </p:cNvSpPr>
          <p:nvPr>
            <p:ph type="title"/>
          </p:nvPr>
        </p:nvSpPr>
        <p:spPr>
          <a:xfrm>
            <a:off x="838200" y="831206"/>
            <a:ext cx="10515600" cy="314198"/>
          </a:xfrm>
        </p:spPr>
        <p:txBody>
          <a:bodyPr/>
          <a:lstStyle/>
          <a:p>
            <a:r>
              <a:rPr lang="it-IT" dirty="0"/>
              <a:t>SLIDE 13: Esercizio Guidato – Cronometrare le Prestazioni in Laboratorio</a:t>
            </a:r>
          </a:p>
        </p:txBody>
      </p:sp>
      <p:sp>
        <p:nvSpPr>
          <p:cNvPr id="3" name="Contenuto della lezione">
            <a:extLst>
              <a:ext uri="{FF2B5EF4-FFF2-40B4-BE49-F238E27FC236}">
                <a16:creationId xmlns:a16="http://schemas.microsoft.com/office/drawing/2014/main" id="{FC32A70C-E4E8-772C-4739-BE002D7833CC}"/>
              </a:ext>
            </a:extLst>
          </p:cNvPr>
          <p:cNvSpPr>
            <a:spLocks noGrp="1"/>
          </p:cNvSpPr>
          <p:nvPr>
            <p:ph idx="1"/>
          </p:nvPr>
        </p:nvSpPr>
        <p:spPr>
          <a:xfrm>
            <a:off x="1317319" y="1589730"/>
            <a:ext cx="9557362" cy="4803369"/>
          </a:xfrm>
        </p:spPr>
        <p:txBody>
          <a:bodyPr/>
          <a:lstStyle/>
          <a:p>
            <a:r>
              <a:rPr lang="it-IT" dirty="0"/>
              <a:t>Sviluppiamo l'abilità pratica di effettuare un benchmark prestazionale per toccare con mano la teoria della complessità algoritmica. Create un programma nel cui </a:t>
            </a:r>
            <a:r>
              <a:rPr lang="it-IT" dirty="0" err="1"/>
              <a:t>main</a:t>
            </a:r>
            <a:r>
              <a:rPr lang="it-IT" dirty="0"/>
              <a:t> vengono istanziati un </a:t>
            </a:r>
            <a:r>
              <a:rPr lang="it-IT" dirty="0" err="1"/>
              <a:t>ArrayList</a:t>
            </a:r>
            <a:r>
              <a:rPr lang="it-IT" dirty="0"/>
              <a:t>&lt;</a:t>
            </a:r>
            <a:r>
              <a:rPr lang="it-IT" dirty="0" err="1"/>
              <a:t>Integer</a:t>
            </a:r>
            <a:r>
              <a:rPr lang="it-IT" dirty="0"/>
              <a:t>&gt; e un </a:t>
            </a:r>
            <a:r>
              <a:rPr lang="it-IT" dirty="0" err="1"/>
              <a:t>LinkedList</a:t>
            </a:r>
            <a:r>
              <a:rPr lang="it-IT" dirty="0"/>
              <a:t>&lt;</a:t>
            </a:r>
            <a:r>
              <a:rPr lang="it-IT" dirty="0" err="1"/>
              <a:t>Integer</a:t>
            </a:r>
            <a:r>
              <a:rPr lang="it-IT" dirty="0"/>
              <a:t>&gt;. Utilizzando un ciclo for massivo, inserite un milione di numeri interi all'interno di entrambe le strutture. Successivamente, misurate il tempo di esecuzione espresso in millisecondi utilizzando il metodo nativo di sistema </a:t>
            </a:r>
            <a:r>
              <a:rPr lang="it-IT" dirty="0" err="1"/>
              <a:t>System.currentTimeMillis</a:t>
            </a:r>
            <a:r>
              <a:rPr lang="it-IT" dirty="0"/>
              <a:t>(); prima e dopo l'esecuzione di un ciclo che estrae centomila volte un elemento in una posizione centrale casuale usando il metodo </a:t>
            </a:r>
            <a:r>
              <a:rPr lang="it-IT" dirty="0" err="1"/>
              <a:t>get</a:t>
            </a:r>
            <a:r>
              <a:rPr lang="it-IT" dirty="0"/>
              <a:t>. Noterete una differenza di tempo macroscopica: l' </a:t>
            </a:r>
            <a:r>
              <a:rPr lang="it-IT" dirty="0" err="1"/>
              <a:t>ArrayList</a:t>
            </a:r>
            <a:r>
              <a:rPr lang="it-IT" dirty="0"/>
              <a:t> completerà l'operazione quasi istantaneamente, mentre la </a:t>
            </a:r>
            <a:r>
              <a:rPr lang="it-IT" dirty="0" err="1"/>
              <a:t>LinkedList</a:t>
            </a:r>
            <a:r>
              <a:rPr lang="it-IT" dirty="0"/>
              <a:t> impiegherà svariati secondi, dimostrando visivamente l'impatto della scelta della struttura dati.</a:t>
            </a:r>
            <a:endParaRPr lang="it-IT" dirty="0">
              <a:solidFill>
                <a:srgbClr val="171FE2"/>
              </a:solidFill>
            </a:endParaRPr>
          </a:p>
        </p:txBody>
      </p:sp>
    </p:spTree>
    <p:extLst>
      <p:ext uri="{BB962C8B-B14F-4D97-AF65-F5344CB8AC3E}">
        <p14:creationId xmlns:p14="http://schemas.microsoft.com/office/powerpoint/2010/main" val="2434657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E02355-4941-9C10-CA1D-649F04DB5143}"/>
              </a:ext>
            </a:extLst>
          </p:cNvPr>
          <p:cNvSpPr>
            <a:spLocks noGrp="1"/>
          </p:cNvSpPr>
          <p:nvPr>
            <p:ph type="title"/>
          </p:nvPr>
        </p:nvSpPr>
        <p:spPr/>
        <p:txBody>
          <a:bodyPr/>
          <a:lstStyle/>
          <a:p>
            <a:r>
              <a:rPr lang="it-IT" spc="0" dirty="0">
                <a:latin typeface="Neue Haas Grotesk Text Pro" panose="020B0504020202020204" pitchFamily="34" charset="0"/>
              </a:rPr>
              <a:t>GRAZIE PER L’ATTENZIONE</a:t>
            </a:r>
          </a:p>
        </p:txBody>
      </p:sp>
    </p:spTree>
    <p:extLst>
      <p:ext uri="{BB962C8B-B14F-4D97-AF65-F5344CB8AC3E}">
        <p14:creationId xmlns:p14="http://schemas.microsoft.com/office/powerpoint/2010/main" val="3003246572"/>
      </p:ext>
    </p:extLst>
  </p:cSld>
  <p:clrMapOvr>
    <a:masterClrMapping/>
  </p:clrMapOvr>
</p:sld>
</file>

<file path=ppt/theme/theme1.xml><?xml version="1.0" encoding="utf-8"?>
<a:theme xmlns:a="http://schemas.openxmlformats.org/drawingml/2006/main" name="Intr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1b72fd8-e7d0-49ac-9795-d1b0bc6b7e1c" xsi:nil="true"/>
    <lcf76f155ced4ddcb4097134ff3c332f xmlns="8b3acf13-3a58-43b2-a29e-f23503de136d">
      <Terms xmlns="http://schemas.microsoft.com/office/infopath/2007/PartnerControls"/>
    </lcf76f155ced4ddcb4097134ff3c332f>
    <Argomento xmlns="8b3acf13-3a58-43b2-a29e-f23503de136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3455C6CD0B9BF4DB2CA3009677D9668" ma:contentTypeVersion="17" ma:contentTypeDescription="Create a new document." ma:contentTypeScope="" ma:versionID="6361f2605a906a42d9630ca59d277a8b">
  <xsd:schema xmlns:xsd="http://www.w3.org/2001/XMLSchema" xmlns:xs="http://www.w3.org/2001/XMLSchema" xmlns:p="http://schemas.microsoft.com/office/2006/metadata/properties" xmlns:ns2="8b3acf13-3a58-43b2-a29e-f23503de136d" xmlns:ns3="21b72fd8-e7d0-49ac-9795-d1b0bc6b7e1c" targetNamespace="http://schemas.microsoft.com/office/2006/metadata/properties" ma:root="true" ma:fieldsID="ae4eb9e2c998b5efed80ec6126f835fa" ns2:_="" ns3:_="">
    <xsd:import namespace="8b3acf13-3a58-43b2-a29e-f23503de136d"/>
    <xsd:import namespace="21b72fd8-e7d0-49ac-9795-d1b0bc6b7e1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Argoment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3acf13-3a58-43b2-a29e-f23503de13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6f31c764-9f90-46cb-b927-e7c76de0672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Argomento" ma:index="24" nillable="true" ma:displayName="Argomento" ma:format="Dropdown" ma:internalName="Argomento">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1b72fd8-e7d0-49ac-9795-d1b0bc6b7e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40603bf2-5c45-4900-ad6d-aa2e93470d68}" ma:internalName="TaxCatchAll" ma:showField="CatchAllData" ma:web="21b72fd8-e7d0-49ac-9795-d1b0bc6b7e1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C65656-B2D8-4C19-A873-091B25A5212E}">
  <ds:schemaRefs>
    <ds:schemaRef ds:uri="http://schemas.microsoft.com/sharepoint/v3/contenttype/forms"/>
  </ds:schemaRefs>
</ds:datastoreItem>
</file>

<file path=customXml/itemProps2.xml><?xml version="1.0" encoding="utf-8"?>
<ds:datastoreItem xmlns:ds="http://schemas.openxmlformats.org/officeDocument/2006/customXml" ds:itemID="{6766878A-54ED-4867-B478-72A29DC19B89}">
  <ds:schemaRefs>
    <ds:schemaRef ds:uri="http://schemas.microsoft.com/office/2006/metadata/properties"/>
    <ds:schemaRef ds:uri="http://schemas.microsoft.com/office/infopath/2007/PartnerControls"/>
    <ds:schemaRef ds:uri="21b72fd8-e7d0-49ac-9795-d1b0bc6b7e1c"/>
    <ds:schemaRef ds:uri="8b3acf13-3a58-43b2-a29e-f23503de136d"/>
  </ds:schemaRefs>
</ds:datastoreItem>
</file>

<file path=customXml/itemProps3.xml><?xml version="1.0" encoding="utf-8"?>
<ds:datastoreItem xmlns:ds="http://schemas.openxmlformats.org/officeDocument/2006/customXml" ds:itemID="{70468F63-B318-4D5F-A1DF-86BE98AC22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3acf13-3a58-43b2-a29e-f23503de136d"/>
    <ds:schemaRef ds:uri="21b72fd8-e7d0-49ac-9795-d1b0bc6b7e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1930</TotalTime>
  <Words>2102</Words>
  <Application>Microsoft Office PowerPoint</Application>
  <PresentationFormat>Widescreen</PresentationFormat>
  <Paragraphs>79</Paragraphs>
  <Slides>16</Slides>
  <Notes>1</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16</vt:i4>
      </vt:variant>
    </vt:vector>
  </HeadingPairs>
  <TitlesOfParts>
    <vt:vector size="22" baseType="lpstr">
      <vt:lpstr>Arial</vt:lpstr>
      <vt:lpstr>Calibri</vt:lpstr>
      <vt:lpstr>Consolas</vt:lpstr>
      <vt:lpstr>Neue Haas Grotesk Display Pro</vt:lpstr>
      <vt:lpstr>Neue Haas Grotesk Text Pro</vt:lpstr>
      <vt:lpstr>Intro</vt:lpstr>
      <vt:lpstr>Presentazione standard di PowerPoint</vt:lpstr>
      <vt:lpstr>Presentazione standard di PowerPoint</vt:lpstr>
      <vt:lpstr>SEZIONE 1: I LIMITI DEGLI ARRAY E L'INTRODUZIONE AL FRAMEWORK (Slide 1 - 6) SLIDE 1: Titolo del Modulo e Obiettivi Competitivi</vt:lpstr>
      <vt:lpstr>SLIDE 2: I Limiti Strutturali degli Array Statici</vt:lpstr>
      <vt:lpstr>SLIDE 3: Cos'è il Java Collection Framework?</vt:lpstr>
      <vt:lpstr>SLIDE 4: La Gerarchia delle Interfacce: Collection, List, Set e Map</vt:lpstr>
      <vt:lpstr>SLIDE 5: Il Concetto di Autoboxing e Unboxing</vt:lpstr>
      <vt:lpstr>SLIDE 6: Introduzione ai Generics: la Notazione Diamond ''</vt:lpstr>
      <vt:lpstr>SEZIONE 2: LE LISTE DINAMICHE – ARRAYLIST VS LINKEDLIST (Slide 7 - 15) SLIDE 7: Unità Didattica 1 – L'Interfaccia List e la Classe ArrayList</vt:lpstr>
      <vt:lpstr>SLIDE 8: Operazioni Fondamentali su ArrayList: add(), get(), size()</vt:lpstr>
      <vt:lpstr>SLIDE 9: Rimozione e Modifica: i Metodi remove() e set()</vt:lpstr>
      <vt:lpstr>SLIDE 10: La Classe LinkedList e la Struttura a Lista Concatenata</vt:lpstr>
      <vt:lpstr>SLIDE 11: Analisi Algoritmica e Complessità Computazionale (Notazione O-Grande)</vt:lpstr>
      <vt:lpstr>SLIDE 12: Analisi Algoritmica e Complessità Computazionale (Notazione O-Grande)</vt:lpstr>
      <vt:lpstr>SLIDE 13: Esercizio Guidato – Cronometrare le Prestazioni in Laboratorio</vt:lpstr>
      <vt:lpstr>GRAZIE PER L’ATTENZIONE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Davide Grillo</dc:creator>
  <cp:lastModifiedBy>Mirko Onorato</cp:lastModifiedBy>
  <cp:revision>319</cp:revision>
  <dcterms:created xsi:type="dcterms:W3CDTF">2023-09-21T07:59:23Z</dcterms:created>
  <dcterms:modified xsi:type="dcterms:W3CDTF">2026-07-10T21:09:49Z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0x010100D3455C6CD0B9BF4DB2CA3009677D9668</vt:lpwstr>
  </property>
</Properties>
</file>