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4"/>
  </p:sldMasterIdLst>
  <p:notesMasterIdLst>
    <p:notesMasterId r:id="rId39"/>
  </p:notesMasterIdLst>
  <p:handoutMasterIdLst>
    <p:handoutMasterId r:id="rId40"/>
  </p:handoutMasterIdLst>
  <p:sldIdLst>
    <p:sldId id="262" r:id="rId5"/>
    <p:sldId id="259" r:id="rId6"/>
    <p:sldId id="263" r:id="rId7"/>
    <p:sldId id="258" r:id="rId8"/>
    <p:sldId id="264" r:id="rId9"/>
    <p:sldId id="265" r:id="rId10"/>
    <p:sldId id="266" r:id="rId11"/>
    <p:sldId id="267" r:id="rId12"/>
    <p:sldId id="268" r:id="rId13"/>
    <p:sldId id="269" r:id="rId14"/>
    <p:sldId id="270" r:id="rId15"/>
    <p:sldId id="271" r:id="rId16"/>
    <p:sldId id="272" r:id="rId17"/>
    <p:sldId id="273" r:id="rId18"/>
    <p:sldId id="275" r:id="rId19"/>
    <p:sldId id="274"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61" r:id="rId3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rko Ony" initials="MO" lastIdx="3" clrIdx="0">
    <p:extLst>
      <p:ext uri="{19B8F6BF-5375-455C-9EA6-DF929625EA0E}">
        <p15:presenceInfo xmlns:p15="http://schemas.microsoft.com/office/powerpoint/2012/main" userId="cdc90d7e3e97d33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1FE2"/>
    <a:srgbClr val="0C0C0D"/>
    <a:srgbClr val="FFDB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20" autoAdjust="0"/>
    <p:restoredTop sz="92907" autoAdjust="0"/>
  </p:normalViewPr>
  <p:slideViewPr>
    <p:cSldViewPr snapToGrid="0" showGuides="1">
      <p:cViewPr varScale="1">
        <p:scale>
          <a:sx n="105" d="100"/>
          <a:sy n="105" d="100"/>
        </p:scale>
        <p:origin x="630" y="11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56" d="100"/>
          <a:sy n="56" d="100"/>
        </p:scale>
        <p:origin x="190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notesMaster" Target="notesMasters/notes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0" Type="http://schemas.openxmlformats.org/officeDocument/2006/relationships/slide" Target="slides/slide16.xml"/><Relationship Id="rId41"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8BF59EF6-0FF4-3C26-C2BB-DB4C816469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FA684938-E2E5-17C8-EF87-D39DC23A0C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B567D21-D55F-4A7B-94FF-7608FD989819}" type="datetimeFigureOut">
              <a:rPr lang="it-IT" smtClean="0"/>
              <a:t>12/07/2026</a:t>
            </a:fld>
            <a:endParaRPr lang="it-IT"/>
          </a:p>
        </p:txBody>
      </p:sp>
      <p:sp>
        <p:nvSpPr>
          <p:cNvPr id="4" name="Segnaposto piè di pagina 3">
            <a:extLst>
              <a:ext uri="{FF2B5EF4-FFF2-40B4-BE49-F238E27FC236}">
                <a16:creationId xmlns:a16="http://schemas.microsoft.com/office/drawing/2014/main" id="{71588DC1-54E0-DA10-6330-B5B85E54BE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4BF496F1-A8FC-84F6-A381-661BDD027C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1F2323-8915-4474-89BB-0944B80755B1}" type="slidenum">
              <a:rPr lang="it-IT" smtClean="0"/>
              <a:t>‹N›</a:t>
            </a:fld>
            <a:endParaRPr lang="it-IT"/>
          </a:p>
        </p:txBody>
      </p:sp>
    </p:spTree>
    <p:extLst>
      <p:ext uri="{BB962C8B-B14F-4D97-AF65-F5344CB8AC3E}">
        <p14:creationId xmlns:p14="http://schemas.microsoft.com/office/powerpoint/2010/main" val="45145869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0B2B73-14A8-482F-9803-A95CC73B5B34}" type="datetimeFigureOut">
              <a:rPr lang="it-IT" smtClean="0"/>
              <a:t>12/07/2026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8FDE81-C331-4896-AC61-55381248B14B}" type="slidenum">
              <a:rPr lang="it-IT" smtClean="0"/>
              <a:t>‹N›</a:t>
            </a:fld>
            <a:endParaRPr lang="it-IT"/>
          </a:p>
        </p:txBody>
      </p:sp>
    </p:spTree>
    <p:extLst>
      <p:ext uri="{BB962C8B-B14F-4D97-AF65-F5344CB8AC3E}">
        <p14:creationId xmlns:p14="http://schemas.microsoft.com/office/powerpoint/2010/main" val="44680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788FDE81-C331-4896-AC61-55381248B14B}" type="slidenum">
              <a:rPr lang="it-IT" smtClean="0"/>
              <a:t>2</a:t>
            </a:fld>
            <a:endParaRPr lang="it-IT"/>
          </a:p>
        </p:txBody>
      </p:sp>
    </p:spTree>
    <p:extLst>
      <p:ext uri="{BB962C8B-B14F-4D97-AF65-F5344CB8AC3E}">
        <p14:creationId xmlns:p14="http://schemas.microsoft.com/office/powerpoint/2010/main" val="13472482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7.jpg"/><Relationship Id="rId5" Type="http://schemas.openxmlformats.org/officeDocument/2006/relationships/image" Target="../media/image6.sv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pic>
        <p:nvPicPr>
          <p:cNvPr id="3" name="Logo">
            <a:extLst>
              <a:ext uri="{FF2B5EF4-FFF2-40B4-BE49-F238E27FC236}">
                <a16:creationId xmlns:a16="http://schemas.microsoft.com/office/drawing/2014/main" id="{4C834844-A2F7-AC9C-2087-6061FCF61E4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881312" y="3055807"/>
            <a:ext cx="6429375" cy="746384"/>
          </a:xfrm>
          <a:prstGeom prst="rect">
            <a:avLst/>
          </a:prstGeom>
        </p:spPr>
      </p:pic>
      <p:sp>
        <p:nvSpPr>
          <p:cNvPr id="2" name="Segnaposto numero diapositiva 1">
            <a:extLst>
              <a:ext uri="{FF2B5EF4-FFF2-40B4-BE49-F238E27FC236}">
                <a16:creationId xmlns:a16="http://schemas.microsoft.com/office/drawing/2014/main" id="{38E5D1B6-A890-892D-9858-91BBCF4C4D74}"/>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tx1"/>
                </a:solidFill>
              </a:defRPr>
            </a:lvl1pPr>
          </a:lstStyle>
          <a:p>
            <a:fld id="{EE05E91E-B103-4211-9892-B5CF4BF06646}" type="slidenum">
              <a:rPr lang="it-IT" smtClean="0"/>
              <a:pPr/>
              <a:t>‹N›</a:t>
            </a:fld>
            <a:endParaRPr lang="it-IT"/>
          </a:p>
        </p:txBody>
      </p:sp>
    </p:spTree>
    <p:extLst>
      <p:ext uri="{BB962C8B-B14F-4D97-AF65-F5344CB8AC3E}">
        <p14:creationId xmlns:p14="http://schemas.microsoft.com/office/powerpoint/2010/main" val="31831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olo della lezione">
    <p:spTree>
      <p:nvGrpSpPr>
        <p:cNvPr id="1" name=""/>
        <p:cNvGrpSpPr/>
        <p:nvPr/>
      </p:nvGrpSpPr>
      <p:grpSpPr>
        <a:xfrm>
          <a:off x="0" y="0"/>
          <a:ext cx="0" cy="0"/>
          <a:chOff x="0" y="0"/>
          <a:chExt cx="0" cy="0"/>
        </a:xfrm>
      </p:grpSpPr>
      <p:pic>
        <p:nvPicPr>
          <p:cNvPr id="10" name="Immagine 9">
            <a:extLst>
              <a:ext uri="{FF2B5EF4-FFF2-40B4-BE49-F238E27FC236}">
                <a16:creationId xmlns:a16="http://schemas.microsoft.com/office/drawing/2014/main" id="{03BCE473-8FC3-9F4F-E292-BFC28ABE7B25}"/>
              </a:ext>
            </a:extLst>
          </p:cNvPr>
          <p:cNvPicPr>
            <a:picLocks noChangeAspect="1"/>
          </p:cNvPicPr>
          <p:nvPr userDrawn="1"/>
        </p:nvPicPr>
        <p:blipFill rotWithShape="1">
          <a:blip r:embed="rId2">
            <a:extLst>
              <a:ext uri="{BEBA8EAE-BF5A-486C-A8C5-ECC9F3942E4B}">
                <a14:imgProps xmlns:a14="http://schemas.microsoft.com/office/drawing/2010/main">
                  <a14:imgLayer r:embed="rId3">
                    <a14:imgEffect>
                      <a14:sharpenSoften amount="-100000"/>
                    </a14:imgEffect>
                    <a14:imgEffect>
                      <a14:saturation sat="66000"/>
                    </a14:imgEffect>
                  </a14:imgLayer>
                </a14:imgProps>
              </a:ext>
              <a:ext uri="{28A0092B-C50C-407E-A947-70E740481C1C}">
                <a14:useLocalDpi xmlns:a14="http://schemas.microsoft.com/office/drawing/2010/main" val="0"/>
              </a:ext>
            </a:extLst>
          </a:blip>
          <a:srcRect t="7498" b="7498"/>
          <a:stretch/>
        </p:blipFill>
        <p:spPr>
          <a:xfrm>
            <a:off x="8" y="4"/>
            <a:ext cx="12191984" cy="6857991"/>
          </a:xfrm>
          <a:prstGeom prst="rect">
            <a:avLst/>
          </a:prstGeom>
        </p:spPr>
      </p:pic>
      <p:sp>
        <p:nvSpPr>
          <p:cNvPr id="2" name="Titolo 1">
            <a:extLst>
              <a:ext uri="{FF2B5EF4-FFF2-40B4-BE49-F238E27FC236}">
                <a16:creationId xmlns:a16="http://schemas.microsoft.com/office/drawing/2014/main" id="{D46FDB36-122C-6ED3-0E68-A04440759196}"/>
              </a:ext>
            </a:extLst>
          </p:cNvPr>
          <p:cNvSpPr>
            <a:spLocks noGrp="1"/>
          </p:cNvSpPr>
          <p:nvPr>
            <p:ph type="ctrTitle" hasCustomPrompt="1"/>
          </p:nvPr>
        </p:nvSpPr>
        <p:spPr>
          <a:xfrm>
            <a:off x="4749604" y="2315869"/>
            <a:ext cx="2692791" cy="55802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2800" b="1" kern="1200">
                <a:solidFill>
                  <a:schemeClr val="bg1"/>
                </a:solidFill>
                <a:latin typeface="Neue Haas Grotesk Display Pro" panose="020D0304030502050203" pitchFamily="34" charset="0"/>
                <a:ea typeface="+mj-ea"/>
                <a:cs typeface="+mj-cs"/>
              </a:defRPr>
            </a:lvl1pPr>
          </a:lstStyle>
          <a:p>
            <a:r>
              <a:rPr lang="it-IT" dirty="0"/>
              <a:t>Lezione n</a:t>
            </a:r>
          </a:p>
        </p:txBody>
      </p:sp>
      <p:sp>
        <p:nvSpPr>
          <p:cNvPr id="3" name="Sottotitolo 2">
            <a:extLst>
              <a:ext uri="{FF2B5EF4-FFF2-40B4-BE49-F238E27FC236}">
                <a16:creationId xmlns:a16="http://schemas.microsoft.com/office/drawing/2014/main" id="{C0F8F589-6BFD-59A4-6E34-32CA9C30E50B}"/>
              </a:ext>
            </a:extLst>
          </p:cNvPr>
          <p:cNvSpPr>
            <a:spLocks noGrp="1"/>
          </p:cNvSpPr>
          <p:nvPr>
            <p:ph type="subTitle" idx="1" hasCustomPrompt="1"/>
          </p:nvPr>
        </p:nvSpPr>
        <p:spPr>
          <a:xfrm>
            <a:off x="838200" y="3152912"/>
            <a:ext cx="10515600" cy="67281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4400" b="1" kern="1200">
                <a:solidFill>
                  <a:schemeClr val="bg1"/>
                </a:solidFill>
                <a:latin typeface="Neue Haas Grotesk Display Pro" panose="020D0304030502050203"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a:t>TITOLO DELLA LEZIONE</a:t>
            </a:r>
          </a:p>
        </p:txBody>
      </p:sp>
      <p:sp>
        <p:nvSpPr>
          <p:cNvPr id="7" name="Autore">
            <a:extLst>
              <a:ext uri="{FF2B5EF4-FFF2-40B4-BE49-F238E27FC236}">
                <a16:creationId xmlns:a16="http://schemas.microsoft.com/office/drawing/2014/main" id="{21C9F551-AFE9-0973-2117-C6CBF8585A06}"/>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bg1"/>
                </a:solidFill>
                <a:latin typeface="Arial"/>
                <a:cs typeface="Arial"/>
              </a:rPr>
              <a:t>Autore: Mirko Onorato</a:t>
            </a:r>
            <a:endParaRPr lang="it-IT" sz="950" spc="300" dirty="0">
              <a:solidFill>
                <a:schemeClr val="bg1"/>
              </a:solidFill>
              <a:latin typeface="Arial"/>
              <a:cs typeface="Arial"/>
            </a:endParaRPr>
          </a:p>
        </p:txBody>
      </p:sp>
      <p:pic>
        <p:nvPicPr>
          <p:cNvPr id="8" name="Logo">
            <a:extLst>
              <a:ext uri="{FF2B5EF4-FFF2-40B4-BE49-F238E27FC236}">
                <a16:creationId xmlns:a16="http://schemas.microsoft.com/office/drawing/2014/main" id="{C4425D4D-A67B-8DB9-9A03-E768C2FD3E34}"/>
              </a:ext>
            </a:extLst>
          </p:cNvPr>
          <p:cNvPicPr>
            <a:picLocks noChangeAspect="1"/>
          </p:cNvPicPr>
          <p:nvPr userDrawn="1"/>
        </p:nvPicPr>
        <p:blipFill>
          <a:blip r:embed="rId4">
            <a:lum bright="100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8488" y="285335"/>
            <a:ext cx="2211023" cy="314198"/>
          </a:xfrm>
          <a:prstGeom prst="rect">
            <a:avLst/>
          </a:prstGeom>
        </p:spPr>
      </p:pic>
      <p:sp>
        <p:nvSpPr>
          <p:cNvPr id="13" name="Segnaposto numero diapositiva 6" hidden="1">
            <a:extLst>
              <a:ext uri="{FF2B5EF4-FFF2-40B4-BE49-F238E27FC236}">
                <a16:creationId xmlns:a16="http://schemas.microsoft.com/office/drawing/2014/main" id="{F8AAF250-B3FA-F808-9996-FA310B7EEAE0}"/>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bg1"/>
                </a:solidFill>
              </a:defRPr>
            </a:lvl1pPr>
          </a:lstStyle>
          <a:p>
            <a:fld id="{EE05E91E-B103-4211-9892-B5CF4BF06646}" type="slidenum">
              <a:rPr lang="it-IT" smtClean="0"/>
              <a:pPr/>
              <a:t>‹N›</a:t>
            </a:fld>
            <a:endParaRPr lang="it-IT"/>
          </a:p>
        </p:txBody>
      </p:sp>
      <p:pic>
        <p:nvPicPr>
          <p:cNvPr id="4" name="object 2">
            <a:extLst>
              <a:ext uri="{FF2B5EF4-FFF2-40B4-BE49-F238E27FC236}">
                <a16:creationId xmlns:a16="http://schemas.microsoft.com/office/drawing/2014/main" id="{481FF4BB-6EC3-F2A7-6542-58D51086A02D}"/>
              </a:ext>
            </a:extLst>
          </p:cNvPr>
          <p:cNvPicPr preferRelativeResize="0"/>
          <p:nvPr userDrawn="1"/>
        </p:nvPicPr>
        <p:blipFill rotWithShape="1">
          <a:blip r:embed="rId6" cstate="print"/>
          <a:srcRect l="1386" t="187" r="342" b="95555"/>
          <a:stretch/>
        </p:blipFill>
        <p:spPr>
          <a:xfrm>
            <a:off x="0" y="0"/>
            <a:ext cx="12191992" cy="203059"/>
          </a:xfrm>
          <a:prstGeom prst="rect">
            <a:avLst/>
          </a:prstGeom>
        </p:spPr>
      </p:pic>
    </p:spTree>
    <p:extLst>
      <p:ext uri="{BB962C8B-B14F-4D97-AF65-F5344CB8AC3E}">
        <p14:creationId xmlns:p14="http://schemas.microsoft.com/office/powerpoint/2010/main" val="3682285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L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98DC6F-CD43-0811-A979-B271C0C3AF9E}"/>
              </a:ext>
            </a:extLst>
          </p:cNvPr>
          <p:cNvSpPr>
            <a:spLocks noGrp="1"/>
          </p:cNvSpPr>
          <p:nvPr>
            <p:ph type="title"/>
          </p:nvPr>
        </p:nvSpPr>
        <p:spPr>
          <a:xfrm>
            <a:off x="838200" y="831206"/>
            <a:ext cx="10515600" cy="314198"/>
          </a:xfrm>
          <a:prstGeom prst="rect">
            <a:avLst/>
          </a:prstGeom>
        </p:spPr>
        <p:txBody>
          <a:bodyPr/>
          <a:lstStyle>
            <a:lvl1pPr>
              <a:defRPr sz="2200" b="1">
                <a:solidFill>
                  <a:srgbClr val="171FE2"/>
                </a:solidFill>
                <a:latin typeface="Neue Haas Grotesk Text Pro" panose="020B0504020202020204" pitchFamily="34" charset="0"/>
              </a:defRPr>
            </a:lvl1pPr>
          </a:lstStyle>
          <a:p>
            <a:endParaRPr lang="it-IT" dirty="0"/>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Contenuto della lezione</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dirty="0"/>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rgbClr val="171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Mirko Onorato</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40225629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Laboratorio">
    <p:spTree>
      <p:nvGrpSpPr>
        <p:cNvPr id="1" name=""/>
        <p:cNvGrpSpPr/>
        <p:nvPr/>
      </p:nvGrpSpPr>
      <p:grpSpPr>
        <a:xfrm>
          <a:off x="0" y="0"/>
          <a:ext cx="0" cy="0"/>
          <a:chOff x="0" y="0"/>
          <a:chExt cx="0" cy="0"/>
        </a:xfrm>
      </p:grpSpPr>
      <p:sp>
        <p:nvSpPr>
          <p:cNvPr id="11" name="Rettangolo 10">
            <a:extLst>
              <a:ext uri="{FF2B5EF4-FFF2-40B4-BE49-F238E27FC236}">
                <a16:creationId xmlns:a16="http://schemas.microsoft.com/office/drawing/2014/main" id="{5DB3A6F7-B730-F638-2762-1FD1042E5DD4}"/>
              </a:ext>
            </a:extLst>
          </p:cNvPr>
          <p:cNvSpPr/>
          <p:nvPr userDrawn="1"/>
        </p:nvSpPr>
        <p:spPr>
          <a:xfrm>
            <a:off x="0" y="0"/>
            <a:ext cx="12192000" cy="6858000"/>
          </a:xfrm>
          <a:prstGeom prst="rect">
            <a:avLst/>
          </a:prstGeom>
          <a:solidFill>
            <a:srgbClr val="FFD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F698DC6F-CD43-0811-A979-B271C0C3AF9E}"/>
              </a:ext>
            </a:extLst>
          </p:cNvPr>
          <p:cNvSpPr>
            <a:spLocks noGrp="1"/>
          </p:cNvSpPr>
          <p:nvPr>
            <p:ph type="title" hasCustomPrompt="1"/>
          </p:nvPr>
        </p:nvSpPr>
        <p:spPr>
          <a:xfrm>
            <a:off x="838200" y="831206"/>
            <a:ext cx="10515600" cy="314198"/>
          </a:xfrm>
          <a:prstGeom prst="rect">
            <a:avLst/>
          </a:prstGeom>
        </p:spPr>
        <p:txBody>
          <a:bodyPr/>
          <a:lstStyle>
            <a:lvl1pPr>
              <a:defRPr sz="2200" b="1">
                <a:solidFill>
                  <a:schemeClr val="tx1"/>
                </a:solidFill>
                <a:latin typeface="Neue Haas Grotesk Text Pro" panose="020B0504020202020204" pitchFamily="34" charset="0"/>
              </a:defRPr>
            </a:lvl1pPr>
          </a:lstStyle>
          <a:p>
            <a:r>
              <a:rPr lang="it-IT" dirty="0"/>
              <a:t>Titolo del laboratorio</a:t>
            </a:r>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Traccia del laboratorio</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Nome Cognome</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2382784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Only" preserve="1">
  <p:cSld name="Ou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GRAZIE PER L’ATTENZIONE</a:t>
            </a:r>
          </a:p>
        </p:txBody>
      </p:sp>
    </p:spTree>
    <p:extLst>
      <p:ext uri="{BB962C8B-B14F-4D97-AF65-F5344CB8AC3E}">
        <p14:creationId xmlns:p14="http://schemas.microsoft.com/office/powerpoint/2010/main" val="1288546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Break">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BREAK</a:t>
            </a:r>
          </a:p>
        </p:txBody>
      </p:sp>
    </p:spTree>
    <p:extLst>
      <p:ext uri="{BB962C8B-B14F-4D97-AF65-F5344CB8AC3E}">
        <p14:creationId xmlns:p14="http://schemas.microsoft.com/office/powerpoint/2010/main" val="736105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sv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9" name="Sfondo">
            <a:extLst>
              <a:ext uri="{FF2B5EF4-FFF2-40B4-BE49-F238E27FC236}">
                <a16:creationId xmlns:a16="http://schemas.microsoft.com/office/drawing/2014/main" id="{0871CBC8-6163-D253-2648-0C5B2A35DADC}"/>
              </a:ext>
            </a:extLst>
          </p:cNvPr>
          <p:cNvGrpSpPr/>
          <p:nvPr userDrawn="1"/>
        </p:nvGrpSpPr>
        <p:grpSpPr>
          <a:xfrm>
            <a:off x="0" y="0"/>
            <a:ext cx="12191999" cy="6857998"/>
            <a:chOff x="0" y="0"/>
            <a:chExt cx="12191999" cy="6857998"/>
          </a:xfrm>
        </p:grpSpPr>
        <p:pic>
          <p:nvPicPr>
            <p:cNvPr id="7" name="bg object 16">
              <a:extLst>
                <a:ext uri="{FF2B5EF4-FFF2-40B4-BE49-F238E27FC236}">
                  <a16:creationId xmlns:a16="http://schemas.microsoft.com/office/drawing/2014/main" id="{D3B481F3-FDD2-E9B0-AAF0-6B05C97B7493}"/>
                </a:ext>
              </a:extLst>
            </p:cNvPr>
            <p:cNvPicPr/>
            <p:nvPr userDrawn="1"/>
          </p:nvPicPr>
          <p:blipFill>
            <a:blip r:embed="rId8" cstate="print"/>
            <a:stretch>
              <a:fillRect/>
            </a:stretch>
          </p:blipFill>
          <p:spPr>
            <a:xfrm>
              <a:off x="0" y="0"/>
              <a:ext cx="12191999" cy="6857998"/>
            </a:xfrm>
            <a:prstGeom prst="rect">
              <a:avLst/>
            </a:prstGeom>
          </p:spPr>
        </p:pic>
        <p:sp>
          <p:nvSpPr>
            <p:cNvPr id="8" name="Sfondo nero">
              <a:extLst>
                <a:ext uri="{FF2B5EF4-FFF2-40B4-BE49-F238E27FC236}">
                  <a16:creationId xmlns:a16="http://schemas.microsoft.com/office/drawing/2014/main" id="{2B2124EE-D2EC-EB26-C788-2D1671E2C0D4}"/>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6" name="Segnaposto numero diapositiva 5" hidden="1">
            <a:extLst>
              <a:ext uri="{FF2B5EF4-FFF2-40B4-BE49-F238E27FC236}">
                <a16:creationId xmlns:a16="http://schemas.microsoft.com/office/drawing/2014/main" id="{8BF62DA6-567D-9738-C9B4-B35130FB09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400">
                <a:solidFill>
                  <a:schemeClr val="tx1"/>
                </a:solidFill>
                <a:latin typeface="Neue Haas Grotesk Text Pro" panose="020B0504020202020204" pitchFamily="34" charset="0"/>
              </a:defRPr>
            </a:lvl1pPr>
          </a:lstStyle>
          <a:p>
            <a:fld id="{EE05E91E-B103-4211-9892-B5CF4BF06646}" type="slidenum">
              <a:rPr lang="it-IT" smtClean="0"/>
              <a:pPr/>
              <a:t>‹N›</a:t>
            </a:fld>
            <a:endParaRPr lang="it-IT"/>
          </a:p>
        </p:txBody>
      </p:sp>
      <p:pic>
        <p:nvPicPr>
          <p:cNvPr id="10" name="Logo">
            <a:extLst>
              <a:ext uri="{FF2B5EF4-FFF2-40B4-BE49-F238E27FC236}">
                <a16:creationId xmlns:a16="http://schemas.microsoft.com/office/drawing/2014/main" id="{08AF4DDA-AF5C-9192-0A90-B2EE16B19797}"/>
              </a:ext>
            </a:extLst>
          </p:cNvPr>
          <p:cNvPicPr>
            <a:picLocks noChangeAspect="1"/>
          </p:cNvPicPr>
          <p:nvPr userDrawn="1"/>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881312" y="3055807"/>
            <a:ext cx="6429375" cy="746384"/>
          </a:xfrm>
          <a:prstGeom prst="rect">
            <a:avLst/>
          </a:prstGeom>
        </p:spPr>
      </p:pic>
    </p:spTree>
    <p:extLst>
      <p:ext uri="{BB962C8B-B14F-4D97-AF65-F5344CB8AC3E}">
        <p14:creationId xmlns:p14="http://schemas.microsoft.com/office/powerpoint/2010/main" val="3447315000"/>
      </p:ext>
    </p:extLst>
  </p:cSld>
  <p:clrMap bg1="lt1" tx1="dk1" bg2="lt2" tx2="dk2" accent1="accent1" accent2="accent2" accent3="accent3" accent4="accent4" accent5="accent5" accent6="accent6" hlink="hlink" folHlink="folHlink"/>
  <p:sldLayoutIdLst>
    <p:sldLayoutId id="2147483693" r:id="rId1"/>
    <p:sldLayoutId id="2147483691" r:id="rId2"/>
    <p:sldLayoutId id="2147483674" r:id="rId3"/>
    <p:sldLayoutId id="2147483692" r:id="rId4"/>
    <p:sldLayoutId id="2147483678" r:id="rId5"/>
    <p:sldLayoutId id="2147483694"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65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614AE908-95ED-7A3B-515A-275CA8318424}"/>
              </a:ext>
            </a:extLst>
          </p:cNvPr>
          <p:cNvSpPr>
            <a:spLocks noGrp="1"/>
          </p:cNvSpPr>
          <p:nvPr>
            <p:ph type="subTitle" idx="1"/>
          </p:nvPr>
        </p:nvSpPr>
        <p:spPr>
          <a:xfrm>
            <a:off x="838200" y="2795046"/>
            <a:ext cx="10515600" cy="1445982"/>
          </a:xfrm>
        </p:spPr>
        <p:txBody>
          <a:bodyPr/>
          <a:lstStyle/>
          <a:p>
            <a:r>
              <a:rPr lang="it-IT" dirty="0"/>
              <a:t>Java </a:t>
            </a:r>
            <a:r>
              <a:rPr lang="it-IT" dirty="0" err="1"/>
              <a:t>Collections</a:t>
            </a:r>
            <a:endParaRPr lang="it-IT" dirty="0"/>
          </a:p>
          <a:p>
            <a:endParaRPr lang="it-IT" dirty="0"/>
          </a:p>
        </p:txBody>
      </p:sp>
      <p:sp>
        <p:nvSpPr>
          <p:cNvPr id="7" name="Segnaposto numero diapositiva 6">
            <a:extLst>
              <a:ext uri="{FF2B5EF4-FFF2-40B4-BE49-F238E27FC236}">
                <a16:creationId xmlns:a16="http://schemas.microsoft.com/office/drawing/2014/main" id="{EDAC5512-E772-1D07-1956-6544F2732AF4}"/>
              </a:ext>
            </a:extLst>
          </p:cNvPr>
          <p:cNvSpPr>
            <a:spLocks noGrp="1"/>
          </p:cNvSpPr>
          <p:nvPr>
            <p:ph type="sldNum" sz="quarter" idx="10"/>
          </p:nvPr>
        </p:nvSpPr>
        <p:spPr/>
        <p:txBody>
          <a:bodyPr/>
          <a:lstStyle/>
          <a:p>
            <a:fld id="{EE05E91E-B103-4211-9892-B5CF4BF06646}" type="slidenum">
              <a:rPr lang="it-IT" smtClean="0">
                <a:solidFill>
                  <a:srgbClr val="0C0C0D"/>
                </a:solidFill>
              </a:rPr>
              <a:pPr/>
              <a:t>2</a:t>
            </a:fld>
            <a:endParaRPr lang="it-IT" dirty="0">
              <a:solidFill>
                <a:srgbClr val="0C0C0D"/>
              </a:solidFill>
            </a:endParaRPr>
          </a:p>
        </p:txBody>
      </p:sp>
    </p:spTree>
    <p:extLst>
      <p:ext uri="{BB962C8B-B14F-4D97-AF65-F5344CB8AC3E}">
        <p14:creationId xmlns:p14="http://schemas.microsoft.com/office/powerpoint/2010/main" val="3390793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A5539-3D10-C260-E493-7DEDE722D46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9C18701-8936-E1DE-05D2-B40D18EB87FD}"/>
              </a:ext>
            </a:extLst>
          </p:cNvPr>
          <p:cNvSpPr>
            <a:spLocks noGrp="1"/>
          </p:cNvSpPr>
          <p:nvPr>
            <p:ph type="title"/>
          </p:nvPr>
        </p:nvSpPr>
        <p:spPr>
          <a:xfrm>
            <a:off x="838200" y="831206"/>
            <a:ext cx="10515600" cy="314198"/>
          </a:xfrm>
        </p:spPr>
        <p:txBody>
          <a:bodyPr/>
          <a:lstStyle/>
          <a:p>
            <a:r>
              <a:rPr lang="it-IT" dirty="0"/>
              <a:t>SEZIONE 1: I LIMITI DEGLI ARRAY E L'INTRODUZIONE AL FRAMEWORK (Slide 1 - 6)</a:t>
            </a:r>
            <a:br>
              <a:rPr lang="it-IT" dirty="0"/>
            </a:br>
            <a:r>
              <a:rPr lang="it-IT" dirty="0"/>
              <a:t>SLIDE 1: Titolo del Modulo e Obiettivi Competitivi</a:t>
            </a:r>
          </a:p>
        </p:txBody>
      </p:sp>
      <p:sp>
        <p:nvSpPr>
          <p:cNvPr id="3" name="Contenuto della lezione">
            <a:extLst>
              <a:ext uri="{FF2B5EF4-FFF2-40B4-BE49-F238E27FC236}">
                <a16:creationId xmlns:a16="http://schemas.microsoft.com/office/drawing/2014/main" id="{43BF5AB2-5B46-7AD2-2974-FFAAFA65ADB8}"/>
              </a:ext>
            </a:extLst>
          </p:cNvPr>
          <p:cNvSpPr>
            <a:spLocks noGrp="1"/>
          </p:cNvSpPr>
          <p:nvPr>
            <p:ph idx="1"/>
          </p:nvPr>
        </p:nvSpPr>
        <p:spPr>
          <a:xfrm>
            <a:off x="1317319" y="2120082"/>
            <a:ext cx="9557362" cy="4803369"/>
          </a:xfrm>
        </p:spPr>
        <p:txBody>
          <a:bodyPr/>
          <a:lstStyle/>
          <a:p>
            <a:r>
              <a:rPr lang="it-IT" dirty="0"/>
              <a:t>Nelle lezioni precedenti abbiamo compreso come modellare singoli oggetti e come raggrupparli all'interno di array statici. Tuttavia, nello sviluppo del software aziendale moderno, i dati non hanno quasi mai una dimensione fissa e prevedibile a priori.</a:t>
            </a:r>
          </a:p>
          <a:p>
            <a:r>
              <a:rPr lang="it-IT" dirty="0"/>
              <a:t>Immaginate di dover gestire i tweet di una piattaforma social, i prodotti nel carrello di un e-commerce o la lista degli utenti connessi a un server di gioco: </a:t>
            </a:r>
            <a:r>
              <a:rPr lang="it-IT" dirty="0">
                <a:solidFill>
                  <a:srgbClr val="171FE2"/>
                </a:solidFill>
              </a:rPr>
              <a:t>queste strutture dati crescono e si rimpiccioliscono dinamicamente istante per istante</a:t>
            </a:r>
            <a:r>
              <a:rPr lang="it-IT" dirty="0"/>
              <a:t>.</a:t>
            </a:r>
          </a:p>
          <a:p>
            <a:r>
              <a:rPr lang="it-IT" dirty="0"/>
              <a:t>L'obiettivo competitivo di questo modulo è acquisire la micro-competenza necessaria a padroneggiare le strutture dati dinamiche avanzate messe a disposizione dall'architettura standard di Java. </a:t>
            </a:r>
          </a:p>
          <a:p>
            <a:r>
              <a:rPr lang="it-IT" dirty="0"/>
              <a:t>Imparerete non solo a usare queste collezioni, ma a scegliere scientemente la struttura più efficiente (in termini di occupazione di memoria e tempi di calcolo) per risolvere uno specifico problema ingegneristico.</a:t>
            </a:r>
          </a:p>
        </p:txBody>
      </p:sp>
    </p:spTree>
    <p:extLst>
      <p:ext uri="{BB962C8B-B14F-4D97-AF65-F5344CB8AC3E}">
        <p14:creationId xmlns:p14="http://schemas.microsoft.com/office/powerpoint/2010/main" val="39654153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della lezione">
            <a:extLst>
              <a:ext uri="{FF2B5EF4-FFF2-40B4-BE49-F238E27FC236}">
                <a16:creationId xmlns:a16="http://schemas.microsoft.com/office/drawing/2014/main" id="{C232A863-9AB2-F1DD-0EBE-01D055E0CAD3}"/>
              </a:ext>
            </a:extLst>
          </p:cNvPr>
          <p:cNvSpPr>
            <a:spLocks noGrp="1"/>
          </p:cNvSpPr>
          <p:nvPr>
            <p:ph type="title"/>
          </p:nvPr>
        </p:nvSpPr>
        <p:spPr>
          <a:xfrm>
            <a:off x="838200" y="831206"/>
            <a:ext cx="10515600" cy="314198"/>
          </a:xfrm>
        </p:spPr>
        <p:txBody>
          <a:bodyPr/>
          <a:lstStyle/>
          <a:p>
            <a:r>
              <a:rPr lang="it-IT" dirty="0"/>
              <a:t>SLIDE 2: I Limiti Strutturali degli Array Statici</a:t>
            </a:r>
          </a:p>
        </p:txBody>
      </p:sp>
      <p:sp>
        <p:nvSpPr>
          <p:cNvPr id="3" name="Contenuto della lezione">
            <a:extLst>
              <a:ext uri="{FF2B5EF4-FFF2-40B4-BE49-F238E27FC236}">
                <a16:creationId xmlns:a16="http://schemas.microsoft.com/office/drawing/2014/main" id="{4B7AE27A-7139-F647-C23C-B014C3A3B6AE}"/>
              </a:ext>
            </a:extLst>
          </p:cNvPr>
          <p:cNvSpPr>
            <a:spLocks noGrp="1"/>
          </p:cNvSpPr>
          <p:nvPr>
            <p:ph idx="1"/>
          </p:nvPr>
        </p:nvSpPr>
        <p:spPr>
          <a:xfrm>
            <a:off x="1317319" y="1800042"/>
            <a:ext cx="9557362" cy="4803369"/>
          </a:xfrm>
        </p:spPr>
        <p:txBody>
          <a:bodyPr/>
          <a:lstStyle/>
          <a:p>
            <a:r>
              <a:rPr lang="it-IT" dirty="0"/>
              <a:t>Per comprendere l'utilità del Java Collection Framework, dobbiamo analizzare criticamente i limiti intrinseci degli array monodimensionali studiati finora negli istituti tecnici. </a:t>
            </a:r>
          </a:p>
          <a:p>
            <a:r>
              <a:rPr lang="it-IT" dirty="0"/>
              <a:t>Il limite più macroscopico è la staticità della dimensione: una volta allocato un array nello Heap (es. </a:t>
            </a:r>
            <a:r>
              <a:rPr lang="it-IT" dirty="0" err="1">
                <a:solidFill>
                  <a:srgbClr val="171FE2"/>
                </a:solidFill>
                <a:latin typeface="Consolas" panose="020B0609020204030204" pitchFamily="49" charset="0"/>
              </a:rPr>
              <a:t>int</a:t>
            </a:r>
            <a:r>
              <a:rPr lang="it-IT" dirty="0">
                <a:solidFill>
                  <a:srgbClr val="171FE2"/>
                </a:solidFill>
                <a:latin typeface="Consolas" panose="020B0609020204030204" pitchFamily="49" charset="0"/>
              </a:rPr>
              <a:t>[] dati = new </a:t>
            </a:r>
            <a:r>
              <a:rPr lang="it-IT" dirty="0" err="1">
                <a:solidFill>
                  <a:srgbClr val="171FE2"/>
                </a:solidFill>
                <a:latin typeface="Consolas" panose="020B0609020204030204" pitchFamily="49" charset="0"/>
              </a:rPr>
              <a:t>int</a:t>
            </a:r>
            <a:r>
              <a:rPr lang="it-IT" dirty="0">
                <a:solidFill>
                  <a:srgbClr val="171FE2"/>
                </a:solidFill>
                <a:latin typeface="Consolas" panose="020B0609020204030204" pitchFamily="49" charset="0"/>
              </a:rPr>
              <a:t>[10];</a:t>
            </a:r>
            <a:r>
              <a:rPr lang="it-IT" dirty="0"/>
              <a:t>), la sua dimensione è immutabile. </a:t>
            </a:r>
          </a:p>
          <a:p>
            <a:r>
              <a:rPr lang="it-IT" dirty="0"/>
              <a:t>Se l'undicesimo utente tenta di iscriversi, il sistema risponderà con un crash irreversibile, a meno di non scrivere complessi algoritmi manuali per copiare i dati in un array più grande. </a:t>
            </a:r>
          </a:p>
          <a:p>
            <a:r>
              <a:rPr lang="it-IT" dirty="0"/>
              <a:t>Inoltre, </a:t>
            </a:r>
            <a:r>
              <a:rPr lang="it-IT" dirty="0">
                <a:solidFill>
                  <a:srgbClr val="171FE2"/>
                </a:solidFill>
              </a:rPr>
              <a:t>gli array sono carenti dal punto di vista logico</a:t>
            </a:r>
            <a:r>
              <a:rPr lang="it-IT" dirty="0"/>
              <a:t>: </a:t>
            </a:r>
            <a:r>
              <a:rPr lang="it-IT" dirty="0">
                <a:solidFill>
                  <a:srgbClr val="171FE2"/>
                </a:solidFill>
              </a:rPr>
              <a:t>non offrono metodi nativi pronti per inserire un elemento in mezzo alla struttura</a:t>
            </a:r>
            <a:r>
              <a:rPr lang="it-IT" dirty="0"/>
              <a:t> (richiedendo lo shift manuale di tutte le celle successive) né per eliminare un elemento lasciando la memoria compatta. </a:t>
            </a:r>
          </a:p>
          <a:p>
            <a:r>
              <a:rPr lang="it-IT" dirty="0"/>
              <a:t>Gestire manualmente queste operazioni procedurali aumenta drasticamente la probabilità di inserire bug di fuori range nel codice.</a:t>
            </a:r>
          </a:p>
        </p:txBody>
      </p:sp>
    </p:spTree>
    <p:extLst>
      <p:ext uri="{BB962C8B-B14F-4D97-AF65-F5344CB8AC3E}">
        <p14:creationId xmlns:p14="http://schemas.microsoft.com/office/powerpoint/2010/main" val="5261781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6D813-3C27-616B-41A9-765F17596748}"/>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544BA35A-8B18-EF91-B412-B99806862CB8}"/>
              </a:ext>
            </a:extLst>
          </p:cNvPr>
          <p:cNvSpPr>
            <a:spLocks noGrp="1"/>
          </p:cNvSpPr>
          <p:nvPr>
            <p:ph type="title"/>
          </p:nvPr>
        </p:nvSpPr>
        <p:spPr>
          <a:xfrm>
            <a:off x="838200" y="831206"/>
            <a:ext cx="10515600" cy="314198"/>
          </a:xfrm>
        </p:spPr>
        <p:txBody>
          <a:bodyPr/>
          <a:lstStyle/>
          <a:p>
            <a:r>
              <a:rPr lang="it-IT" dirty="0"/>
              <a:t>SLIDE 3: Cos'è il Java Collection Framework?</a:t>
            </a:r>
          </a:p>
        </p:txBody>
      </p:sp>
      <p:sp>
        <p:nvSpPr>
          <p:cNvPr id="3" name="Contenuto della lezione">
            <a:extLst>
              <a:ext uri="{FF2B5EF4-FFF2-40B4-BE49-F238E27FC236}">
                <a16:creationId xmlns:a16="http://schemas.microsoft.com/office/drawing/2014/main" id="{8A2377B0-87FC-5E04-AA8F-58BCD7385182}"/>
              </a:ext>
            </a:extLst>
          </p:cNvPr>
          <p:cNvSpPr>
            <a:spLocks noGrp="1"/>
          </p:cNvSpPr>
          <p:nvPr>
            <p:ph idx="1"/>
          </p:nvPr>
        </p:nvSpPr>
        <p:spPr>
          <a:xfrm>
            <a:off x="1317319" y="1800042"/>
            <a:ext cx="9557362" cy="4803369"/>
          </a:xfrm>
        </p:spPr>
        <p:txBody>
          <a:bodyPr/>
          <a:lstStyle/>
          <a:p>
            <a:r>
              <a:rPr lang="it-IT" dirty="0"/>
              <a:t>Il Java Collection Framework (JCF) è un'architettura unificata fornita nativamente all'interno del pacchetto </a:t>
            </a:r>
            <a:r>
              <a:rPr lang="it-IT" b="1" dirty="0" err="1">
                <a:solidFill>
                  <a:srgbClr val="171FE2"/>
                </a:solidFill>
              </a:rPr>
              <a:t>java.util</a:t>
            </a:r>
            <a:r>
              <a:rPr lang="it-IT" b="1" dirty="0">
                <a:solidFill>
                  <a:srgbClr val="171FE2"/>
                </a:solidFill>
              </a:rPr>
              <a:t> </a:t>
            </a:r>
            <a:r>
              <a:rPr lang="it-IT" dirty="0"/>
              <a:t>che mette a disposizione del programmatore un insieme di interfacce, implementazioni (classi concrete) e algoritmi polimorfici per manipolare gruppi di oggetti in modo dinamico. </a:t>
            </a:r>
          </a:p>
          <a:p>
            <a:endParaRPr lang="it-IT" dirty="0"/>
          </a:p>
          <a:p>
            <a:r>
              <a:rPr lang="it-IT" dirty="0"/>
              <a:t>Progettato originariamente da Joshua Bloch, il framework solleva lo sviluppatore dall'esigenza di dover reinventare la ruota scrivendo da zero le strutture dati classiche dell'informatica (come liste concatenate, pile, code o tabelle </a:t>
            </a:r>
            <a:r>
              <a:rPr lang="it-IT" dirty="0" err="1"/>
              <a:t>hash</a:t>
            </a:r>
            <a:r>
              <a:rPr lang="it-IT" dirty="0"/>
              <a:t>). </a:t>
            </a:r>
          </a:p>
          <a:p>
            <a:endParaRPr lang="it-IT" dirty="0"/>
          </a:p>
          <a:p>
            <a:r>
              <a:rPr lang="it-IT" dirty="0"/>
              <a:t>Il JCF è interamente orientato agli oggetti e si basa su una gerarchia rigorosa governata da interfacce comuni. Questo significa che strutture dati radicalmente diverse dal punto di vista del funzionamento interno condividono gli stessi identici nomi di metodi per l'inserimento, la cancellazione e la ricerca, garantendo un'altissima interoperabilità e pulizia del codice sorgente.</a:t>
            </a:r>
          </a:p>
        </p:txBody>
      </p:sp>
    </p:spTree>
    <p:extLst>
      <p:ext uri="{BB962C8B-B14F-4D97-AF65-F5344CB8AC3E}">
        <p14:creationId xmlns:p14="http://schemas.microsoft.com/office/powerpoint/2010/main" val="22738315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84140-9A35-3EF7-09E1-FEB319FCD1D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EBB7091-2FCD-C28D-4ED9-499C344B3085}"/>
              </a:ext>
            </a:extLst>
          </p:cNvPr>
          <p:cNvSpPr>
            <a:spLocks noGrp="1"/>
          </p:cNvSpPr>
          <p:nvPr>
            <p:ph type="title"/>
          </p:nvPr>
        </p:nvSpPr>
        <p:spPr>
          <a:xfrm>
            <a:off x="838200" y="831206"/>
            <a:ext cx="10515600" cy="314198"/>
          </a:xfrm>
        </p:spPr>
        <p:txBody>
          <a:bodyPr/>
          <a:lstStyle/>
          <a:p>
            <a:r>
              <a:rPr lang="it-IT" dirty="0"/>
              <a:t>SLIDE 4: La Gerarchia delle Interfacce: Collection, List, Set e </a:t>
            </a:r>
            <a:r>
              <a:rPr lang="it-IT" dirty="0" err="1"/>
              <a:t>Map</a:t>
            </a:r>
            <a:endParaRPr lang="it-IT" dirty="0"/>
          </a:p>
        </p:txBody>
      </p:sp>
      <p:sp>
        <p:nvSpPr>
          <p:cNvPr id="3" name="Contenuto della lezione">
            <a:extLst>
              <a:ext uri="{FF2B5EF4-FFF2-40B4-BE49-F238E27FC236}">
                <a16:creationId xmlns:a16="http://schemas.microsoft.com/office/drawing/2014/main" id="{80ABCCDF-915E-9B48-F874-81245D7C9107}"/>
              </a:ext>
            </a:extLst>
          </p:cNvPr>
          <p:cNvSpPr>
            <a:spLocks noGrp="1"/>
          </p:cNvSpPr>
          <p:nvPr>
            <p:ph idx="1"/>
          </p:nvPr>
        </p:nvSpPr>
        <p:spPr>
          <a:xfrm>
            <a:off x="1317319" y="1800042"/>
            <a:ext cx="9557362" cy="4803369"/>
          </a:xfrm>
        </p:spPr>
        <p:txBody>
          <a:bodyPr/>
          <a:lstStyle/>
          <a:p>
            <a:r>
              <a:rPr lang="it-IT" dirty="0"/>
              <a:t>Il cuore del framework è strutturato attraverso una precisa gerarchia di interfacce.</a:t>
            </a:r>
          </a:p>
          <a:p>
            <a:r>
              <a:rPr lang="it-IT" dirty="0"/>
              <a:t>L'interfaccia radice è </a:t>
            </a:r>
            <a:r>
              <a:rPr lang="it-IT" b="1" dirty="0">
                <a:solidFill>
                  <a:srgbClr val="171FE2"/>
                </a:solidFill>
              </a:rPr>
              <a:t>Collection</a:t>
            </a:r>
            <a:r>
              <a:rPr lang="it-IT" dirty="0"/>
              <a:t>, che definisce le operazioni globali eseguibili su qualsiasi raggruppamento di oggetti. Da essa derivano tre sotto-interfacce fondamentali, ciascuna rappresentante un preciso modello logico di organizzazione dati. </a:t>
            </a:r>
          </a:p>
          <a:p>
            <a:pPr marL="285750" indent="-285750">
              <a:buFont typeface="Arial" panose="020B0604020202020204" pitchFamily="34" charset="0"/>
              <a:buChar char="•"/>
            </a:pPr>
            <a:r>
              <a:rPr lang="it-IT" dirty="0"/>
              <a:t>L'interfaccia </a:t>
            </a:r>
            <a:r>
              <a:rPr lang="it-IT" b="1" dirty="0">
                <a:solidFill>
                  <a:srgbClr val="171FE2"/>
                </a:solidFill>
              </a:rPr>
              <a:t>List</a:t>
            </a:r>
            <a:r>
              <a:rPr lang="it-IT" dirty="0"/>
              <a:t> rappresenta una sequenza ordinata di elementi che ammette duplicati e in cui ogni elemento è associato a un indice posizionale numerico. </a:t>
            </a:r>
          </a:p>
          <a:p>
            <a:pPr marL="285750" indent="-285750">
              <a:buFont typeface="Arial" panose="020B0604020202020204" pitchFamily="34" charset="0"/>
              <a:buChar char="•"/>
            </a:pPr>
            <a:r>
              <a:rPr lang="it-IT" dirty="0"/>
              <a:t>L'interfaccia </a:t>
            </a:r>
            <a:r>
              <a:rPr lang="it-IT" b="1" dirty="0">
                <a:solidFill>
                  <a:srgbClr val="171FE2"/>
                </a:solidFill>
              </a:rPr>
              <a:t>Set</a:t>
            </a:r>
            <a:r>
              <a:rPr lang="it-IT" dirty="0"/>
              <a:t> rappresenta un insieme matematico di elementi unici, che non ammette in alcun modo duplicati e non garantisce un ordine di inserimento. </a:t>
            </a:r>
          </a:p>
          <a:p>
            <a:pPr marL="285750" indent="-285750">
              <a:buFont typeface="Arial" panose="020B0604020202020204" pitchFamily="34" charset="0"/>
              <a:buChar char="•"/>
            </a:pPr>
            <a:r>
              <a:rPr lang="it-IT" dirty="0"/>
              <a:t>Separata da questa gerarchia principale troviamo l'interfaccia </a:t>
            </a:r>
            <a:r>
              <a:rPr lang="it-IT" b="1" dirty="0" err="1">
                <a:solidFill>
                  <a:srgbClr val="171FE2"/>
                </a:solidFill>
              </a:rPr>
              <a:t>Map</a:t>
            </a:r>
            <a:r>
              <a:rPr lang="it-IT" dirty="0"/>
              <a:t>, che modella la struttura a dizionario, basata su coppie di tipo "Chiave-Valore", dove ogni chiave univoca è associata a un determinato elemento. </a:t>
            </a:r>
          </a:p>
        </p:txBody>
      </p:sp>
    </p:spTree>
    <p:extLst>
      <p:ext uri="{BB962C8B-B14F-4D97-AF65-F5344CB8AC3E}">
        <p14:creationId xmlns:p14="http://schemas.microsoft.com/office/powerpoint/2010/main" val="13857780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C9C33-0C62-FB79-39D9-1E3FCD35494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1D08D7A-99A4-1D06-3147-D7B7DCACB42A}"/>
              </a:ext>
            </a:extLst>
          </p:cNvPr>
          <p:cNvSpPr>
            <a:spLocks noGrp="1"/>
          </p:cNvSpPr>
          <p:nvPr>
            <p:ph type="title"/>
          </p:nvPr>
        </p:nvSpPr>
        <p:spPr>
          <a:xfrm>
            <a:off x="838200" y="831206"/>
            <a:ext cx="10515600" cy="314198"/>
          </a:xfrm>
        </p:spPr>
        <p:txBody>
          <a:bodyPr/>
          <a:lstStyle/>
          <a:p>
            <a:r>
              <a:rPr lang="it-IT" dirty="0"/>
              <a:t>SLIDE 5: Il Concetto di </a:t>
            </a:r>
            <a:r>
              <a:rPr lang="it-IT" dirty="0" err="1"/>
              <a:t>Autoboxing</a:t>
            </a:r>
            <a:r>
              <a:rPr lang="it-IT" dirty="0"/>
              <a:t> e Unboxing</a:t>
            </a:r>
          </a:p>
        </p:txBody>
      </p:sp>
      <p:sp>
        <p:nvSpPr>
          <p:cNvPr id="3" name="Contenuto della lezione">
            <a:extLst>
              <a:ext uri="{FF2B5EF4-FFF2-40B4-BE49-F238E27FC236}">
                <a16:creationId xmlns:a16="http://schemas.microsoft.com/office/drawing/2014/main" id="{E4A8DC19-5C7E-6438-17B0-06A02EA2ED37}"/>
              </a:ext>
            </a:extLst>
          </p:cNvPr>
          <p:cNvSpPr>
            <a:spLocks noGrp="1"/>
          </p:cNvSpPr>
          <p:nvPr>
            <p:ph idx="1"/>
          </p:nvPr>
        </p:nvSpPr>
        <p:spPr>
          <a:xfrm>
            <a:off x="1317319" y="1800042"/>
            <a:ext cx="9557362" cy="4803369"/>
          </a:xfrm>
        </p:spPr>
        <p:txBody>
          <a:bodyPr/>
          <a:lstStyle/>
          <a:p>
            <a:r>
              <a:rPr lang="it-IT" dirty="0"/>
              <a:t>Un vincolo ferreo e imprescindibile del Java Collection Framework è che esso può memorizzare esclusivamente e rigorosamente "Oggetti" (riferimenti nello Heap) e non tipi di dati primitivi (come </a:t>
            </a:r>
            <a:r>
              <a:rPr lang="it-IT" dirty="0" err="1"/>
              <a:t>int</a:t>
            </a:r>
            <a:r>
              <a:rPr lang="it-IT" dirty="0"/>
              <a:t>, double o </a:t>
            </a:r>
            <a:r>
              <a:rPr lang="it-IT" dirty="0" err="1"/>
              <a:t>char</a:t>
            </a:r>
            <a:r>
              <a:rPr lang="it-IT" dirty="0"/>
              <a:t>). </a:t>
            </a:r>
          </a:p>
          <a:p>
            <a:r>
              <a:rPr lang="it-IT" dirty="0"/>
              <a:t>Per superare questo limite senza costringere il programmatore a rinunciare all'uso dei numeri, Java introduce le classi "</a:t>
            </a:r>
            <a:r>
              <a:rPr lang="it-IT" dirty="0" err="1"/>
              <a:t>Wrapper</a:t>
            </a:r>
            <a:r>
              <a:rPr lang="it-IT" dirty="0"/>
              <a:t>" (involucro), come </a:t>
            </a:r>
            <a:r>
              <a:rPr lang="it-IT" dirty="0" err="1"/>
              <a:t>Integer</a:t>
            </a:r>
            <a:r>
              <a:rPr lang="it-IT" dirty="0"/>
              <a:t>, Double e </a:t>
            </a:r>
            <a:r>
              <a:rPr lang="it-IT" dirty="0" err="1"/>
              <a:t>Boolean</a:t>
            </a:r>
            <a:r>
              <a:rPr lang="it-IT" dirty="0"/>
              <a:t>, che incapsulano il valore primitivo dentro un vero oggetto. </a:t>
            </a:r>
          </a:p>
          <a:p>
            <a:r>
              <a:rPr lang="it-IT" dirty="0"/>
              <a:t>La Java Virtual Machine gestisce il passaggio tra primitivo e oggetto in modo completamente trasparente grazie ai meccanismi di </a:t>
            </a:r>
            <a:r>
              <a:rPr lang="it-IT" dirty="0" err="1">
                <a:solidFill>
                  <a:srgbClr val="171FE2"/>
                </a:solidFill>
              </a:rPr>
              <a:t>Autoboxing</a:t>
            </a:r>
            <a:r>
              <a:rPr lang="it-IT" dirty="0">
                <a:solidFill>
                  <a:srgbClr val="171FE2"/>
                </a:solidFill>
              </a:rPr>
              <a:t> e Unboxing</a:t>
            </a:r>
            <a:r>
              <a:rPr lang="it-IT" dirty="0"/>
              <a:t>.</a:t>
            </a:r>
          </a:p>
          <a:p>
            <a:pPr marL="285750" indent="-285750">
              <a:buFont typeface="Arial" panose="020B0604020202020204" pitchFamily="34" charset="0"/>
              <a:buChar char="•"/>
            </a:pPr>
            <a:r>
              <a:rPr lang="it-IT" dirty="0"/>
              <a:t> L'</a:t>
            </a:r>
            <a:r>
              <a:rPr lang="it-IT" b="1" dirty="0" err="1">
                <a:solidFill>
                  <a:srgbClr val="171FE2"/>
                </a:solidFill>
              </a:rPr>
              <a:t>Autoboxing</a:t>
            </a:r>
            <a:r>
              <a:rPr lang="it-IT" dirty="0"/>
              <a:t> converte automaticamente un primitivo nel rispettivo oggetto </a:t>
            </a:r>
            <a:r>
              <a:rPr lang="it-IT" dirty="0" err="1"/>
              <a:t>wrapper</a:t>
            </a:r>
            <a:r>
              <a:rPr lang="it-IT" dirty="0"/>
              <a:t> quando inserito in una collezione (es. inserire 5 in una lista memorizza un </a:t>
            </a:r>
            <a:r>
              <a:rPr lang="it-IT" dirty="0" err="1"/>
              <a:t>Integer</a:t>
            </a:r>
            <a:r>
              <a:rPr lang="it-IT" dirty="0"/>
              <a:t>).</a:t>
            </a:r>
          </a:p>
          <a:p>
            <a:pPr marL="285750" indent="-285750">
              <a:buFont typeface="Arial" panose="020B0604020202020204" pitchFamily="34" charset="0"/>
              <a:buChar char="•"/>
            </a:pPr>
            <a:r>
              <a:rPr lang="it-IT" dirty="0"/>
              <a:t> L'</a:t>
            </a:r>
            <a:r>
              <a:rPr lang="it-IT" b="1" dirty="0">
                <a:solidFill>
                  <a:srgbClr val="171FE2"/>
                </a:solidFill>
              </a:rPr>
              <a:t>Unboxing</a:t>
            </a:r>
            <a:r>
              <a:rPr lang="it-IT" dirty="0"/>
              <a:t> compie l'operazione contraria quando estraiamo il dato. Questo processo, sebbene comodissimo, consuma risorse CPU e va monitorato nei sistemi ad alte prestazioni.</a:t>
            </a:r>
          </a:p>
        </p:txBody>
      </p:sp>
    </p:spTree>
    <p:extLst>
      <p:ext uri="{BB962C8B-B14F-4D97-AF65-F5344CB8AC3E}">
        <p14:creationId xmlns:p14="http://schemas.microsoft.com/office/powerpoint/2010/main" val="18175083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3CCA0-6D22-DFFF-CACC-98F61D79CE1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DA0273A-3AC6-B33B-852B-8AA5806FC715}"/>
              </a:ext>
            </a:extLst>
          </p:cNvPr>
          <p:cNvSpPr>
            <a:spLocks noGrp="1"/>
          </p:cNvSpPr>
          <p:nvPr>
            <p:ph type="title"/>
          </p:nvPr>
        </p:nvSpPr>
        <p:spPr>
          <a:xfrm>
            <a:off x="838200" y="831206"/>
            <a:ext cx="10515600" cy="314198"/>
          </a:xfrm>
        </p:spPr>
        <p:txBody>
          <a:bodyPr/>
          <a:lstStyle/>
          <a:p>
            <a:r>
              <a:rPr lang="it-IT" dirty="0"/>
              <a:t>SLIDE 6: Introduzione ai </a:t>
            </a:r>
            <a:r>
              <a:rPr lang="it-IT" dirty="0" err="1"/>
              <a:t>Generics</a:t>
            </a:r>
            <a:r>
              <a:rPr lang="it-IT" dirty="0"/>
              <a:t>: la Notazione Diamond ''</a:t>
            </a:r>
          </a:p>
        </p:txBody>
      </p:sp>
      <p:sp>
        <p:nvSpPr>
          <p:cNvPr id="3" name="Contenuto della lezione">
            <a:extLst>
              <a:ext uri="{FF2B5EF4-FFF2-40B4-BE49-F238E27FC236}">
                <a16:creationId xmlns:a16="http://schemas.microsoft.com/office/drawing/2014/main" id="{0885EB50-4D90-9E60-DEA7-17886788AEB3}"/>
              </a:ext>
            </a:extLst>
          </p:cNvPr>
          <p:cNvSpPr>
            <a:spLocks noGrp="1"/>
          </p:cNvSpPr>
          <p:nvPr>
            <p:ph idx="1"/>
          </p:nvPr>
        </p:nvSpPr>
        <p:spPr>
          <a:xfrm>
            <a:off x="1317319" y="1800042"/>
            <a:ext cx="9557362" cy="4803369"/>
          </a:xfrm>
        </p:spPr>
        <p:txBody>
          <a:bodyPr/>
          <a:lstStyle/>
          <a:p>
            <a:r>
              <a:rPr lang="it-IT" dirty="0"/>
              <a:t>Nelle prime versioni di Java, le collezioni memorizzavano oggetti generici di tipo Object, costringendo il programmatore a effettuare pesanti e pericolosi casting espliciti al momento dell'estrazione dei dati. </a:t>
            </a:r>
          </a:p>
          <a:p>
            <a:r>
              <a:rPr lang="it-IT" dirty="0"/>
              <a:t>Per garantire la "</a:t>
            </a:r>
            <a:r>
              <a:rPr lang="it-IT" dirty="0" err="1"/>
              <a:t>Type</a:t>
            </a:r>
            <a:r>
              <a:rPr lang="it-IT" dirty="0"/>
              <a:t> </a:t>
            </a:r>
            <a:r>
              <a:rPr lang="it-IT" dirty="0" err="1"/>
              <a:t>Safety</a:t>
            </a:r>
            <a:r>
              <a:rPr lang="it-IT" dirty="0"/>
              <a:t>" (sicurezza dei tipi a tempo di compilazione), Java ha introdotto i </a:t>
            </a:r>
            <a:r>
              <a:rPr lang="it-IT" dirty="0" err="1"/>
              <a:t>Generics</a:t>
            </a:r>
            <a:r>
              <a:rPr lang="it-IT" dirty="0"/>
              <a:t>, contrassegnati dalla </a:t>
            </a:r>
            <a:r>
              <a:rPr lang="it-IT" b="1" dirty="0">
                <a:solidFill>
                  <a:srgbClr val="171FE2"/>
                </a:solidFill>
              </a:rPr>
              <a:t>notazione Diamond</a:t>
            </a:r>
            <a:r>
              <a:rPr lang="it-IT" dirty="0"/>
              <a:t>, ovvero </a:t>
            </a:r>
            <a:r>
              <a:rPr lang="it-IT" dirty="0">
                <a:solidFill>
                  <a:srgbClr val="171FE2"/>
                </a:solidFill>
              </a:rPr>
              <a:t>le parentesi angolari &lt;E&gt;</a:t>
            </a:r>
            <a:r>
              <a:rPr lang="it-IT" dirty="0"/>
              <a:t>. </a:t>
            </a:r>
          </a:p>
          <a:p>
            <a:r>
              <a:rPr lang="it-IT" dirty="0"/>
              <a:t>Quando dichiariamo una collezione, siamo obbligati a specificare tra le parentesi angolari quale tipo esatto di oggetti la struttura potrà ospitare (es. </a:t>
            </a:r>
            <a:r>
              <a:rPr lang="it-IT" dirty="0" err="1"/>
              <a:t>ArrayList</a:t>
            </a:r>
            <a:r>
              <a:rPr lang="it-IT" dirty="0"/>
              <a:t>&lt;</a:t>
            </a:r>
            <a:r>
              <a:rPr lang="it-IT" dirty="0" err="1"/>
              <a:t>String</a:t>
            </a:r>
            <a:r>
              <a:rPr lang="it-IT" dirty="0"/>
              <a:t>&gt; lista;). </a:t>
            </a:r>
          </a:p>
          <a:p>
            <a:r>
              <a:rPr lang="it-IT" dirty="0"/>
              <a:t>Il compilatore Java utilizzerà questa informazione per impedire tassativamente l'inserimento di oggetti non conformi (es. bloccherà il tentativo di inserire un intero in una lista di stringhe), eliminando alla radice il rischio di generare eccezioni catastrofiche di casting errato durante l'esecuzione del software a </a:t>
            </a:r>
            <a:r>
              <a:rPr lang="it-IT" dirty="0" err="1"/>
              <a:t>runtime</a:t>
            </a:r>
            <a:r>
              <a:rPr lang="it-IT" dirty="0"/>
              <a:t>.</a:t>
            </a:r>
          </a:p>
        </p:txBody>
      </p:sp>
    </p:spTree>
    <p:extLst>
      <p:ext uri="{BB962C8B-B14F-4D97-AF65-F5344CB8AC3E}">
        <p14:creationId xmlns:p14="http://schemas.microsoft.com/office/powerpoint/2010/main" val="1829037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AAFA7-77B1-7A95-1BB9-337D1D592D7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26B1B333-7289-9BB5-9C85-357C5B3EDA36}"/>
              </a:ext>
            </a:extLst>
          </p:cNvPr>
          <p:cNvSpPr>
            <a:spLocks noGrp="1"/>
          </p:cNvSpPr>
          <p:nvPr>
            <p:ph type="title"/>
          </p:nvPr>
        </p:nvSpPr>
        <p:spPr>
          <a:xfrm>
            <a:off x="838200" y="831206"/>
            <a:ext cx="10515600" cy="314198"/>
          </a:xfrm>
        </p:spPr>
        <p:txBody>
          <a:bodyPr/>
          <a:lstStyle/>
          <a:p>
            <a:r>
              <a:rPr lang="it-IT" dirty="0"/>
              <a:t>SEZIONE 2: LE LISTE DINAMICHE – ARRAYLIST VS LINKEDLIST (Slide 7 - 15)</a:t>
            </a:r>
            <a:br>
              <a:rPr lang="it-IT" dirty="0"/>
            </a:br>
            <a:r>
              <a:rPr lang="it-IT" dirty="0"/>
              <a:t>SLIDE 7: Unità Didattica 1 – L'Interfaccia List e la Classe </a:t>
            </a:r>
            <a:r>
              <a:rPr lang="it-IT" dirty="0" err="1"/>
              <a:t>ArrayList</a:t>
            </a:r>
            <a:endParaRPr lang="it-IT" dirty="0"/>
          </a:p>
        </p:txBody>
      </p:sp>
      <p:sp>
        <p:nvSpPr>
          <p:cNvPr id="3" name="Contenuto della lezione">
            <a:extLst>
              <a:ext uri="{FF2B5EF4-FFF2-40B4-BE49-F238E27FC236}">
                <a16:creationId xmlns:a16="http://schemas.microsoft.com/office/drawing/2014/main" id="{DA4BFE85-62C7-851B-A07C-2AAFE1E59D66}"/>
              </a:ext>
            </a:extLst>
          </p:cNvPr>
          <p:cNvSpPr>
            <a:spLocks noGrp="1"/>
          </p:cNvSpPr>
          <p:nvPr>
            <p:ph idx="1"/>
          </p:nvPr>
        </p:nvSpPr>
        <p:spPr>
          <a:xfrm>
            <a:off x="1317319" y="1973778"/>
            <a:ext cx="9557362" cy="4803369"/>
          </a:xfrm>
        </p:spPr>
        <p:txBody>
          <a:bodyPr/>
          <a:lstStyle/>
          <a:p>
            <a:r>
              <a:rPr lang="it-IT" dirty="0"/>
              <a:t>L'interfaccia List definisce una collezione ordinata di elementi accessibili tramite un indice numerico intero. </a:t>
            </a:r>
          </a:p>
          <a:p>
            <a:r>
              <a:rPr lang="it-IT" dirty="0"/>
              <a:t>La sua implementazione più famosa, versatile e utilizzata nello sviluppo software è la classe </a:t>
            </a:r>
            <a:r>
              <a:rPr lang="it-IT" dirty="0" err="1"/>
              <a:t>ArrayList</a:t>
            </a:r>
            <a:r>
              <a:rPr lang="it-IT" dirty="0"/>
              <a:t>. </a:t>
            </a:r>
          </a:p>
          <a:p>
            <a:r>
              <a:rPr lang="it-IT" dirty="0"/>
              <a:t>Dal punto di vista architetturale interno, un </a:t>
            </a:r>
            <a:r>
              <a:rPr lang="it-IT" dirty="0" err="1"/>
              <a:t>ArrayList</a:t>
            </a:r>
            <a:r>
              <a:rPr lang="it-IT" dirty="0"/>
              <a:t> incapsula al suo interno un normale array statico di oggetti. </a:t>
            </a:r>
          </a:p>
          <a:p>
            <a:r>
              <a:rPr lang="it-IT" dirty="0">
                <a:solidFill>
                  <a:srgbClr val="171FE2"/>
                </a:solidFill>
              </a:rPr>
              <a:t>La magia della dinamicità risiede nella gestione automatica del ridimensionamento operata dalla classe</a:t>
            </a:r>
            <a:r>
              <a:rPr lang="it-IT" dirty="0"/>
              <a:t>: quando l'array interno si riempie completamente e l'utente invoca un nuovo inserimento, l'</a:t>
            </a:r>
            <a:r>
              <a:rPr lang="it-IT" dirty="0" err="1"/>
              <a:t>ArrayList</a:t>
            </a:r>
            <a:r>
              <a:rPr lang="it-IT" dirty="0"/>
              <a:t> provvede autonomamente ad allocare nello Heap un nuovo array interno più grande (tipicamente il 50% in più del precedente), vi copia tutti i vecchi elementi e </a:t>
            </a:r>
            <a:r>
              <a:rPr lang="it-IT" dirty="0" err="1"/>
              <a:t>dealloca</a:t>
            </a:r>
            <a:r>
              <a:rPr lang="it-IT" dirty="0"/>
              <a:t> il vecchio vettore orfano. </a:t>
            </a:r>
          </a:p>
          <a:p>
            <a:r>
              <a:rPr lang="it-IT" dirty="0">
                <a:solidFill>
                  <a:srgbClr val="171FE2"/>
                </a:solidFill>
              </a:rPr>
              <a:t>Questo comportamento offre al programmatore l'illusione di una struttura a capacità infinita, sollevandolo da qualsiasi gestione manuale dei limiti di memoria.</a:t>
            </a:r>
          </a:p>
        </p:txBody>
      </p:sp>
    </p:spTree>
    <p:extLst>
      <p:ext uri="{BB962C8B-B14F-4D97-AF65-F5344CB8AC3E}">
        <p14:creationId xmlns:p14="http://schemas.microsoft.com/office/powerpoint/2010/main" val="2737241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1F877-6D20-DAA8-5E63-C7B0172A7A1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5E52003D-57F6-0CAE-10FE-9E833410D4AC}"/>
              </a:ext>
            </a:extLst>
          </p:cNvPr>
          <p:cNvSpPr>
            <a:spLocks noGrp="1"/>
          </p:cNvSpPr>
          <p:nvPr>
            <p:ph type="title"/>
          </p:nvPr>
        </p:nvSpPr>
        <p:spPr>
          <a:xfrm>
            <a:off x="838200" y="831206"/>
            <a:ext cx="10515600" cy="314198"/>
          </a:xfrm>
        </p:spPr>
        <p:txBody>
          <a:bodyPr/>
          <a:lstStyle/>
          <a:p>
            <a:r>
              <a:rPr lang="it-IT" dirty="0"/>
              <a:t>SLIDE 8: Operazioni Fondamentali su </a:t>
            </a:r>
            <a:r>
              <a:rPr lang="it-IT" dirty="0" err="1"/>
              <a:t>ArrayList</a:t>
            </a:r>
            <a:r>
              <a:rPr lang="it-IT" dirty="0"/>
              <a:t>: </a:t>
            </a:r>
            <a:r>
              <a:rPr lang="it-IT" dirty="0" err="1"/>
              <a:t>add</a:t>
            </a:r>
            <a:r>
              <a:rPr lang="it-IT" dirty="0"/>
              <a:t>(), </a:t>
            </a:r>
            <a:r>
              <a:rPr lang="it-IT" dirty="0" err="1"/>
              <a:t>get</a:t>
            </a:r>
            <a:r>
              <a:rPr lang="it-IT" dirty="0"/>
              <a:t>(), size()</a:t>
            </a:r>
          </a:p>
        </p:txBody>
      </p:sp>
      <p:sp>
        <p:nvSpPr>
          <p:cNvPr id="3" name="Contenuto della lezione">
            <a:extLst>
              <a:ext uri="{FF2B5EF4-FFF2-40B4-BE49-F238E27FC236}">
                <a16:creationId xmlns:a16="http://schemas.microsoft.com/office/drawing/2014/main" id="{A57E29AE-55A3-8112-6E29-A88A70B41691}"/>
              </a:ext>
            </a:extLst>
          </p:cNvPr>
          <p:cNvSpPr>
            <a:spLocks noGrp="1"/>
          </p:cNvSpPr>
          <p:nvPr>
            <p:ph idx="1"/>
          </p:nvPr>
        </p:nvSpPr>
        <p:spPr>
          <a:xfrm>
            <a:off x="1317319" y="1589730"/>
            <a:ext cx="9557362" cy="4803369"/>
          </a:xfrm>
        </p:spPr>
        <p:txBody>
          <a:bodyPr/>
          <a:lstStyle/>
          <a:p>
            <a:r>
              <a:rPr lang="it-IT" dirty="0"/>
              <a:t>Saper interagire con un </a:t>
            </a:r>
            <a:r>
              <a:rPr lang="it-IT" dirty="0" err="1"/>
              <a:t>ArrayList</a:t>
            </a:r>
            <a:r>
              <a:rPr lang="it-IT" dirty="0"/>
              <a:t> richiede la padronanza dei suoi metodi standard forniti dall'interfaccia. </a:t>
            </a:r>
          </a:p>
          <a:p>
            <a:r>
              <a:rPr lang="it-IT" dirty="0"/>
              <a:t>Per inserire un elemento in coda alla struttura si utilizza il metodo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add</a:t>
            </a:r>
            <a:r>
              <a:rPr lang="it-IT" dirty="0">
                <a:solidFill>
                  <a:srgbClr val="171FE2"/>
                </a:solidFill>
                <a:latin typeface="Consolas" panose="020B0609020204030204" pitchFamily="49" charset="0"/>
              </a:rPr>
              <a:t>(elemento)</a:t>
            </a:r>
            <a:r>
              <a:rPr lang="it-IT" dirty="0"/>
              <a:t>. </a:t>
            </a:r>
          </a:p>
          <a:p>
            <a:r>
              <a:rPr lang="it-IT" dirty="0"/>
              <a:t>Per estrarre un valore memorizzato in una determinata posizione, si utilizza il metodo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(indice)</a:t>
            </a:r>
            <a:r>
              <a:rPr lang="it-IT" dirty="0"/>
              <a:t>, passando l'indice intero desiderato (ricordando che l'indicizzazione parte sempre da zero). </a:t>
            </a:r>
          </a:p>
          <a:p>
            <a:r>
              <a:rPr lang="it-IT" dirty="0"/>
              <a:t>A differenza degli array statici che esponevano la proprietà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length</a:t>
            </a:r>
            <a:r>
              <a:rPr lang="it-IT" dirty="0"/>
              <a:t>, le collezioni del framework utilizzano il metodo pubblico </a:t>
            </a:r>
            <a:r>
              <a:rPr lang="it-IT" dirty="0">
                <a:solidFill>
                  <a:srgbClr val="171FE2"/>
                </a:solidFill>
                <a:latin typeface="Consolas" panose="020B0609020204030204" pitchFamily="49" charset="0"/>
              </a:rPr>
              <a:t>.size() </a:t>
            </a:r>
            <a:r>
              <a:rPr lang="it-IT" dirty="0"/>
              <a:t>per restituire il numero esatto di elementi effettivamente presenti in quel momento nella struttura. </a:t>
            </a:r>
          </a:p>
          <a:p>
            <a:r>
              <a:rPr lang="it-IT" dirty="0"/>
              <a:t>Sviluppiamo l'abilità pratica dichiarando una lista di stringhe per gestire i nomi degli studenti: </a:t>
            </a:r>
            <a:r>
              <a:rPr lang="it-IT" dirty="0" err="1">
                <a:solidFill>
                  <a:srgbClr val="171FE2"/>
                </a:solidFill>
                <a:latin typeface="Consolas" panose="020B0609020204030204" pitchFamily="49" charset="0"/>
              </a:rPr>
              <a:t>ArrayList</a:t>
            </a:r>
            <a:r>
              <a:rPr lang="it-IT" dirty="0">
                <a:solidFill>
                  <a:srgbClr val="171FE2"/>
                </a:solidFill>
                <a:latin typeface="Consolas" panose="020B0609020204030204" pitchFamily="49" charset="0"/>
              </a:rPr>
              <a:t>&lt;</a:t>
            </a:r>
            <a:r>
              <a:rPr lang="it-IT" dirty="0" err="1">
                <a:solidFill>
                  <a:srgbClr val="171FE2"/>
                </a:solidFill>
                <a:latin typeface="Consolas" panose="020B0609020204030204" pitchFamily="49" charset="0"/>
              </a:rPr>
              <a:t>String</a:t>
            </a:r>
            <a:r>
              <a:rPr lang="it-IT" dirty="0">
                <a:solidFill>
                  <a:srgbClr val="171FE2"/>
                </a:solidFill>
                <a:latin typeface="Consolas" panose="020B0609020204030204" pitchFamily="49" charset="0"/>
              </a:rPr>
              <a:t>&gt; studenti = new </a:t>
            </a:r>
            <a:r>
              <a:rPr lang="it-IT" dirty="0" err="1">
                <a:solidFill>
                  <a:srgbClr val="171FE2"/>
                </a:solidFill>
                <a:latin typeface="Consolas" panose="020B0609020204030204" pitchFamily="49" charset="0"/>
              </a:rPr>
              <a:t>ArrayList</a:t>
            </a:r>
            <a:r>
              <a:rPr lang="it-IT" dirty="0">
                <a:solidFill>
                  <a:srgbClr val="171FE2"/>
                </a:solidFill>
                <a:latin typeface="Consolas" panose="020B0609020204030204" pitchFamily="49" charset="0"/>
              </a:rPr>
              <a:t>&lt;&gt;();</a:t>
            </a:r>
            <a:r>
              <a:rPr lang="it-IT" dirty="0"/>
              <a:t>. </a:t>
            </a:r>
          </a:p>
          <a:p>
            <a:r>
              <a:rPr lang="it-IT" dirty="0">
                <a:solidFill>
                  <a:srgbClr val="171FE2"/>
                </a:solidFill>
              </a:rPr>
              <a:t>Inseriamo tre nomi con il metodo </a:t>
            </a:r>
            <a:r>
              <a:rPr lang="it-IT" dirty="0" err="1">
                <a:solidFill>
                  <a:srgbClr val="171FE2"/>
                </a:solidFill>
              </a:rPr>
              <a:t>add</a:t>
            </a:r>
            <a:r>
              <a:rPr lang="it-IT" dirty="0">
                <a:solidFill>
                  <a:srgbClr val="171FE2"/>
                </a:solidFill>
              </a:rPr>
              <a:t>, e utilizziamo un ciclo per stamparli estraendoli sequenzialmente tramite il metodo </a:t>
            </a:r>
            <a:r>
              <a:rPr lang="it-IT" dirty="0" err="1">
                <a:solidFill>
                  <a:srgbClr val="171FE2"/>
                </a:solidFill>
              </a:rPr>
              <a:t>get</a:t>
            </a:r>
            <a:r>
              <a:rPr lang="it-IT" dirty="0">
                <a:solidFill>
                  <a:srgbClr val="171FE2"/>
                </a:solidFill>
              </a:rPr>
              <a:t>.</a:t>
            </a:r>
          </a:p>
        </p:txBody>
      </p:sp>
    </p:spTree>
    <p:extLst>
      <p:ext uri="{BB962C8B-B14F-4D97-AF65-F5344CB8AC3E}">
        <p14:creationId xmlns:p14="http://schemas.microsoft.com/office/powerpoint/2010/main" val="23636201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89F19-CAE2-2928-88D6-DCF86538576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A52DEB6-A969-B969-555E-B8D4A2349E70}"/>
              </a:ext>
            </a:extLst>
          </p:cNvPr>
          <p:cNvSpPr>
            <a:spLocks noGrp="1"/>
          </p:cNvSpPr>
          <p:nvPr>
            <p:ph type="title"/>
          </p:nvPr>
        </p:nvSpPr>
        <p:spPr>
          <a:xfrm>
            <a:off x="838200" y="831206"/>
            <a:ext cx="10515600" cy="314198"/>
          </a:xfrm>
        </p:spPr>
        <p:txBody>
          <a:bodyPr/>
          <a:lstStyle/>
          <a:p>
            <a:r>
              <a:rPr lang="it-IT" dirty="0"/>
              <a:t>SLIDE 9: Rimozione e Modifica: i Metodi </a:t>
            </a:r>
            <a:r>
              <a:rPr lang="it-IT" dirty="0" err="1"/>
              <a:t>remove</a:t>
            </a:r>
            <a:r>
              <a:rPr lang="it-IT" dirty="0"/>
              <a:t>() e set()</a:t>
            </a:r>
          </a:p>
        </p:txBody>
      </p:sp>
      <p:sp>
        <p:nvSpPr>
          <p:cNvPr id="3" name="Contenuto della lezione">
            <a:extLst>
              <a:ext uri="{FF2B5EF4-FFF2-40B4-BE49-F238E27FC236}">
                <a16:creationId xmlns:a16="http://schemas.microsoft.com/office/drawing/2014/main" id="{FDC0B7FD-5A75-5222-E1D4-29756F5B6C92}"/>
              </a:ext>
            </a:extLst>
          </p:cNvPr>
          <p:cNvSpPr>
            <a:spLocks noGrp="1"/>
          </p:cNvSpPr>
          <p:nvPr>
            <p:ph idx="1"/>
          </p:nvPr>
        </p:nvSpPr>
        <p:spPr>
          <a:xfrm>
            <a:off x="1317319" y="1589730"/>
            <a:ext cx="9557362" cy="4803369"/>
          </a:xfrm>
        </p:spPr>
        <p:txBody>
          <a:bodyPr/>
          <a:lstStyle/>
          <a:p>
            <a:r>
              <a:rPr lang="it-IT" dirty="0"/>
              <a:t>Oltre all'inserimento e alla lettura, un </a:t>
            </a:r>
            <a:r>
              <a:rPr lang="it-IT" dirty="0" err="1"/>
              <a:t>ArrayList</a:t>
            </a:r>
            <a:r>
              <a:rPr lang="it-IT" dirty="0"/>
              <a:t> permette di alterare la propria struttura interna con estrema facilità. </a:t>
            </a:r>
          </a:p>
          <a:p>
            <a:r>
              <a:rPr lang="it-IT" dirty="0"/>
              <a:t>Per modificare il valore contenuto in una determinata posizione senza variare la dimensione della lista, si utilizza il metodo </a:t>
            </a:r>
            <a:r>
              <a:rPr lang="it-IT" dirty="0">
                <a:solidFill>
                  <a:srgbClr val="171FE2"/>
                </a:solidFill>
                <a:latin typeface="Consolas" panose="020B0609020204030204" pitchFamily="49" charset="0"/>
              </a:rPr>
              <a:t>.set(indice, </a:t>
            </a:r>
            <a:r>
              <a:rPr lang="it-IT" dirty="0" err="1">
                <a:solidFill>
                  <a:srgbClr val="171FE2"/>
                </a:solidFill>
                <a:latin typeface="Consolas" panose="020B0609020204030204" pitchFamily="49" charset="0"/>
              </a:rPr>
              <a:t>nuovoElemento</a:t>
            </a:r>
            <a:r>
              <a:rPr lang="it-IT" dirty="0">
                <a:solidFill>
                  <a:srgbClr val="171FE2"/>
                </a:solidFill>
                <a:latin typeface="Consolas" panose="020B0609020204030204" pitchFamily="49" charset="0"/>
              </a:rPr>
              <a:t>)</a:t>
            </a:r>
            <a:r>
              <a:rPr lang="it-IT" dirty="0"/>
              <a:t>, che sovrascrive la cella specificata. </a:t>
            </a:r>
          </a:p>
          <a:p>
            <a:r>
              <a:rPr lang="it-IT" dirty="0"/>
              <a:t>Per eliminare un elemento, il framework mette a disposizione il metodo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remove</a:t>
            </a:r>
            <a:r>
              <a:rPr lang="it-IT" dirty="0">
                <a:solidFill>
                  <a:srgbClr val="171FE2"/>
                </a:solidFill>
                <a:latin typeface="Consolas" panose="020B0609020204030204" pitchFamily="49" charset="0"/>
              </a:rPr>
              <a:t>()</a:t>
            </a:r>
            <a:r>
              <a:rPr lang="it-IT" dirty="0"/>
              <a:t>, che può accettare come argomento sia l'indice numerico della cella da cancellare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remove</a:t>
            </a:r>
            <a:r>
              <a:rPr lang="it-IT" dirty="0">
                <a:solidFill>
                  <a:srgbClr val="171FE2"/>
                </a:solidFill>
                <a:latin typeface="Consolas" panose="020B0609020204030204" pitchFamily="49" charset="0"/>
              </a:rPr>
              <a:t>(2)</a:t>
            </a:r>
            <a:r>
              <a:rPr lang="it-IT" dirty="0"/>
              <a:t>), sia direttamente il riferimento all'oggetto da rimuovere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remove</a:t>
            </a:r>
            <a:r>
              <a:rPr lang="it-IT" dirty="0">
                <a:solidFill>
                  <a:srgbClr val="171FE2"/>
                </a:solidFill>
                <a:latin typeface="Consolas" panose="020B0609020204030204" pitchFamily="49" charset="0"/>
              </a:rPr>
              <a:t>("Mario")</a:t>
            </a:r>
            <a:r>
              <a:rPr lang="it-IT" dirty="0"/>
              <a:t>). </a:t>
            </a:r>
          </a:p>
          <a:p>
            <a:r>
              <a:rPr lang="it-IT" dirty="0"/>
              <a:t>Quando si esegue una rimozione, l' </a:t>
            </a:r>
            <a:r>
              <a:rPr lang="it-IT" dirty="0" err="1"/>
              <a:t>ArrayList</a:t>
            </a:r>
            <a:r>
              <a:rPr lang="it-IT" dirty="0"/>
              <a:t> provvede istantaneamente a compattare la memoria nello Heap, </a:t>
            </a:r>
            <a:r>
              <a:rPr lang="it-IT" dirty="0">
                <a:solidFill>
                  <a:srgbClr val="171FE2"/>
                </a:solidFill>
              </a:rPr>
              <a:t>scalando all'indietro di una posizione tutti gli elementi che si trovavano a destra dell'elemento eliminato</a:t>
            </a:r>
            <a:r>
              <a:rPr lang="it-IT" dirty="0"/>
              <a:t>, aggiornando dinamicamente il valore restituito dal metodo size.</a:t>
            </a:r>
            <a:endParaRPr lang="it-IT" dirty="0">
              <a:solidFill>
                <a:srgbClr val="171FE2"/>
              </a:solidFill>
            </a:endParaRPr>
          </a:p>
        </p:txBody>
      </p:sp>
    </p:spTree>
    <p:extLst>
      <p:ext uri="{BB962C8B-B14F-4D97-AF65-F5344CB8AC3E}">
        <p14:creationId xmlns:p14="http://schemas.microsoft.com/office/powerpoint/2010/main" val="32573436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AACFB-E0DD-8A11-1350-03BD96B8B805}"/>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90A2083-F744-BEDA-FBDE-D39052EF39D6}"/>
              </a:ext>
            </a:extLst>
          </p:cNvPr>
          <p:cNvSpPr>
            <a:spLocks noGrp="1"/>
          </p:cNvSpPr>
          <p:nvPr>
            <p:ph type="title"/>
          </p:nvPr>
        </p:nvSpPr>
        <p:spPr>
          <a:xfrm>
            <a:off x="838200" y="831206"/>
            <a:ext cx="10515600" cy="314198"/>
          </a:xfrm>
        </p:spPr>
        <p:txBody>
          <a:bodyPr/>
          <a:lstStyle/>
          <a:p>
            <a:r>
              <a:rPr lang="it-IT" dirty="0"/>
              <a:t>SLIDE 10: La Classe </a:t>
            </a:r>
            <a:r>
              <a:rPr lang="it-IT" dirty="0" err="1"/>
              <a:t>LinkedList</a:t>
            </a:r>
            <a:r>
              <a:rPr lang="it-IT" dirty="0"/>
              <a:t> e la Struttura a Lista Concatenata</a:t>
            </a:r>
          </a:p>
        </p:txBody>
      </p:sp>
      <p:sp>
        <p:nvSpPr>
          <p:cNvPr id="3" name="Contenuto della lezione">
            <a:extLst>
              <a:ext uri="{FF2B5EF4-FFF2-40B4-BE49-F238E27FC236}">
                <a16:creationId xmlns:a16="http://schemas.microsoft.com/office/drawing/2014/main" id="{A3E0BAFA-A309-2052-4630-476168083410}"/>
              </a:ext>
            </a:extLst>
          </p:cNvPr>
          <p:cNvSpPr>
            <a:spLocks noGrp="1"/>
          </p:cNvSpPr>
          <p:nvPr>
            <p:ph idx="1"/>
          </p:nvPr>
        </p:nvSpPr>
        <p:spPr>
          <a:xfrm>
            <a:off x="1317319" y="1589730"/>
            <a:ext cx="9557362" cy="4803369"/>
          </a:xfrm>
        </p:spPr>
        <p:txBody>
          <a:bodyPr/>
          <a:lstStyle/>
          <a:p>
            <a:r>
              <a:rPr lang="it-IT" dirty="0"/>
              <a:t>La seconda implementazione fondamentale dell'interfaccia List è la classe </a:t>
            </a:r>
            <a:r>
              <a:rPr lang="it-IT" dirty="0" err="1"/>
              <a:t>LinkedList</a:t>
            </a:r>
            <a:r>
              <a:rPr lang="it-IT" dirty="0"/>
              <a:t>.</a:t>
            </a:r>
          </a:p>
          <a:p>
            <a:r>
              <a:rPr lang="it-IT" dirty="0"/>
              <a:t>Sebbene dal punto di vista sintattico esponga gli stessi identici metodi di </a:t>
            </a:r>
            <a:r>
              <a:rPr lang="it-IT" dirty="0" err="1"/>
              <a:t>ArrayList</a:t>
            </a:r>
            <a:r>
              <a:rPr lang="it-IT" dirty="0"/>
              <a:t> (</a:t>
            </a:r>
            <a:r>
              <a:rPr lang="it-IT" dirty="0" err="1"/>
              <a:t>add</a:t>
            </a:r>
            <a:r>
              <a:rPr lang="it-IT" dirty="0"/>
              <a:t>, </a:t>
            </a:r>
            <a:r>
              <a:rPr lang="it-IT" dirty="0" err="1"/>
              <a:t>get</a:t>
            </a:r>
            <a:r>
              <a:rPr lang="it-IT" dirty="0"/>
              <a:t>, </a:t>
            </a:r>
            <a:r>
              <a:rPr lang="it-IT" dirty="0" err="1"/>
              <a:t>remove</a:t>
            </a:r>
            <a:r>
              <a:rPr lang="it-IT" dirty="0"/>
              <a:t>), il suo funzionamento interno a livello hardware è radicalmente differente.</a:t>
            </a:r>
          </a:p>
          <a:p>
            <a:r>
              <a:rPr lang="it-IT" b="1" dirty="0" err="1"/>
              <a:t>LinkedList</a:t>
            </a:r>
            <a:r>
              <a:rPr lang="it-IT" dirty="0"/>
              <a:t> non utilizza un array in cui gli elementi sono salvati uno accanto all'altro in memoria. </a:t>
            </a:r>
            <a:r>
              <a:rPr lang="it-IT" dirty="0">
                <a:solidFill>
                  <a:srgbClr val="171FE2"/>
                </a:solidFill>
              </a:rPr>
              <a:t>Ogni elemento viene invece inserito in un oggetto speciale chiamato </a:t>
            </a:r>
            <a:r>
              <a:rPr lang="it-IT" b="1" dirty="0">
                <a:solidFill>
                  <a:srgbClr val="171FE2"/>
                </a:solidFill>
              </a:rPr>
              <a:t>nodo</a:t>
            </a:r>
            <a:r>
              <a:rPr lang="it-IT" dirty="0"/>
              <a:t>.</a:t>
            </a:r>
          </a:p>
          <a:p>
            <a:r>
              <a:rPr lang="it-IT" dirty="0"/>
              <a:t>Ogni nodo contiene il dato e due riferimenti: uno al nodo precedente e uno al nodo successivo. </a:t>
            </a:r>
          </a:p>
          <a:p>
            <a:r>
              <a:rPr lang="it-IT" dirty="0">
                <a:solidFill>
                  <a:srgbClr val="171FE2"/>
                </a:solidFill>
              </a:rPr>
              <a:t>I nodi possono trovarsi in punti diversi della memoria e non devono essere vicini tra loro</a:t>
            </a:r>
            <a:r>
              <a:rPr lang="it-IT" dirty="0"/>
              <a:t>.</a:t>
            </a:r>
          </a:p>
          <a:p>
            <a:r>
              <a:rPr lang="it-IT" dirty="0"/>
              <a:t>Nonostante questo, tutti i nodi rimangono collegati grazie ai riferimenti tra un nodo e l'altro, formando una </a:t>
            </a:r>
            <a:r>
              <a:rPr lang="it-IT" b="1" dirty="0"/>
              <a:t>lista doppiamente concatenata</a:t>
            </a:r>
            <a:r>
              <a:rPr lang="it-IT" dirty="0"/>
              <a:t>. </a:t>
            </a:r>
          </a:p>
          <a:p>
            <a:r>
              <a:rPr lang="it-IT" dirty="0"/>
              <a:t>È la JVM che gestisce questi collegamenti, permettendo di percorrere la lista nell'ordine corretto.</a:t>
            </a:r>
            <a:endParaRPr lang="it-IT" dirty="0">
              <a:solidFill>
                <a:srgbClr val="171FE2"/>
              </a:solidFill>
            </a:endParaRPr>
          </a:p>
        </p:txBody>
      </p:sp>
    </p:spTree>
    <p:extLst>
      <p:ext uri="{BB962C8B-B14F-4D97-AF65-F5344CB8AC3E}">
        <p14:creationId xmlns:p14="http://schemas.microsoft.com/office/powerpoint/2010/main" val="3669771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79ED6-BB40-434F-A0B9-B1D0C3A7DC45}"/>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E089C97-FEA1-D2C8-86E6-77D02BC20042}"/>
              </a:ext>
            </a:extLst>
          </p:cNvPr>
          <p:cNvSpPr>
            <a:spLocks noGrp="1"/>
          </p:cNvSpPr>
          <p:nvPr>
            <p:ph type="title"/>
          </p:nvPr>
        </p:nvSpPr>
        <p:spPr>
          <a:xfrm>
            <a:off x="838200" y="831206"/>
            <a:ext cx="10515600" cy="314198"/>
          </a:xfrm>
        </p:spPr>
        <p:txBody>
          <a:bodyPr/>
          <a:lstStyle/>
          <a:p>
            <a:r>
              <a:rPr lang="it-IT" dirty="0"/>
              <a:t>SLIDE 11: Analisi Algoritmica e Complessità Computazionale (Notazione O-Grande)</a:t>
            </a:r>
          </a:p>
        </p:txBody>
      </p:sp>
      <p:sp>
        <p:nvSpPr>
          <p:cNvPr id="3" name="Contenuto della lezione">
            <a:extLst>
              <a:ext uri="{FF2B5EF4-FFF2-40B4-BE49-F238E27FC236}">
                <a16:creationId xmlns:a16="http://schemas.microsoft.com/office/drawing/2014/main" id="{CE5DBE35-4350-6393-54F2-DB9C2E808E49}"/>
              </a:ext>
            </a:extLst>
          </p:cNvPr>
          <p:cNvSpPr>
            <a:spLocks noGrp="1"/>
          </p:cNvSpPr>
          <p:nvPr>
            <p:ph idx="1"/>
          </p:nvPr>
        </p:nvSpPr>
        <p:spPr>
          <a:xfrm>
            <a:off x="1317319" y="1589730"/>
            <a:ext cx="9557362" cy="4803369"/>
          </a:xfrm>
        </p:spPr>
        <p:txBody>
          <a:bodyPr/>
          <a:lstStyle/>
          <a:p>
            <a:r>
              <a:rPr lang="it-IT" dirty="0"/>
              <a:t>Negli istituti tecnici industriali è fondamentale saper analizzare le prestazioni del codice attraverso la notazione computazionale O-Grande. </a:t>
            </a:r>
          </a:p>
          <a:p>
            <a:r>
              <a:rPr lang="it-IT" dirty="0"/>
              <a:t>L'idea di </a:t>
            </a:r>
            <a:r>
              <a:rPr lang="it-IT" b="1" dirty="0"/>
              <a:t>O-Grande (Big O)</a:t>
            </a:r>
            <a:r>
              <a:rPr lang="it-IT" dirty="0"/>
              <a:t> è descrivere </a:t>
            </a:r>
            <a:r>
              <a:rPr lang="it-IT" b="1" dirty="0"/>
              <a:t>come cambia il tempo di esecuzione di un algoritmo quando aumentano i dati da elaborare</a:t>
            </a:r>
            <a:r>
              <a:rPr lang="it-IT" dirty="0"/>
              <a:t>.</a:t>
            </a:r>
          </a:p>
          <a:p>
            <a:pPr marL="285750" indent="-285750">
              <a:buFont typeface="Arial" panose="020B0604020202020204" pitchFamily="34" charset="0"/>
              <a:buChar char="•"/>
            </a:pPr>
            <a:r>
              <a:rPr lang="it-IT" b="1" dirty="0"/>
              <a:t>O(1) – Tempo costante</a:t>
            </a:r>
            <a:br>
              <a:rPr lang="it-IT" dirty="0"/>
            </a:br>
            <a:r>
              <a:rPr lang="it-IT" dirty="0"/>
              <a:t>L'operazione impiega sempre lo stesso tempo, anche se la lista contiene 10, 1.000 o 1.000.000 di elementi. Il numero di dati non influisce sulla velocità.</a:t>
            </a:r>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r>
              <a:rPr lang="it-IT" b="1" dirty="0"/>
              <a:t>O(N) – Tempo lineare</a:t>
            </a:r>
            <a:br>
              <a:rPr lang="it-IT" dirty="0"/>
            </a:br>
            <a:r>
              <a:rPr lang="it-IT" dirty="0"/>
              <a:t>Il tempo cresce in proporzione al numero di elementi (</a:t>
            </a:r>
            <a:r>
              <a:rPr lang="it-IT" b="1" dirty="0"/>
              <a:t>N</a:t>
            </a:r>
            <a:r>
              <a:rPr lang="it-IT" dirty="0"/>
              <a:t> indica il numero di dati). Più grande è la lista, più tempo serve.</a:t>
            </a:r>
          </a:p>
        </p:txBody>
      </p:sp>
    </p:spTree>
    <p:extLst>
      <p:ext uri="{BB962C8B-B14F-4D97-AF65-F5344CB8AC3E}">
        <p14:creationId xmlns:p14="http://schemas.microsoft.com/office/powerpoint/2010/main" val="1072507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2FE-F2F8-A272-45B1-1AA6AFFFCA9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DCEDE9C-6461-E2AE-7F03-3F593AC60A75}"/>
              </a:ext>
            </a:extLst>
          </p:cNvPr>
          <p:cNvSpPr>
            <a:spLocks noGrp="1"/>
          </p:cNvSpPr>
          <p:nvPr>
            <p:ph type="title"/>
          </p:nvPr>
        </p:nvSpPr>
        <p:spPr>
          <a:xfrm>
            <a:off x="838200" y="831206"/>
            <a:ext cx="10515600" cy="314198"/>
          </a:xfrm>
        </p:spPr>
        <p:txBody>
          <a:bodyPr/>
          <a:lstStyle/>
          <a:p>
            <a:r>
              <a:rPr lang="it-IT" dirty="0"/>
              <a:t>SLIDE 12: Analisi Algoritmica e Complessità Computazionale (Notazione O-Grande)</a:t>
            </a:r>
          </a:p>
        </p:txBody>
      </p:sp>
      <p:sp>
        <p:nvSpPr>
          <p:cNvPr id="3" name="Contenuto della lezione">
            <a:extLst>
              <a:ext uri="{FF2B5EF4-FFF2-40B4-BE49-F238E27FC236}">
                <a16:creationId xmlns:a16="http://schemas.microsoft.com/office/drawing/2014/main" id="{9F6C5B43-4148-208D-2D77-44DC03503A0C}"/>
              </a:ext>
            </a:extLst>
          </p:cNvPr>
          <p:cNvSpPr>
            <a:spLocks noGrp="1"/>
          </p:cNvSpPr>
          <p:nvPr>
            <p:ph idx="1"/>
          </p:nvPr>
        </p:nvSpPr>
        <p:spPr>
          <a:xfrm>
            <a:off x="1317319" y="1589730"/>
            <a:ext cx="9557362" cy="4803369"/>
          </a:xfrm>
        </p:spPr>
        <p:txBody>
          <a:bodyPr/>
          <a:lstStyle/>
          <a:p>
            <a:r>
              <a:rPr lang="it-IT" dirty="0"/>
              <a:t>Il confronto tra </a:t>
            </a:r>
            <a:r>
              <a:rPr lang="it-IT" dirty="0" err="1"/>
              <a:t>ArrayList</a:t>
            </a:r>
            <a:r>
              <a:rPr lang="it-IT" dirty="0"/>
              <a:t> e </a:t>
            </a:r>
            <a:r>
              <a:rPr lang="it-IT" dirty="0" err="1"/>
              <a:t>LinkedList</a:t>
            </a:r>
            <a:r>
              <a:rPr lang="it-IT" dirty="0"/>
              <a:t> ne è l'esempio perfetto. </a:t>
            </a:r>
          </a:p>
          <a:p>
            <a:r>
              <a:rPr lang="it-IT" dirty="0"/>
              <a:t>L' </a:t>
            </a:r>
            <a:r>
              <a:rPr lang="it-IT" dirty="0" err="1"/>
              <a:t>ArrayList</a:t>
            </a:r>
            <a:r>
              <a:rPr lang="it-IT" dirty="0"/>
              <a:t> eccelle nella lettura: l'operazione .</a:t>
            </a:r>
            <a:r>
              <a:rPr lang="it-IT" dirty="0" err="1"/>
              <a:t>get</a:t>
            </a:r>
            <a:r>
              <a:rPr lang="it-IT" dirty="0"/>
              <a:t>(indice) è immediata, richiedendo un tempo costante O(1), perché la JVM calcola matematicamente l'indirizzo di memoria della cella dell'array. </a:t>
            </a:r>
          </a:p>
          <a:p>
            <a:r>
              <a:rPr lang="it-IT" b="1" dirty="0"/>
              <a:t>Esempio:</a:t>
            </a:r>
            <a:r>
              <a:rPr lang="it-IT" dirty="0"/>
              <a:t> </a:t>
            </a:r>
            <a:r>
              <a:rPr lang="it-IT" dirty="0" err="1">
                <a:solidFill>
                  <a:srgbClr val="171FE2"/>
                </a:solidFill>
                <a:latin typeface="Consolas" panose="020B0609020204030204" pitchFamily="49" charset="0"/>
              </a:rPr>
              <a:t>arrayList.get</a:t>
            </a:r>
            <a:r>
              <a:rPr lang="it-IT" dirty="0">
                <a:solidFill>
                  <a:srgbClr val="171FE2"/>
                </a:solidFill>
                <a:latin typeface="Consolas" panose="020B0609020204030204" pitchFamily="49" charset="0"/>
              </a:rPr>
              <a:t>(5)</a:t>
            </a:r>
            <a:br>
              <a:rPr lang="it-IT" dirty="0"/>
            </a:br>
            <a:r>
              <a:rPr lang="it-IT" dirty="0"/>
              <a:t>La JVM sa subito dove si trova l'elemento in memoria e lo legge direttamente.</a:t>
            </a:r>
          </a:p>
          <a:p>
            <a:r>
              <a:rPr lang="it-IT" dirty="0"/>
              <a:t>Tuttavia, l' </a:t>
            </a:r>
            <a:r>
              <a:rPr lang="it-IT" dirty="0" err="1"/>
              <a:t>ArrayList</a:t>
            </a:r>
            <a:r>
              <a:rPr lang="it-IT" dirty="0"/>
              <a:t> è inefficiente nell'inserimento o rimozione in mezzo alla lista (tempo O(N)), a causa dello </a:t>
            </a:r>
            <a:r>
              <a:rPr lang="it-IT" dirty="0">
                <a:solidFill>
                  <a:srgbClr val="171FE2"/>
                </a:solidFill>
              </a:rPr>
              <a:t>shift dei dati</a:t>
            </a:r>
            <a:r>
              <a:rPr lang="it-IT" dirty="0"/>
              <a:t>. Quando inseriamo o eliminiamo un elemento </a:t>
            </a:r>
            <a:r>
              <a:rPr lang="it-IT" b="1" dirty="0"/>
              <a:t>in una posizione interna</a:t>
            </a:r>
            <a:r>
              <a:rPr lang="it-IT" dirty="0"/>
              <a:t> di un </a:t>
            </a:r>
            <a:r>
              <a:rPr lang="it-IT" dirty="0" err="1"/>
              <a:t>ArrayList</a:t>
            </a:r>
            <a:r>
              <a:rPr lang="it-IT" dirty="0"/>
              <a:t>, tutti gli elementi successivi devono essere </a:t>
            </a:r>
            <a:r>
              <a:rPr lang="it-IT" b="1" dirty="0"/>
              <a:t>spostati</a:t>
            </a:r>
            <a:r>
              <a:rPr lang="it-IT" dirty="0"/>
              <a:t> per mantenere l'ordine della lista.</a:t>
            </a:r>
          </a:p>
          <a:p>
            <a:r>
              <a:rPr lang="it-IT" dirty="0"/>
              <a:t>La </a:t>
            </a:r>
            <a:r>
              <a:rPr lang="it-IT" dirty="0" err="1"/>
              <a:t>LinkedList</a:t>
            </a:r>
            <a:r>
              <a:rPr lang="it-IT" dirty="0"/>
              <a:t> si comporta in modo opposto: l'inserimento o rimozione di un nodo è fulmineo (tempo O(1)), poiché basta aggiornare i puntatori dei nodi adiacenti. Di contro, l'accesso casuale tramite </a:t>
            </a:r>
            <a:r>
              <a:rPr lang="it-IT" dirty="0" err="1"/>
              <a:t>get</a:t>
            </a:r>
            <a:r>
              <a:rPr lang="it-IT" dirty="0"/>
              <a:t> è lentissimo (tempo O(N)), perché la JVM deve scorrere la catena partendo dall'inizio fino a raggiungere il nodo desiderato.</a:t>
            </a:r>
          </a:p>
          <a:p>
            <a:r>
              <a:rPr lang="it-IT" b="1" dirty="0"/>
              <a:t>Esempio:</a:t>
            </a:r>
            <a:r>
              <a:rPr lang="it-IT" dirty="0"/>
              <a:t> </a:t>
            </a:r>
            <a:r>
              <a:rPr lang="it-IT" dirty="0" err="1">
                <a:solidFill>
                  <a:srgbClr val="171FE2"/>
                </a:solidFill>
                <a:latin typeface="Consolas" panose="020B0609020204030204" pitchFamily="49" charset="0"/>
              </a:rPr>
              <a:t>linkedList.get</a:t>
            </a:r>
            <a:r>
              <a:rPr lang="it-IT" dirty="0">
                <a:solidFill>
                  <a:srgbClr val="171FE2"/>
                </a:solidFill>
                <a:latin typeface="Consolas" panose="020B0609020204030204" pitchFamily="49" charset="0"/>
              </a:rPr>
              <a:t>(500)</a:t>
            </a:r>
            <a:br>
              <a:rPr lang="it-IT" dirty="0"/>
            </a:br>
            <a:r>
              <a:rPr lang="it-IT" dirty="0"/>
              <a:t>Per arrivare all'elemento desiderato, la JVM deve passare da un nodo all'altro. Se la lista raddoppia di dimensione, anche il tempo necessario circa raddoppia.</a:t>
            </a:r>
            <a:endParaRPr lang="it-IT" dirty="0">
              <a:solidFill>
                <a:srgbClr val="171FE2"/>
              </a:solidFill>
            </a:endParaRPr>
          </a:p>
        </p:txBody>
      </p:sp>
    </p:spTree>
    <p:extLst>
      <p:ext uri="{BB962C8B-B14F-4D97-AF65-F5344CB8AC3E}">
        <p14:creationId xmlns:p14="http://schemas.microsoft.com/office/powerpoint/2010/main" val="1627751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E85EE-606B-F53D-2265-0DC9291E3B2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74AC8E60-A34A-D144-9E97-EE5BCDB3AAFA}"/>
              </a:ext>
            </a:extLst>
          </p:cNvPr>
          <p:cNvSpPr>
            <a:spLocks noGrp="1"/>
          </p:cNvSpPr>
          <p:nvPr>
            <p:ph type="title"/>
          </p:nvPr>
        </p:nvSpPr>
        <p:spPr>
          <a:xfrm>
            <a:off x="838200" y="831206"/>
            <a:ext cx="10515600" cy="314198"/>
          </a:xfrm>
        </p:spPr>
        <p:txBody>
          <a:bodyPr/>
          <a:lstStyle/>
          <a:p>
            <a:r>
              <a:rPr lang="it-IT" dirty="0"/>
              <a:t>SLIDE 13: Esercizio Guidato – Cronometrare le Prestazioni in Laboratorio</a:t>
            </a:r>
          </a:p>
        </p:txBody>
      </p:sp>
      <p:sp>
        <p:nvSpPr>
          <p:cNvPr id="3" name="Contenuto della lezione">
            <a:extLst>
              <a:ext uri="{FF2B5EF4-FFF2-40B4-BE49-F238E27FC236}">
                <a16:creationId xmlns:a16="http://schemas.microsoft.com/office/drawing/2014/main" id="{C93B793A-F5CE-991B-A979-D359D52233D9}"/>
              </a:ext>
            </a:extLst>
          </p:cNvPr>
          <p:cNvSpPr>
            <a:spLocks noGrp="1"/>
          </p:cNvSpPr>
          <p:nvPr>
            <p:ph idx="1"/>
          </p:nvPr>
        </p:nvSpPr>
        <p:spPr>
          <a:xfrm>
            <a:off x="1317319" y="1589730"/>
            <a:ext cx="9557362" cy="4803369"/>
          </a:xfrm>
        </p:spPr>
        <p:txBody>
          <a:bodyPr/>
          <a:lstStyle/>
          <a:p>
            <a:r>
              <a:rPr lang="it-IT" dirty="0"/>
              <a:t>Sviluppiamo l'abilità pratica di effettuare un benchmark prestazionale per toccare con mano la teoria della complessità algoritmica. </a:t>
            </a:r>
          </a:p>
          <a:p>
            <a:r>
              <a:rPr lang="it-IT" dirty="0"/>
              <a:t>Create un programma nel cui </a:t>
            </a:r>
            <a:r>
              <a:rPr lang="it-IT" dirty="0" err="1"/>
              <a:t>main</a:t>
            </a:r>
            <a:r>
              <a:rPr lang="it-IT" dirty="0"/>
              <a:t> vengono istanziati un </a:t>
            </a:r>
            <a:r>
              <a:rPr lang="it-IT" dirty="0" err="1">
                <a:solidFill>
                  <a:srgbClr val="171FE2"/>
                </a:solidFill>
                <a:latin typeface="Consolas" panose="020B0609020204030204" pitchFamily="49" charset="0"/>
              </a:rPr>
              <a:t>ArrayList</a:t>
            </a:r>
            <a:r>
              <a:rPr lang="it-IT" dirty="0">
                <a:solidFill>
                  <a:srgbClr val="171FE2"/>
                </a:solidFill>
                <a:latin typeface="Consolas" panose="020B0609020204030204" pitchFamily="49" charset="0"/>
              </a:rPr>
              <a:t>&lt;</a:t>
            </a:r>
            <a:r>
              <a:rPr lang="it-IT" dirty="0" err="1">
                <a:solidFill>
                  <a:srgbClr val="171FE2"/>
                </a:solidFill>
                <a:latin typeface="Consolas" panose="020B0609020204030204" pitchFamily="49" charset="0"/>
              </a:rPr>
              <a:t>Integer</a:t>
            </a:r>
            <a:r>
              <a:rPr lang="it-IT" dirty="0">
                <a:solidFill>
                  <a:srgbClr val="171FE2"/>
                </a:solidFill>
                <a:latin typeface="Consolas" panose="020B0609020204030204" pitchFamily="49" charset="0"/>
              </a:rPr>
              <a:t>&gt; </a:t>
            </a:r>
            <a:r>
              <a:rPr lang="it-IT" dirty="0"/>
              <a:t>e un </a:t>
            </a:r>
            <a:r>
              <a:rPr lang="it-IT" dirty="0" err="1">
                <a:solidFill>
                  <a:srgbClr val="171FE2"/>
                </a:solidFill>
                <a:latin typeface="Consolas" panose="020B0609020204030204" pitchFamily="49" charset="0"/>
              </a:rPr>
              <a:t>LinkedList</a:t>
            </a:r>
            <a:r>
              <a:rPr lang="it-IT" dirty="0">
                <a:solidFill>
                  <a:srgbClr val="171FE2"/>
                </a:solidFill>
                <a:latin typeface="Consolas" panose="020B0609020204030204" pitchFamily="49" charset="0"/>
              </a:rPr>
              <a:t>&lt;</a:t>
            </a:r>
            <a:r>
              <a:rPr lang="it-IT" dirty="0" err="1">
                <a:solidFill>
                  <a:srgbClr val="171FE2"/>
                </a:solidFill>
                <a:latin typeface="Consolas" panose="020B0609020204030204" pitchFamily="49" charset="0"/>
              </a:rPr>
              <a:t>Integer</a:t>
            </a:r>
            <a:r>
              <a:rPr lang="it-IT" dirty="0">
                <a:solidFill>
                  <a:srgbClr val="171FE2"/>
                </a:solidFill>
                <a:latin typeface="Consolas" panose="020B0609020204030204" pitchFamily="49" charset="0"/>
              </a:rPr>
              <a:t>&gt;</a:t>
            </a:r>
            <a:r>
              <a:rPr lang="it-IT" dirty="0"/>
              <a:t>. </a:t>
            </a:r>
          </a:p>
          <a:p>
            <a:r>
              <a:rPr lang="it-IT" dirty="0"/>
              <a:t>Utilizzando un ciclo for massivo, inserite un milione di numeri interi all'interno di entrambe le strutture. </a:t>
            </a:r>
          </a:p>
          <a:p>
            <a:r>
              <a:rPr lang="it-IT" dirty="0"/>
              <a:t>Successivamente, misurate il tempo di esecuzione espresso in millisecondi utilizzando il metodo nativo di sistema </a:t>
            </a:r>
            <a:r>
              <a:rPr lang="it-IT" dirty="0" err="1">
                <a:solidFill>
                  <a:srgbClr val="171FE2"/>
                </a:solidFill>
                <a:latin typeface="Consolas" panose="020B0609020204030204" pitchFamily="49" charset="0"/>
              </a:rPr>
              <a:t>System.currentTimeMillis</a:t>
            </a:r>
            <a:r>
              <a:rPr lang="it-IT" dirty="0">
                <a:solidFill>
                  <a:srgbClr val="171FE2"/>
                </a:solidFill>
                <a:latin typeface="Consolas" panose="020B0609020204030204" pitchFamily="49" charset="0"/>
              </a:rPr>
              <a:t>(); </a:t>
            </a:r>
            <a:r>
              <a:rPr lang="it-IT" dirty="0"/>
              <a:t>prima e dopo l'esecuzione di un ciclo che estrae centomila volte un elemento in una posizione centrale casuale usando il metodo </a:t>
            </a:r>
            <a:r>
              <a:rPr lang="it-IT" dirty="0" err="1"/>
              <a:t>get</a:t>
            </a:r>
            <a:r>
              <a:rPr lang="it-IT" dirty="0"/>
              <a:t>. </a:t>
            </a:r>
          </a:p>
          <a:p>
            <a:r>
              <a:rPr lang="it-IT" dirty="0"/>
              <a:t>Noterete una differenza di tempo macroscopica: l'</a:t>
            </a:r>
            <a:r>
              <a:rPr lang="it-IT" dirty="0" err="1"/>
              <a:t>ArrayList</a:t>
            </a:r>
            <a:r>
              <a:rPr lang="it-IT" dirty="0"/>
              <a:t> completerà l'operazione quasi istantaneamente, mentre la </a:t>
            </a:r>
            <a:r>
              <a:rPr lang="it-IT" dirty="0" err="1"/>
              <a:t>LinkedList</a:t>
            </a:r>
            <a:r>
              <a:rPr lang="it-IT" dirty="0"/>
              <a:t> impiegherà svariati secondi, dimostrando visivamente l'impatto della scelta della struttura dati.</a:t>
            </a:r>
            <a:endParaRPr lang="it-IT" dirty="0">
              <a:solidFill>
                <a:srgbClr val="171FE2"/>
              </a:solidFill>
            </a:endParaRPr>
          </a:p>
        </p:txBody>
      </p:sp>
    </p:spTree>
    <p:extLst>
      <p:ext uri="{BB962C8B-B14F-4D97-AF65-F5344CB8AC3E}">
        <p14:creationId xmlns:p14="http://schemas.microsoft.com/office/powerpoint/2010/main" val="20588211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63719-482D-6F6A-2F9B-CE20E91C40E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780AD31-9AB3-97BF-F287-574D047C023C}"/>
              </a:ext>
            </a:extLst>
          </p:cNvPr>
          <p:cNvSpPr>
            <a:spLocks noGrp="1"/>
          </p:cNvSpPr>
          <p:nvPr>
            <p:ph type="title"/>
          </p:nvPr>
        </p:nvSpPr>
        <p:spPr>
          <a:xfrm>
            <a:off x="838200" y="831206"/>
            <a:ext cx="10515600" cy="314198"/>
          </a:xfrm>
        </p:spPr>
        <p:txBody>
          <a:bodyPr/>
          <a:lstStyle/>
          <a:p>
            <a:r>
              <a:rPr lang="it-IT" dirty="0"/>
              <a:t>SLIDE 14: Iterazione sulle Liste: il Ciclo For-</a:t>
            </a:r>
            <a:r>
              <a:rPr lang="it-IT" dirty="0" err="1"/>
              <a:t>Each</a:t>
            </a:r>
            <a:r>
              <a:rPr lang="it-IT" dirty="0"/>
              <a:t> e l'interfaccia Iterator</a:t>
            </a:r>
          </a:p>
        </p:txBody>
      </p:sp>
      <p:sp>
        <p:nvSpPr>
          <p:cNvPr id="3" name="Contenuto della lezione">
            <a:extLst>
              <a:ext uri="{FF2B5EF4-FFF2-40B4-BE49-F238E27FC236}">
                <a16:creationId xmlns:a16="http://schemas.microsoft.com/office/drawing/2014/main" id="{FC32A70C-E4E8-772C-4739-BE002D7833CC}"/>
              </a:ext>
            </a:extLst>
          </p:cNvPr>
          <p:cNvSpPr>
            <a:spLocks noGrp="1"/>
          </p:cNvSpPr>
          <p:nvPr>
            <p:ph idx="1"/>
          </p:nvPr>
        </p:nvSpPr>
        <p:spPr>
          <a:xfrm>
            <a:off x="1317319" y="1589730"/>
            <a:ext cx="9557362" cy="4803369"/>
          </a:xfrm>
        </p:spPr>
        <p:txBody>
          <a:bodyPr/>
          <a:lstStyle/>
          <a:p>
            <a:r>
              <a:rPr lang="it-IT" dirty="0"/>
              <a:t>Scansionare gli elementi di una lista è un'operazione quotidiana per un programmatore. </a:t>
            </a:r>
          </a:p>
          <a:p>
            <a:r>
              <a:rPr lang="it-IT" dirty="0"/>
              <a:t>Il modo più moderno e pulito è l'utilizzo del ciclo for-</a:t>
            </a:r>
            <a:r>
              <a:rPr lang="it-IT" dirty="0" err="1"/>
              <a:t>each</a:t>
            </a:r>
            <a:r>
              <a:rPr lang="it-IT" dirty="0"/>
              <a:t>. </a:t>
            </a:r>
          </a:p>
          <a:p>
            <a:r>
              <a:rPr lang="it-IT" dirty="0"/>
              <a:t>Tuttavia, il for-</a:t>
            </a:r>
            <a:r>
              <a:rPr lang="it-IT" dirty="0" err="1"/>
              <a:t>each</a:t>
            </a:r>
            <a:r>
              <a:rPr lang="it-IT" dirty="0"/>
              <a:t> nasconde un'insidia ingegneristica: se tentiamo di rimuovere un elemento dalla lista tramite il metodo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remove</a:t>
            </a:r>
            <a:r>
              <a:rPr lang="it-IT" dirty="0">
                <a:solidFill>
                  <a:srgbClr val="171FE2"/>
                </a:solidFill>
                <a:latin typeface="Consolas" panose="020B0609020204030204" pitchFamily="49" charset="0"/>
              </a:rPr>
              <a:t>() </a:t>
            </a:r>
            <a:r>
              <a:rPr lang="it-IT" dirty="0"/>
              <a:t>mentre la stiamo </a:t>
            </a:r>
            <a:r>
              <a:rPr lang="it-IT" dirty="0" err="1"/>
              <a:t>ciclando</a:t>
            </a:r>
            <a:r>
              <a:rPr lang="it-IT" dirty="0"/>
              <a:t> con un for-</a:t>
            </a:r>
            <a:r>
              <a:rPr lang="it-IT" dirty="0" err="1"/>
              <a:t>each</a:t>
            </a:r>
            <a:r>
              <a:rPr lang="it-IT" dirty="0"/>
              <a:t>, la JVM interromperà immediatamente l'esecuzione lanciando un'eccezione catastrofica chiamata </a:t>
            </a:r>
            <a:r>
              <a:rPr lang="it-IT" dirty="0" err="1"/>
              <a:t>ConcurrentModificationException</a:t>
            </a:r>
            <a:r>
              <a:rPr lang="it-IT" dirty="0"/>
              <a:t>. </a:t>
            </a:r>
          </a:p>
          <a:p>
            <a:r>
              <a:rPr lang="it-IT" dirty="0"/>
              <a:t>Per rimuovere elementi in sicurezza durante la scansione, dobbiamo utilizzare esplicitamente l'oggetto Iterator (Iteratore). </a:t>
            </a:r>
          </a:p>
          <a:p>
            <a:r>
              <a:rPr lang="it-IT" dirty="0"/>
              <a:t>L'iteratore è un oggetto che si aggancia alla collezione e permette di scorrere i dati tramite un ciclo </a:t>
            </a:r>
            <a:r>
              <a:rPr lang="it-IT" dirty="0" err="1"/>
              <a:t>while</a:t>
            </a:r>
            <a:r>
              <a:rPr lang="it-IT" dirty="0"/>
              <a:t> governato dai metodi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hasNext</a:t>
            </a:r>
            <a:r>
              <a:rPr lang="it-IT" dirty="0">
                <a:solidFill>
                  <a:srgbClr val="171FE2"/>
                </a:solidFill>
                <a:latin typeface="Consolas" panose="020B0609020204030204" pitchFamily="49" charset="0"/>
              </a:rPr>
              <a:t>() </a:t>
            </a:r>
            <a:r>
              <a:rPr lang="it-IT" dirty="0"/>
              <a:t>(verifica se esiste un elemento successivo) e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next</a:t>
            </a:r>
            <a:r>
              <a:rPr lang="it-IT" dirty="0">
                <a:solidFill>
                  <a:srgbClr val="171FE2"/>
                </a:solidFill>
                <a:latin typeface="Consolas" panose="020B0609020204030204" pitchFamily="49" charset="0"/>
              </a:rPr>
              <a:t>() </a:t>
            </a:r>
            <a:r>
              <a:rPr lang="it-IT" dirty="0"/>
              <a:t>(estrae l'elemento), mettendo a disposizione il metodo sicuro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remove</a:t>
            </a:r>
            <a:r>
              <a:rPr lang="it-IT" dirty="0">
                <a:solidFill>
                  <a:srgbClr val="171FE2"/>
                </a:solidFill>
                <a:latin typeface="Consolas" panose="020B0609020204030204" pitchFamily="49" charset="0"/>
              </a:rPr>
              <a:t>() </a:t>
            </a:r>
            <a:r>
              <a:rPr lang="it-IT" dirty="0"/>
              <a:t>dell'iteratore stesso.</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2434657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ED3BF-2535-5D0D-DF1E-886108A368D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9B50796-0F98-7CCB-223A-8860F0387B70}"/>
              </a:ext>
            </a:extLst>
          </p:cNvPr>
          <p:cNvSpPr>
            <a:spLocks noGrp="1"/>
          </p:cNvSpPr>
          <p:nvPr>
            <p:ph type="title"/>
          </p:nvPr>
        </p:nvSpPr>
        <p:spPr>
          <a:xfrm>
            <a:off x="838200" y="831206"/>
            <a:ext cx="10515600" cy="314198"/>
          </a:xfrm>
        </p:spPr>
        <p:txBody>
          <a:bodyPr/>
          <a:lstStyle/>
          <a:p>
            <a:r>
              <a:rPr lang="it-IT" dirty="0"/>
              <a:t>SLIDE 15: Ordinamento delle Liste: la Classe Utility </a:t>
            </a:r>
            <a:r>
              <a:rPr lang="it-IT" dirty="0" err="1"/>
              <a:t>Collections</a:t>
            </a:r>
            <a:endParaRPr lang="it-IT" dirty="0"/>
          </a:p>
        </p:txBody>
      </p:sp>
      <p:sp>
        <p:nvSpPr>
          <p:cNvPr id="3" name="Contenuto della lezione">
            <a:extLst>
              <a:ext uri="{FF2B5EF4-FFF2-40B4-BE49-F238E27FC236}">
                <a16:creationId xmlns:a16="http://schemas.microsoft.com/office/drawing/2014/main" id="{C403F953-B64D-E111-A901-3D2880601850}"/>
              </a:ext>
            </a:extLst>
          </p:cNvPr>
          <p:cNvSpPr>
            <a:spLocks noGrp="1"/>
          </p:cNvSpPr>
          <p:nvPr>
            <p:ph idx="1"/>
          </p:nvPr>
        </p:nvSpPr>
        <p:spPr>
          <a:xfrm>
            <a:off x="1317319" y="1589730"/>
            <a:ext cx="9557362" cy="4803369"/>
          </a:xfrm>
        </p:spPr>
        <p:txBody>
          <a:bodyPr/>
          <a:lstStyle/>
          <a:p>
            <a:r>
              <a:rPr lang="it-IT" dirty="0"/>
              <a:t>Ordinare i dati secondo criteri alfabetici o numerici è un requisito standard dei gestionali software. </a:t>
            </a:r>
          </a:p>
          <a:p>
            <a:r>
              <a:rPr lang="it-IT" dirty="0"/>
              <a:t>Il framework Java evita al programmatore di dover implementare manualmente algoritmi complessi come il </a:t>
            </a:r>
            <a:r>
              <a:rPr lang="it-IT" dirty="0" err="1"/>
              <a:t>BubbleSort</a:t>
            </a:r>
            <a:r>
              <a:rPr lang="it-IT" dirty="0"/>
              <a:t> o il </a:t>
            </a:r>
            <a:r>
              <a:rPr lang="it-IT" dirty="0" err="1"/>
              <a:t>QuickSort</a:t>
            </a:r>
            <a:r>
              <a:rPr lang="it-IT" dirty="0"/>
              <a:t>, mettendo a disposizione la classe utility </a:t>
            </a:r>
            <a:r>
              <a:rPr lang="it-IT" dirty="0" err="1"/>
              <a:t>Collections</a:t>
            </a:r>
            <a:r>
              <a:rPr lang="it-IT" dirty="0"/>
              <a:t> (da non confondere con l'interfaccia Collection). </a:t>
            </a:r>
          </a:p>
          <a:p>
            <a:r>
              <a:rPr lang="it-IT" dirty="0"/>
              <a:t>La classe </a:t>
            </a:r>
            <a:r>
              <a:rPr lang="it-IT" dirty="0" err="1"/>
              <a:t>Collections</a:t>
            </a:r>
            <a:r>
              <a:rPr lang="it-IT" dirty="0"/>
              <a:t> contiene esclusivamente metodi statici utili a operare sulle strutture dati. </a:t>
            </a:r>
          </a:p>
          <a:p>
            <a:r>
              <a:rPr lang="it-IT" dirty="0"/>
              <a:t>Per ordinare una lista in modo ascendente, basta invocare il metodo statico </a:t>
            </a:r>
            <a:r>
              <a:rPr lang="it-IT" dirty="0" err="1"/>
              <a:t>Collections.sort</a:t>
            </a:r>
            <a:r>
              <a:rPr lang="it-IT" dirty="0"/>
              <a:t>(</a:t>
            </a:r>
            <a:r>
              <a:rPr lang="it-IT" dirty="0" err="1"/>
              <a:t>nomeLista</a:t>
            </a:r>
            <a:r>
              <a:rPr lang="it-IT" dirty="0"/>
              <a:t>);. </a:t>
            </a:r>
          </a:p>
          <a:p>
            <a:r>
              <a:rPr lang="it-IT" dirty="0"/>
              <a:t>Se la lista contiene stringhe, verranno ordinate alfabeticamente; se contiene numeri, verranno ordinati in modo crescente. </a:t>
            </a:r>
          </a:p>
          <a:p>
            <a:r>
              <a:rPr lang="it-IT" dirty="0"/>
              <a:t>Sviluppate l'abilità pratica creando una lista disordinata di temperature decimali, applicando il metodo di ordinamento statico e verificando la corretta disposizione sequenziale dei dati stampando il report finale.</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754912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4D8F7-AFD5-40A2-1818-39139FAC76E5}"/>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7C7EFEB-9429-11AD-4723-ED8F57EA6AFA}"/>
              </a:ext>
            </a:extLst>
          </p:cNvPr>
          <p:cNvSpPr>
            <a:spLocks noGrp="1"/>
          </p:cNvSpPr>
          <p:nvPr>
            <p:ph type="title"/>
          </p:nvPr>
        </p:nvSpPr>
        <p:spPr>
          <a:xfrm>
            <a:off x="838200" y="831206"/>
            <a:ext cx="10515600" cy="314198"/>
          </a:xfrm>
        </p:spPr>
        <p:txBody>
          <a:bodyPr/>
          <a:lstStyle/>
          <a:p>
            <a:r>
              <a:rPr lang="it-IT" dirty="0"/>
              <a:t>SLIDE 16: Introduzione all'Ordinamento di Oggetti Personalizzati: l'Interfaccia Comparable</a:t>
            </a:r>
          </a:p>
        </p:txBody>
      </p:sp>
      <p:sp>
        <p:nvSpPr>
          <p:cNvPr id="3" name="Contenuto della lezione">
            <a:extLst>
              <a:ext uri="{FF2B5EF4-FFF2-40B4-BE49-F238E27FC236}">
                <a16:creationId xmlns:a16="http://schemas.microsoft.com/office/drawing/2014/main" id="{07BB4A66-A2EB-DBBD-B8C2-ED2067FF2B35}"/>
              </a:ext>
            </a:extLst>
          </p:cNvPr>
          <p:cNvSpPr>
            <a:spLocks noGrp="1"/>
          </p:cNvSpPr>
          <p:nvPr>
            <p:ph idx="1"/>
          </p:nvPr>
        </p:nvSpPr>
        <p:spPr>
          <a:xfrm>
            <a:off x="1317319" y="1589730"/>
            <a:ext cx="9557362" cy="4803369"/>
          </a:xfrm>
        </p:spPr>
        <p:txBody>
          <a:bodyPr/>
          <a:lstStyle/>
          <a:p>
            <a:r>
              <a:rPr lang="it-IT" dirty="0"/>
              <a:t>Il metodo </a:t>
            </a:r>
            <a:r>
              <a:rPr lang="it-IT" dirty="0" err="1"/>
              <a:t>Collections.sort</a:t>
            </a:r>
            <a:r>
              <a:rPr lang="it-IT" dirty="0"/>
              <a:t>() funziona automaticamente se applicato a tipi nativi di Java (come </a:t>
            </a:r>
            <a:r>
              <a:rPr lang="it-IT" dirty="0" err="1"/>
              <a:t>String</a:t>
            </a:r>
            <a:r>
              <a:rPr lang="it-IT" dirty="0"/>
              <a:t> o </a:t>
            </a:r>
            <a:r>
              <a:rPr lang="it-IT" dirty="0" err="1"/>
              <a:t>Integer</a:t>
            </a:r>
            <a:r>
              <a:rPr lang="it-IT" dirty="0"/>
              <a:t>) perché queste classi implementano già l'interfaccia nativa Comparable. </a:t>
            </a:r>
          </a:p>
          <a:p>
            <a:r>
              <a:rPr lang="it-IT" dirty="0"/>
              <a:t>Ma cosa succede se proviamo a ordinare una lista di oggetti personalizzati creati da noi, come la classe </a:t>
            </a:r>
            <a:r>
              <a:rPr lang="it-IT" dirty="0" err="1"/>
              <a:t>ContoCorrente</a:t>
            </a:r>
            <a:r>
              <a:rPr lang="it-IT" dirty="0"/>
              <a:t> o la classe Studente? Il compilatore genererà un errore, perché Java non sa in base a quale criterio logico ordinare gli studenti (in base alla media voti? In base al cognome?). </a:t>
            </a:r>
          </a:p>
          <a:p>
            <a:r>
              <a:rPr lang="it-IT" dirty="0"/>
              <a:t>Per rendere una nostra classe ordinabile, dobbiamo implementare esplicitamente l'interfaccia Comparable&lt;T&gt; e riscrivere il metodo contrattuale public </a:t>
            </a:r>
            <a:r>
              <a:rPr lang="it-IT" dirty="0" err="1"/>
              <a:t>int</a:t>
            </a:r>
            <a:r>
              <a:rPr lang="it-IT" dirty="0"/>
              <a:t> </a:t>
            </a:r>
            <a:r>
              <a:rPr lang="it-IT" dirty="0" err="1"/>
              <a:t>compareTo</a:t>
            </a:r>
            <a:r>
              <a:rPr lang="it-IT" dirty="0"/>
              <a:t>(T altro). </a:t>
            </a:r>
          </a:p>
          <a:p>
            <a:r>
              <a:rPr lang="it-IT" dirty="0"/>
              <a:t>Questo metodo deve restituire un intero negativo se l'oggetto corrente è minore di quello passato, zero se sono uguali, o un intero positivo se è maggiore, definendo così l'ordinamento naturale della classe.</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1333661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03334-9AB7-9B80-3777-4E56B9125B4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B8CCF66-62FF-97F3-46D8-50109C65A329}"/>
              </a:ext>
            </a:extLst>
          </p:cNvPr>
          <p:cNvSpPr>
            <a:spLocks noGrp="1"/>
          </p:cNvSpPr>
          <p:nvPr>
            <p:ph type="title"/>
          </p:nvPr>
        </p:nvSpPr>
        <p:spPr>
          <a:xfrm>
            <a:off x="838200" y="831206"/>
            <a:ext cx="10515600" cy="314198"/>
          </a:xfrm>
        </p:spPr>
        <p:txBody>
          <a:bodyPr/>
          <a:lstStyle/>
          <a:p>
            <a:r>
              <a:rPr lang="it-IT" dirty="0"/>
              <a:t>SEZIONE 3: GLI INSIEMI E LE MAPPE (Slide 17 - 25)</a:t>
            </a:r>
            <a:br>
              <a:rPr lang="it-IT" dirty="0"/>
            </a:br>
            <a:r>
              <a:rPr lang="it-IT" dirty="0"/>
              <a:t>SLIDE 17: Unità Didattica 2 – L'Interfaccia Set e l'Unicità dei Dati</a:t>
            </a:r>
          </a:p>
        </p:txBody>
      </p:sp>
      <p:sp>
        <p:nvSpPr>
          <p:cNvPr id="3" name="Contenuto della lezione">
            <a:extLst>
              <a:ext uri="{FF2B5EF4-FFF2-40B4-BE49-F238E27FC236}">
                <a16:creationId xmlns:a16="http://schemas.microsoft.com/office/drawing/2014/main" id="{3B6FCF74-B350-0EB4-0D2C-39D34E8D8BF2}"/>
              </a:ext>
            </a:extLst>
          </p:cNvPr>
          <p:cNvSpPr>
            <a:spLocks noGrp="1"/>
          </p:cNvSpPr>
          <p:nvPr>
            <p:ph idx="1"/>
          </p:nvPr>
        </p:nvSpPr>
        <p:spPr>
          <a:xfrm>
            <a:off x="1317319" y="1589730"/>
            <a:ext cx="9557362" cy="4803369"/>
          </a:xfrm>
        </p:spPr>
        <p:txBody>
          <a:bodyPr/>
          <a:lstStyle/>
          <a:p>
            <a:r>
              <a:rPr lang="it-IT" dirty="0"/>
              <a:t>L'interfaccia Set modella il concetto matematico di insieme. </a:t>
            </a:r>
          </a:p>
          <a:p>
            <a:r>
              <a:rPr lang="it-IT" dirty="0">
                <a:solidFill>
                  <a:srgbClr val="171FE2"/>
                </a:solidFill>
              </a:rPr>
              <a:t>La sua caratteristica fondamentale e distintiva rispetto alle liste è che un Set vieta categoricamente l'introduzione di elementi duplicati all'interno della collezione. </a:t>
            </a:r>
          </a:p>
          <a:p>
            <a:r>
              <a:rPr lang="it-IT" dirty="0"/>
              <a:t>Se proviamo a inserire un elemento già presente usando il metodo .</a:t>
            </a:r>
            <a:r>
              <a:rPr lang="it-IT" dirty="0" err="1"/>
              <a:t>add</a:t>
            </a:r>
            <a:r>
              <a:rPr lang="it-IT" dirty="0"/>
              <a:t>(), la collezione rifiuterà l'inserimento senza generare crash, limitandosi a restituire il valore booleano false. </a:t>
            </a:r>
          </a:p>
          <a:p>
            <a:r>
              <a:rPr lang="it-IT" dirty="0">
                <a:solidFill>
                  <a:srgbClr val="171FE2"/>
                </a:solidFill>
              </a:rPr>
              <a:t>Altra caratteristica cruciale è l'assenza del concetto di indice numerico posizionale: in un insieme non esiste una "prima cella" o una "terza cella", gli elementi sono semplicemente presenti o assenti</a:t>
            </a:r>
            <a:r>
              <a:rPr lang="it-IT" dirty="0"/>
              <a:t>. Di conseguenza, da un Set è impossibile estrarre un elemento tramite un metodo </a:t>
            </a:r>
            <a:r>
              <a:rPr lang="it-IT" dirty="0" err="1"/>
              <a:t>get</a:t>
            </a:r>
            <a:r>
              <a:rPr lang="it-IT" dirty="0"/>
              <a:t> passando un indice; l'unico modo per analizzare i dati è verificare la presenza di un elemento specifico o scansionare l'intero insieme tramite un ciclo for-</a:t>
            </a:r>
            <a:r>
              <a:rPr lang="it-IT" dirty="0" err="1"/>
              <a:t>each</a:t>
            </a:r>
            <a:r>
              <a:rPr lang="it-IT" dirty="0"/>
              <a:t>.</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6062553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7269B-53E8-91F7-F05D-4BEE4E2B5B8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C105910-1262-D4AD-43A7-89966F8D2259}"/>
              </a:ext>
            </a:extLst>
          </p:cNvPr>
          <p:cNvSpPr>
            <a:spLocks noGrp="1"/>
          </p:cNvSpPr>
          <p:nvPr>
            <p:ph type="title"/>
          </p:nvPr>
        </p:nvSpPr>
        <p:spPr>
          <a:xfrm>
            <a:off x="838200" y="831206"/>
            <a:ext cx="10515600" cy="314198"/>
          </a:xfrm>
        </p:spPr>
        <p:txBody>
          <a:bodyPr/>
          <a:lstStyle/>
          <a:p>
            <a:r>
              <a:rPr lang="it-IT" dirty="0"/>
              <a:t>SLIDE 18: La Classe </a:t>
            </a:r>
            <a:r>
              <a:rPr lang="it-IT" dirty="0" err="1"/>
              <a:t>HashSet</a:t>
            </a:r>
            <a:r>
              <a:rPr lang="it-IT" dirty="0"/>
              <a:t> e il Funzionamento delle Tabelle </a:t>
            </a:r>
            <a:r>
              <a:rPr lang="it-IT" dirty="0" err="1"/>
              <a:t>Hash</a:t>
            </a:r>
            <a:endParaRPr lang="it-IT" dirty="0"/>
          </a:p>
        </p:txBody>
      </p:sp>
      <p:sp>
        <p:nvSpPr>
          <p:cNvPr id="3" name="Contenuto della lezione">
            <a:extLst>
              <a:ext uri="{FF2B5EF4-FFF2-40B4-BE49-F238E27FC236}">
                <a16:creationId xmlns:a16="http://schemas.microsoft.com/office/drawing/2014/main" id="{31682FAE-4979-BBB4-1330-8B13B6131988}"/>
              </a:ext>
            </a:extLst>
          </p:cNvPr>
          <p:cNvSpPr>
            <a:spLocks noGrp="1"/>
          </p:cNvSpPr>
          <p:nvPr>
            <p:ph idx="1"/>
          </p:nvPr>
        </p:nvSpPr>
        <p:spPr>
          <a:xfrm>
            <a:off x="1317319" y="1589730"/>
            <a:ext cx="9557362" cy="4803369"/>
          </a:xfrm>
        </p:spPr>
        <p:txBody>
          <a:bodyPr/>
          <a:lstStyle/>
          <a:p>
            <a:r>
              <a:rPr lang="it-IT" dirty="0"/>
              <a:t>L'implementazione più utilizzata dell'interfaccia Set è la classe </a:t>
            </a:r>
            <a:r>
              <a:rPr lang="it-IT" dirty="0" err="1"/>
              <a:t>HashSet</a:t>
            </a:r>
            <a:r>
              <a:rPr lang="it-IT" dirty="0"/>
              <a:t>. </a:t>
            </a:r>
          </a:p>
          <a:p>
            <a:r>
              <a:rPr lang="it-IT" dirty="0"/>
              <a:t>Per garantire prestazioni fulminee, l' </a:t>
            </a:r>
            <a:r>
              <a:rPr lang="it-IT" dirty="0" err="1"/>
              <a:t>HashSet</a:t>
            </a:r>
            <a:r>
              <a:rPr lang="it-IT" dirty="0"/>
              <a:t> si basa internamente su una struttura dati algoritmica chiamata Tabella </a:t>
            </a:r>
            <a:r>
              <a:rPr lang="it-IT" dirty="0" err="1"/>
              <a:t>Hash</a:t>
            </a:r>
            <a:r>
              <a:rPr lang="it-IT" dirty="0"/>
              <a:t>. </a:t>
            </a:r>
          </a:p>
          <a:p>
            <a:r>
              <a:rPr lang="it-IT" dirty="0"/>
              <a:t>Quando inseriamo un oggetto in un </a:t>
            </a:r>
            <a:r>
              <a:rPr lang="it-IT" dirty="0" err="1"/>
              <a:t>HashSet</a:t>
            </a:r>
            <a:r>
              <a:rPr lang="it-IT" dirty="0"/>
              <a:t>, la JVM invoca sull'oggetto un metodo nativo speciale chiamato </a:t>
            </a:r>
            <a:r>
              <a:rPr lang="it-IT" dirty="0" err="1"/>
              <a:t>hashCode</a:t>
            </a:r>
            <a:r>
              <a:rPr lang="it-IT" dirty="0"/>
              <a:t>(), che traduce lo stato interno dell'oggetto in un numero intero (una sorta di impronta digitale). </a:t>
            </a:r>
          </a:p>
          <a:p>
            <a:r>
              <a:rPr lang="it-IT" dirty="0"/>
              <a:t>Questo numero viene utilizzato come indice matematico per posizionare l'oggetto all'interno di "secchi" (buckets) di memoria Heap. </a:t>
            </a:r>
          </a:p>
          <a:p>
            <a:r>
              <a:rPr lang="it-IT" dirty="0"/>
              <a:t>Grazie a questo meccanismo di indicizzazione algoritmica, l' </a:t>
            </a:r>
            <a:r>
              <a:rPr lang="it-IT" dirty="0" err="1"/>
              <a:t>HashSet</a:t>
            </a:r>
            <a:r>
              <a:rPr lang="it-IT" dirty="0"/>
              <a:t> offre prestazioni straordinarie: l'operazione di ricerca di un elemento tramite il metodo .</a:t>
            </a:r>
            <a:r>
              <a:rPr lang="it-IT" dirty="0" err="1"/>
              <a:t>contains</a:t>
            </a:r>
            <a:r>
              <a:rPr lang="it-IT" dirty="0"/>
              <a:t>(elemento) richiede un tempo costante O(1), indipendentemente dal fatto che l'insieme contenga dieci o dieci milioni di elementi.</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172382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28F5B-CC74-83FA-1CBE-3CC78F9918E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8B26B5B2-A4F4-B9A6-BE7A-24D7C4877C73}"/>
              </a:ext>
            </a:extLst>
          </p:cNvPr>
          <p:cNvSpPr>
            <a:spLocks noGrp="1"/>
          </p:cNvSpPr>
          <p:nvPr>
            <p:ph type="title"/>
          </p:nvPr>
        </p:nvSpPr>
        <p:spPr>
          <a:xfrm>
            <a:off x="838200" y="831206"/>
            <a:ext cx="10515600" cy="314198"/>
          </a:xfrm>
        </p:spPr>
        <p:txBody>
          <a:bodyPr/>
          <a:lstStyle/>
          <a:p>
            <a:r>
              <a:rPr lang="it-IT" dirty="0"/>
              <a:t>SLIDE 19: L'importanza di </a:t>
            </a:r>
            <a:r>
              <a:rPr lang="it-IT" dirty="0" err="1"/>
              <a:t>hashCode</a:t>
            </a:r>
            <a:r>
              <a:rPr lang="it-IT" dirty="0"/>
              <a:t>() ed </a:t>
            </a:r>
            <a:r>
              <a:rPr lang="it-IT" dirty="0" err="1"/>
              <a:t>equals</a:t>
            </a:r>
            <a:r>
              <a:rPr lang="it-IT" dirty="0"/>
              <a:t>() nell'</a:t>
            </a:r>
            <a:r>
              <a:rPr lang="it-IT" dirty="0" err="1"/>
              <a:t>HashSet</a:t>
            </a:r>
            <a:endParaRPr lang="it-IT" dirty="0"/>
          </a:p>
        </p:txBody>
      </p:sp>
      <p:sp>
        <p:nvSpPr>
          <p:cNvPr id="3" name="Contenuto della lezione">
            <a:extLst>
              <a:ext uri="{FF2B5EF4-FFF2-40B4-BE49-F238E27FC236}">
                <a16:creationId xmlns:a16="http://schemas.microsoft.com/office/drawing/2014/main" id="{1A789CF7-53F1-2006-CA5E-1F1FC1CD3D66}"/>
              </a:ext>
            </a:extLst>
          </p:cNvPr>
          <p:cNvSpPr>
            <a:spLocks noGrp="1"/>
          </p:cNvSpPr>
          <p:nvPr>
            <p:ph idx="1"/>
          </p:nvPr>
        </p:nvSpPr>
        <p:spPr>
          <a:xfrm>
            <a:off x="1317319" y="1589730"/>
            <a:ext cx="9557362" cy="4803369"/>
          </a:xfrm>
        </p:spPr>
        <p:txBody>
          <a:bodyPr/>
          <a:lstStyle/>
          <a:p>
            <a:r>
              <a:rPr lang="it-IT" dirty="0"/>
              <a:t>Il funzionamento sicuro di un </a:t>
            </a:r>
            <a:r>
              <a:rPr lang="it-IT" dirty="0" err="1"/>
              <a:t>HashSet</a:t>
            </a:r>
            <a:r>
              <a:rPr lang="it-IT" dirty="0"/>
              <a:t> (e la sua capacità di intercettare i duplicati) dipende strettamente da un contratto formale che lega due metodi ereditati da ogni oggetto in Java: </a:t>
            </a:r>
            <a:r>
              <a:rPr lang="it-IT" dirty="0" err="1"/>
              <a:t>equals</a:t>
            </a:r>
            <a:r>
              <a:rPr lang="it-IT" dirty="0"/>
              <a:t>() e </a:t>
            </a:r>
            <a:r>
              <a:rPr lang="it-IT" dirty="0" err="1"/>
              <a:t>hashCode</a:t>
            </a:r>
            <a:r>
              <a:rPr lang="it-IT" dirty="0"/>
              <a:t>(). </a:t>
            </a:r>
          </a:p>
          <a:p>
            <a:r>
              <a:rPr lang="it-IT" dirty="0"/>
              <a:t>Se sviluppiamo una classe personalizzata (es. Studente) e vogliamo inserirla in un </a:t>
            </a:r>
            <a:r>
              <a:rPr lang="it-IT" dirty="0" err="1"/>
              <a:t>HashSet</a:t>
            </a:r>
            <a:r>
              <a:rPr lang="it-IT" dirty="0"/>
              <a:t> impedendo che lo stesso studente venga inserito due volte, siamo obbligati a effettuare l'</a:t>
            </a:r>
            <a:r>
              <a:rPr lang="it-IT" dirty="0" err="1"/>
              <a:t>override</a:t>
            </a:r>
            <a:r>
              <a:rPr lang="it-IT" dirty="0"/>
              <a:t> di entrambi i metodi all'interno della classe. </a:t>
            </a:r>
          </a:p>
          <a:p>
            <a:r>
              <a:rPr lang="it-IT" dirty="0">
                <a:solidFill>
                  <a:srgbClr val="171FE2"/>
                </a:solidFill>
              </a:rPr>
              <a:t>La regola ingegneristica recita: se due oggetti sono considerati uguali dal metodo </a:t>
            </a:r>
            <a:r>
              <a:rPr lang="it-IT" dirty="0" err="1">
                <a:solidFill>
                  <a:srgbClr val="171FE2"/>
                </a:solidFill>
              </a:rPr>
              <a:t>equals</a:t>
            </a:r>
            <a:r>
              <a:rPr lang="it-IT" dirty="0">
                <a:solidFill>
                  <a:srgbClr val="171FE2"/>
                </a:solidFill>
              </a:rPr>
              <a:t>(), essi devono obbligatoriamente restituire lo stesso identico valore intero dal metodo </a:t>
            </a:r>
            <a:r>
              <a:rPr lang="it-IT" dirty="0" err="1">
                <a:solidFill>
                  <a:srgbClr val="171FE2"/>
                </a:solidFill>
              </a:rPr>
              <a:t>hashCode</a:t>
            </a:r>
            <a:r>
              <a:rPr lang="it-IT" dirty="0">
                <a:solidFill>
                  <a:srgbClr val="171FE2"/>
                </a:solidFill>
              </a:rPr>
              <a:t>()</a:t>
            </a:r>
            <a:r>
              <a:rPr lang="it-IT" dirty="0"/>
              <a:t>. </a:t>
            </a:r>
          </a:p>
          <a:p>
            <a:r>
              <a:rPr lang="it-IT" dirty="0"/>
              <a:t>Se omettiamo di ridefinire questi metodi, Java utilizzerà le implementazioni native basate sugli indirizzi fisici di memoria, col risultato che due oggetti distinti nello Heap con gli stessi identici dati verranno considerati diversi, rompendo l'unicità del Set.</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42294796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885F-36C5-3C31-055B-9540D05E8BA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881384E2-53FA-4A1F-3A5C-C567F099B256}"/>
              </a:ext>
            </a:extLst>
          </p:cNvPr>
          <p:cNvSpPr>
            <a:spLocks noGrp="1"/>
          </p:cNvSpPr>
          <p:nvPr>
            <p:ph type="title"/>
          </p:nvPr>
        </p:nvSpPr>
        <p:spPr>
          <a:xfrm>
            <a:off x="838200" y="831206"/>
            <a:ext cx="10515600" cy="314198"/>
          </a:xfrm>
        </p:spPr>
        <p:txBody>
          <a:bodyPr/>
          <a:lstStyle/>
          <a:p>
            <a:r>
              <a:rPr lang="it-IT" dirty="0"/>
              <a:t>SLIDE 20: Varianti del Set: </a:t>
            </a:r>
            <a:r>
              <a:rPr lang="it-IT" dirty="0" err="1"/>
              <a:t>LinkedHashSet</a:t>
            </a:r>
            <a:r>
              <a:rPr lang="it-IT" dirty="0"/>
              <a:t> e </a:t>
            </a:r>
            <a:r>
              <a:rPr lang="it-IT" dirty="0" err="1"/>
              <a:t>TreeSet</a:t>
            </a:r>
            <a:endParaRPr lang="it-IT" dirty="0"/>
          </a:p>
        </p:txBody>
      </p:sp>
      <p:sp>
        <p:nvSpPr>
          <p:cNvPr id="3" name="Contenuto della lezione">
            <a:extLst>
              <a:ext uri="{FF2B5EF4-FFF2-40B4-BE49-F238E27FC236}">
                <a16:creationId xmlns:a16="http://schemas.microsoft.com/office/drawing/2014/main" id="{E151EA61-1974-85D5-8A12-F80950FDF4B9}"/>
              </a:ext>
            </a:extLst>
          </p:cNvPr>
          <p:cNvSpPr>
            <a:spLocks noGrp="1"/>
          </p:cNvSpPr>
          <p:nvPr>
            <p:ph idx="1"/>
          </p:nvPr>
        </p:nvSpPr>
        <p:spPr>
          <a:xfrm>
            <a:off x="1317319" y="1589730"/>
            <a:ext cx="9557362" cy="4803369"/>
          </a:xfrm>
        </p:spPr>
        <p:txBody>
          <a:bodyPr/>
          <a:lstStyle/>
          <a:p>
            <a:r>
              <a:rPr lang="it-IT" dirty="0"/>
              <a:t>La classe </a:t>
            </a:r>
            <a:r>
              <a:rPr lang="it-IT" dirty="0" err="1"/>
              <a:t>HashSet</a:t>
            </a:r>
            <a:r>
              <a:rPr lang="it-IT" dirty="0"/>
              <a:t> standard non garantisce alcun ordine di inserimento: stampando l'insieme, gli elementi compariranno in posizioni apparentemente casuali determinate dagli algoritmi di </a:t>
            </a:r>
            <a:r>
              <a:rPr lang="it-IT" dirty="0" err="1"/>
              <a:t>hash</a:t>
            </a:r>
            <a:r>
              <a:rPr lang="it-IT" dirty="0"/>
              <a:t>. </a:t>
            </a:r>
          </a:p>
          <a:p>
            <a:r>
              <a:rPr lang="it-IT" dirty="0"/>
              <a:t>Se l'applicazione richiede il controllo dell'ordine, Java offre due varianti. </a:t>
            </a:r>
          </a:p>
          <a:p>
            <a:pPr marL="285750" indent="-285750">
              <a:buFont typeface="Arial" panose="020B0604020202020204" pitchFamily="34" charset="0"/>
              <a:buChar char="•"/>
            </a:pPr>
            <a:r>
              <a:rPr lang="it-IT" dirty="0"/>
              <a:t>La classe </a:t>
            </a:r>
            <a:r>
              <a:rPr lang="it-IT" dirty="0" err="1"/>
              <a:t>LinkedHashSet</a:t>
            </a:r>
            <a:r>
              <a:rPr lang="it-IT" dirty="0"/>
              <a:t> mantiene l'unicità assoluta dei dati ma introduce internamente una lista doppiamente concatenata che memorizza l'ordine esatto con cui gli elementi sono stati inseriti dall'utente. </a:t>
            </a:r>
          </a:p>
          <a:p>
            <a:pPr marL="285750" indent="-285750">
              <a:buFont typeface="Arial" panose="020B0604020202020204" pitchFamily="34" charset="0"/>
              <a:buChar char="•"/>
            </a:pPr>
            <a:r>
              <a:rPr lang="it-IT" dirty="0"/>
              <a:t>La classe </a:t>
            </a:r>
            <a:r>
              <a:rPr lang="it-IT" dirty="0" err="1"/>
              <a:t>TreeSet</a:t>
            </a:r>
            <a:r>
              <a:rPr lang="it-IT" dirty="0"/>
              <a:t>, invece, memorizza gli elementi strutturandoli internamente sotto forma di un albero binario auto-bilanciato. Il </a:t>
            </a:r>
            <a:r>
              <a:rPr lang="it-IT" dirty="0" err="1"/>
              <a:t>TreeSet</a:t>
            </a:r>
            <a:r>
              <a:rPr lang="it-IT" dirty="0"/>
              <a:t> garantisce che gli elementi inseriti siano costantemente e automaticamente ordinati in tempo reale secondo il loro ordine naturale (es. alfabetico o numerico). Questa sofisticata struttura dati richiede però una complessità temporale di ricerca pari a O(log N).</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683848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E1F36-C647-45F9-CA81-568EF5A5BEF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23D96FE-8EBF-B1BC-CF5E-BFE19841841F}"/>
              </a:ext>
            </a:extLst>
          </p:cNvPr>
          <p:cNvSpPr>
            <a:spLocks noGrp="1"/>
          </p:cNvSpPr>
          <p:nvPr>
            <p:ph type="title"/>
          </p:nvPr>
        </p:nvSpPr>
        <p:spPr>
          <a:xfrm>
            <a:off x="838200" y="831206"/>
            <a:ext cx="10515600" cy="314198"/>
          </a:xfrm>
        </p:spPr>
        <p:txBody>
          <a:bodyPr/>
          <a:lstStyle/>
          <a:p>
            <a:r>
              <a:rPr lang="it-IT" dirty="0"/>
              <a:t>SLIDE 21: L'Interfaccia </a:t>
            </a:r>
            <a:r>
              <a:rPr lang="it-IT" dirty="0" err="1"/>
              <a:t>Map</a:t>
            </a:r>
            <a:r>
              <a:rPr lang="it-IT" dirty="0"/>
              <a:t> e la Struttura Chiave-Valore</a:t>
            </a:r>
          </a:p>
        </p:txBody>
      </p:sp>
      <p:sp>
        <p:nvSpPr>
          <p:cNvPr id="3" name="Contenuto della lezione">
            <a:extLst>
              <a:ext uri="{FF2B5EF4-FFF2-40B4-BE49-F238E27FC236}">
                <a16:creationId xmlns:a16="http://schemas.microsoft.com/office/drawing/2014/main" id="{9AB29CD5-3E9E-0E6C-8582-7B5044A7A76D}"/>
              </a:ext>
            </a:extLst>
          </p:cNvPr>
          <p:cNvSpPr>
            <a:spLocks noGrp="1"/>
          </p:cNvSpPr>
          <p:nvPr>
            <p:ph idx="1"/>
          </p:nvPr>
        </p:nvSpPr>
        <p:spPr>
          <a:xfrm>
            <a:off x="1317319" y="1589730"/>
            <a:ext cx="9557362" cy="4803369"/>
          </a:xfrm>
        </p:spPr>
        <p:txBody>
          <a:bodyPr/>
          <a:lstStyle/>
          <a:p>
            <a:r>
              <a:rPr lang="it-IT" dirty="0"/>
              <a:t>L'interfaccia </a:t>
            </a:r>
            <a:r>
              <a:rPr lang="it-IT" dirty="0" err="1"/>
              <a:t>Map</a:t>
            </a:r>
            <a:r>
              <a:rPr lang="it-IT" dirty="0"/>
              <a:t> definisce una struttura dati concettualmente separata dalle collezioni standard, focalizzata sulla modellazione di relazioni basate su coppie "Chiave-Valore".</a:t>
            </a:r>
          </a:p>
          <a:p>
            <a:r>
              <a:rPr lang="it-IT" dirty="0"/>
              <a:t>Una mappa agisce come un dizionario o un elenco telefonico: a una chiave univoca (es. il codice fiscale o il numero di matricola) viene associato un determinato valore (es. l'oggetto Studente). </a:t>
            </a:r>
          </a:p>
          <a:p>
            <a:r>
              <a:rPr lang="it-IT" dirty="0">
                <a:solidFill>
                  <a:srgbClr val="171FE2"/>
                </a:solidFill>
              </a:rPr>
              <a:t>Le regole della struttura prevedono che le chiavi debbano essere tassativamente uniche all'interno della mappa: non possono esistere due coppie con la stessa chiave. </a:t>
            </a:r>
          </a:p>
          <a:p>
            <a:r>
              <a:rPr lang="it-IT" dirty="0">
                <a:solidFill>
                  <a:srgbClr val="171FE2"/>
                </a:solidFill>
              </a:rPr>
              <a:t>I valori associati, invece, possono essere duplicati liberamente (due chiavi diverse possono puntare allo stesso identico valore). </a:t>
            </a:r>
          </a:p>
          <a:p>
            <a:r>
              <a:rPr lang="it-IT" dirty="0"/>
              <a:t>Le mappe sono uno strumento architetturale di potenza incalcolabile nello sviluppo </a:t>
            </a:r>
            <a:r>
              <a:rPr lang="it-IT" dirty="0" err="1"/>
              <a:t>enterprise</a:t>
            </a:r>
            <a:r>
              <a:rPr lang="it-IT" dirty="0"/>
              <a:t> per l'indicizzazione rapida e la memorizzazione in cache dei dati.</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587662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563DF-AC18-F8E6-0CA4-7566B8A7C76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9A75482-8886-5C1F-C957-0C655EF1AB6C}"/>
              </a:ext>
            </a:extLst>
          </p:cNvPr>
          <p:cNvSpPr>
            <a:spLocks noGrp="1"/>
          </p:cNvSpPr>
          <p:nvPr>
            <p:ph type="title"/>
          </p:nvPr>
        </p:nvSpPr>
        <p:spPr>
          <a:xfrm>
            <a:off x="838200" y="831206"/>
            <a:ext cx="10515600" cy="314198"/>
          </a:xfrm>
        </p:spPr>
        <p:txBody>
          <a:bodyPr/>
          <a:lstStyle/>
          <a:p>
            <a:r>
              <a:rPr lang="it-IT" dirty="0"/>
              <a:t>SLIDE 22: La Classe </a:t>
            </a:r>
            <a:r>
              <a:rPr lang="it-IT" dirty="0" err="1"/>
              <a:t>HashMap</a:t>
            </a:r>
            <a:r>
              <a:rPr lang="it-IT" dirty="0"/>
              <a:t> e i Metodi put() e </a:t>
            </a:r>
            <a:r>
              <a:rPr lang="it-IT" dirty="0" err="1"/>
              <a:t>get</a:t>
            </a:r>
            <a:r>
              <a:rPr lang="it-IT" dirty="0"/>
              <a:t>()</a:t>
            </a:r>
          </a:p>
        </p:txBody>
      </p:sp>
      <p:sp>
        <p:nvSpPr>
          <p:cNvPr id="3" name="Contenuto della lezione">
            <a:extLst>
              <a:ext uri="{FF2B5EF4-FFF2-40B4-BE49-F238E27FC236}">
                <a16:creationId xmlns:a16="http://schemas.microsoft.com/office/drawing/2014/main" id="{2C64C9B1-A17F-A759-F50B-F2913E5D1B5E}"/>
              </a:ext>
            </a:extLst>
          </p:cNvPr>
          <p:cNvSpPr>
            <a:spLocks noGrp="1"/>
          </p:cNvSpPr>
          <p:nvPr>
            <p:ph idx="1"/>
          </p:nvPr>
        </p:nvSpPr>
        <p:spPr>
          <a:xfrm>
            <a:off x="1317319" y="1589730"/>
            <a:ext cx="9557362" cy="4803369"/>
          </a:xfrm>
        </p:spPr>
        <p:txBody>
          <a:bodyPr/>
          <a:lstStyle/>
          <a:p>
            <a:r>
              <a:rPr lang="it-IT" dirty="0"/>
              <a:t>La classe concreta più celebre per implementare le mappe è </a:t>
            </a:r>
            <a:r>
              <a:rPr lang="it-IT" dirty="0" err="1"/>
              <a:t>HashMap</a:t>
            </a:r>
            <a:r>
              <a:rPr lang="it-IT" dirty="0"/>
              <a:t>, che sfrutta internamente i medesimi concetti delle tabelle </a:t>
            </a:r>
            <a:r>
              <a:rPr lang="it-IT" dirty="0" err="1"/>
              <a:t>hash</a:t>
            </a:r>
            <a:r>
              <a:rPr lang="it-IT" dirty="0"/>
              <a:t> per garantire accessi a tempo costante O(1). </a:t>
            </a:r>
          </a:p>
          <a:p>
            <a:r>
              <a:rPr lang="it-IT" dirty="0"/>
              <a:t>La sintassi prevede la dichiarazione dei tipi di dato sia per la chiave sia per il valore tra le parentesi angolari: </a:t>
            </a:r>
          </a:p>
          <a:p>
            <a:r>
              <a:rPr lang="it-IT" dirty="0" err="1">
                <a:solidFill>
                  <a:srgbClr val="171FE2"/>
                </a:solidFill>
                <a:latin typeface="Consolas" panose="020B0609020204030204" pitchFamily="49" charset="0"/>
              </a:rPr>
              <a:t>HashMap</a:t>
            </a:r>
            <a:r>
              <a:rPr lang="it-IT" dirty="0">
                <a:solidFill>
                  <a:srgbClr val="171FE2"/>
                </a:solidFill>
                <a:latin typeface="Consolas" panose="020B0609020204030204" pitchFamily="49" charset="0"/>
              </a:rPr>
              <a:t>&lt;</a:t>
            </a:r>
            <a:r>
              <a:rPr lang="it-IT" dirty="0" err="1">
                <a:solidFill>
                  <a:srgbClr val="171FE2"/>
                </a:solidFill>
                <a:latin typeface="Consolas" panose="020B0609020204030204" pitchFamily="49" charset="0"/>
              </a:rPr>
              <a:t>String</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ContoCorrente</a:t>
            </a:r>
            <a:r>
              <a:rPr lang="it-IT" dirty="0">
                <a:solidFill>
                  <a:srgbClr val="171FE2"/>
                </a:solidFill>
                <a:latin typeface="Consolas" panose="020B0609020204030204" pitchFamily="49" charset="0"/>
              </a:rPr>
              <a:t>&gt; </a:t>
            </a:r>
            <a:r>
              <a:rPr lang="it-IT" dirty="0" err="1">
                <a:solidFill>
                  <a:srgbClr val="171FE2"/>
                </a:solidFill>
                <a:latin typeface="Consolas" panose="020B0609020204030204" pitchFamily="49" charset="0"/>
              </a:rPr>
              <a:t>mappaBanca</a:t>
            </a:r>
            <a:r>
              <a:rPr lang="it-IT" dirty="0">
                <a:solidFill>
                  <a:srgbClr val="171FE2"/>
                </a:solidFill>
                <a:latin typeface="Consolas" panose="020B0609020204030204" pitchFamily="49" charset="0"/>
              </a:rPr>
              <a:t> = new </a:t>
            </a:r>
            <a:r>
              <a:rPr lang="it-IT" dirty="0" err="1">
                <a:solidFill>
                  <a:srgbClr val="171FE2"/>
                </a:solidFill>
                <a:latin typeface="Consolas" panose="020B0609020204030204" pitchFamily="49" charset="0"/>
              </a:rPr>
              <a:t>HashMap</a:t>
            </a:r>
            <a:r>
              <a:rPr lang="it-IT" dirty="0">
                <a:solidFill>
                  <a:srgbClr val="171FE2"/>
                </a:solidFill>
                <a:latin typeface="Consolas" panose="020B0609020204030204" pitchFamily="49" charset="0"/>
              </a:rPr>
              <a:t>&lt;&gt;();</a:t>
            </a:r>
            <a:r>
              <a:rPr lang="it-IT" dirty="0"/>
              <a:t>.</a:t>
            </a:r>
          </a:p>
          <a:p>
            <a:r>
              <a:rPr lang="it-IT" dirty="0"/>
              <a:t>Per inserire una nuova coppia o aggiornare una chiave esistente, si utilizza il metodo </a:t>
            </a:r>
            <a:r>
              <a:rPr lang="it-IT" dirty="0">
                <a:solidFill>
                  <a:srgbClr val="171FE2"/>
                </a:solidFill>
                <a:latin typeface="Consolas" panose="020B0609020204030204" pitchFamily="49" charset="0"/>
              </a:rPr>
              <a:t>.put(chiave, valore)</a:t>
            </a:r>
            <a:r>
              <a:rPr lang="it-IT" dirty="0"/>
              <a:t>. </a:t>
            </a:r>
          </a:p>
          <a:p>
            <a:r>
              <a:rPr lang="it-IT" dirty="0"/>
              <a:t>Per recuperare un valore memorizzato conoscendo la sua chiave, si utilizza il metodo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(chiave)</a:t>
            </a:r>
            <a:r>
              <a:rPr lang="it-IT" dirty="0"/>
              <a:t>. </a:t>
            </a:r>
          </a:p>
          <a:p>
            <a:r>
              <a:rPr lang="it-IT" dirty="0"/>
              <a:t>Se la chiave passata come argomento non esiste all'interno della mappa, il metodo </a:t>
            </a:r>
            <a:r>
              <a:rPr lang="it-IT" dirty="0" err="1"/>
              <a:t>get</a:t>
            </a:r>
            <a:r>
              <a:rPr lang="it-IT" dirty="0"/>
              <a:t> restituirà il valore </a:t>
            </a:r>
            <a:r>
              <a:rPr lang="it-IT" dirty="0" err="1"/>
              <a:t>null</a:t>
            </a:r>
            <a:r>
              <a:rPr lang="it-IT" dirty="0"/>
              <a:t>. </a:t>
            </a:r>
          </a:p>
          <a:p>
            <a:r>
              <a:rPr lang="it-IT" dirty="0"/>
              <a:t>Sviluppate l'abilità pratica inserendo in una mappa tre codici prodotto associati al rispettivo prezzo decimale ed estraete un prezzo digitando il codice da tastiera.</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24457460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ED299-84B5-A3A4-D3C9-2B6316B6220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A9165D7-9C51-11AD-3D15-AA79B0770ACF}"/>
              </a:ext>
            </a:extLst>
          </p:cNvPr>
          <p:cNvSpPr>
            <a:spLocks noGrp="1"/>
          </p:cNvSpPr>
          <p:nvPr>
            <p:ph type="title"/>
          </p:nvPr>
        </p:nvSpPr>
        <p:spPr>
          <a:xfrm>
            <a:off x="838200" y="831206"/>
            <a:ext cx="10515600" cy="314198"/>
          </a:xfrm>
        </p:spPr>
        <p:txBody>
          <a:bodyPr/>
          <a:lstStyle/>
          <a:p>
            <a:r>
              <a:rPr lang="it-IT" dirty="0"/>
              <a:t>SLIDE 23: Esplorazione delle Mappe: </a:t>
            </a:r>
            <a:r>
              <a:rPr lang="it-IT" dirty="0" err="1"/>
              <a:t>keySet</a:t>
            </a:r>
            <a:r>
              <a:rPr lang="it-IT" dirty="0"/>
              <a:t>() e </a:t>
            </a:r>
            <a:r>
              <a:rPr lang="it-IT" dirty="0" err="1"/>
              <a:t>values</a:t>
            </a:r>
            <a:r>
              <a:rPr lang="it-IT" dirty="0"/>
              <a:t>()</a:t>
            </a:r>
          </a:p>
        </p:txBody>
      </p:sp>
      <p:sp>
        <p:nvSpPr>
          <p:cNvPr id="3" name="Contenuto della lezione">
            <a:extLst>
              <a:ext uri="{FF2B5EF4-FFF2-40B4-BE49-F238E27FC236}">
                <a16:creationId xmlns:a16="http://schemas.microsoft.com/office/drawing/2014/main" id="{00DD8DB7-5A94-7885-2C0E-02536444C990}"/>
              </a:ext>
            </a:extLst>
          </p:cNvPr>
          <p:cNvSpPr>
            <a:spLocks noGrp="1"/>
          </p:cNvSpPr>
          <p:nvPr>
            <p:ph idx="1"/>
          </p:nvPr>
        </p:nvSpPr>
        <p:spPr>
          <a:xfrm>
            <a:off x="1317319" y="1589730"/>
            <a:ext cx="9557362" cy="4803369"/>
          </a:xfrm>
        </p:spPr>
        <p:txBody>
          <a:bodyPr/>
          <a:lstStyle/>
          <a:p>
            <a:r>
              <a:rPr lang="it-IT" dirty="0"/>
              <a:t>A causa della sua natura bidimensionale (coppie di dati), una mappa non può essere </a:t>
            </a:r>
            <a:r>
              <a:rPr lang="it-IT" dirty="0" err="1"/>
              <a:t>ciclata</a:t>
            </a:r>
            <a:r>
              <a:rPr lang="it-IT" dirty="0"/>
              <a:t> direttamente con un semplice ciclo for-</a:t>
            </a:r>
            <a:r>
              <a:rPr lang="it-IT" dirty="0" err="1"/>
              <a:t>each</a:t>
            </a:r>
            <a:r>
              <a:rPr lang="it-IT" dirty="0"/>
              <a:t>. </a:t>
            </a:r>
          </a:p>
          <a:p>
            <a:r>
              <a:rPr lang="it-IT" dirty="0"/>
              <a:t>Per poter scansionare i dati interni, l' </a:t>
            </a:r>
            <a:r>
              <a:rPr lang="it-IT" dirty="0" err="1"/>
              <a:t>HashMap</a:t>
            </a:r>
            <a:r>
              <a:rPr lang="it-IT" dirty="0"/>
              <a:t> mette a disposizione metodi speciali che convertono parti della mappa in collezioni tradizionali. </a:t>
            </a:r>
          </a:p>
          <a:p>
            <a:r>
              <a:rPr lang="it-IT" dirty="0">
                <a:solidFill>
                  <a:srgbClr val="171FE2"/>
                </a:solidFill>
              </a:rPr>
              <a:t>Il metodo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keySet</a:t>
            </a:r>
            <a:r>
              <a:rPr lang="it-IT" dirty="0">
                <a:solidFill>
                  <a:srgbClr val="171FE2"/>
                </a:solidFill>
                <a:latin typeface="Consolas" panose="020B0609020204030204" pitchFamily="49" charset="0"/>
              </a:rPr>
              <a:t>() </a:t>
            </a:r>
            <a:r>
              <a:rPr lang="it-IT" dirty="0">
                <a:solidFill>
                  <a:srgbClr val="171FE2"/>
                </a:solidFill>
              </a:rPr>
              <a:t>estrae tutte le chiavi presenti nella mappa e le restituisce sotto forma di un'interfaccia Set (essendo le chiavi uniche per definizione). </a:t>
            </a:r>
          </a:p>
          <a:p>
            <a:r>
              <a:rPr lang="it-IT" dirty="0"/>
              <a:t>Il metodo </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values</a:t>
            </a:r>
            <a:r>
              <a:rPr lang="it-IT" dirty="0">
                <a:solidFill>
                  <a:srgbClr val="171FE2"/>
                </a:solidFill>
                <a:latin typeface="Consolas" panose="020B0609020204030204" pitchFamily="49" charset="0"/>
              </a:rPr>
              <a:t>()</a:t>
            </a:r>
            <a:r>
              <a:rPr lang="it-IT" dirty="0"/>
              <a:t>, invece, raccoglie tutti i valori inseriti nella mappa e li restituisce all'interno di una Collection generica. </a:t>
            </a:r>
          </a:p>
          <a:p>
            <a:r>
              <a:rPr lang="it-IT" dirty="0"/>
              <a:t>Combinando questi strumenti, possiamo avviare un ciclo for-</a:t>
            </a:r>
            <a:r>
              <a:rPr lang="it-IT" dirty="0" err="1"/>
              <a:t>each</a:t>
            </a:r>
            <a:r>
              <a:rPr lang="it-IT" dirty="0"/>
              <a:t> che itera sul Set delle chiavi e, all'interno del corpo del ciclo, utilizza il metodo .</a:t>
            </a:r>
            <a:r>
              <a:rPr lang="it-IT" dirty="0" err="1"/>
              <a:t>get</a:t>
            </a:r>
            <a:r>
              <a:rPr lang="it-IT" dirty="0"/>
              <a:t>(chiave) per estrarre e stampare in sequenza ordinata tutti i valori associati presenti in memoria.</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12183887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A50A2-0514-1A31-2E23-5DEED8F4152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CEE7FAE-A1E5-1EB2-509B-CA5B67B78C2E}"/>
              </a:ext>
            </a:extLst>
          </p:cNvPr>
          <p:cNvSpPr>
            <a:spLocks noGrp="1"/>
          </p:cNvSpPr>
          <p:nvPr>
            <p:ph type="title"/>
          </p:nvPr>
        </p:nvSpPr>
        <p:spPr>
          <a:xfrm>
            <a:off x="838200" y="831206"/>
            <a:ext cx="10515600" cy="314198"/>
          </a:xfrm>
        </p:spPr>
        <p:txBody>
          <a:bodyPr/>
          <a:lstStyle/>
          <a:p>
            <a:r>
              <a:rPr lang="it-IT" dirty="0"/>
              <a:t>SLIDE 24: Esercizio Guidato – Creazione di un Dizionario di Contatti Telefonici</a:t>
            </a:r>
          </a:p>
        </p:txBody>
      </p:sp>
      <p:sp>
        <p:nvSpPr>
          <p:cNvPr id="3" name="Contenuto della lezione">
            <a:extLst>
              <a:ext uri="{FF2B5EF4-FFF2-40B4-BE49-F238E27FC236}">
                <a16:creationId xmlns:a16="http://schemas.microsoft.com/office/drawing/2014/main" id="{463F6476-D692-6E9F-2B16-716E40AEFCA7}"/>
              </a:ext>
            </a:extLst>
          </p:cNvPr>
          <p:cNvSpPr>
            <a:spLocks noGrp="1"/>
          </p:cNvSpPr>
          <p:nvPr>
            <p:ph idx="1"/>
          </p:nvPr>
        </p:nvSpPr>
        <p:spPr>
          <a:xfrm>
            <a:off x="1317319" y="1589730"/>
            <a:ext cx="9557362" cy="4803369"/>
          </a:xfrm>
        </p:spPr>
        <p:txBody>
          <a:bodyPr/>
          <a:lstStyle/>
          <a:p>
            <a:r>
              <a:rPr lang="it-IT" dirty="0"/>
              <a:t>Mettiamo in pratica le conoscenze sulle mappe sviluppando un'applicazione in grado di simulare la rubrica contatti di uno smartphone. </a:t>
            </a:r>
          </a:p>
          <a:p>
            <a:r>
              <a:rPr lang="it-IT" dirty="0"/>
              <a:t>Dichiarate all'interno del metodo </a:t>
            </a:r>
            <a:r>
              <a:rPr lang="it-IT" dirty="0" err="1"/>
              <a:t>main</a:t>
            </a:r>
            <a:r>
              <a:rPr lang="it-IT" dirty="0"/>
              <a:t> una mappa strutturata in cui la chiave è una stringa rappresentante il nome del contatto e il valore è un intero o una stringa contenente il numero di telefono: </a:t>
            </a:r>
            <a:r>
              <a:rPr lang="it-IT" dirty="0" err="1"/>
              <a:t>HashMap</a:t>
            </a:r>
            <a:r>
              <a:rPr lang="it-IT" dirty="0"/>
              <a:t>&lt;</a:t>
            </a:r>
            <a:r>
              <a:rPr lang="it-IT" dirty="0" err="1"/>
              <a:t>String</a:t>
            </a:r>
            <a:r>
              <a:rPr lang="it-IT" dirty="0"/>
              <a:t>, </a:t>
            </a:r>
            <a:r>
              <a:rPr lang="it-IT" dirty="0" err="1"/>
              <a:t>String</a:t>
            </a:r>
            <a:r>
              <a:rPr lang="it-IT" dirty="0"/>
              <a:t>&gt; rubrica = new </a:t>
            </a:r>
            <a:r>
              <a:rPr lang="it-IT" dirty="0" err="1"/>
              <a:t>HashMap</a:t>
            </a:r>
            <a:r>
              <a:rPr lang="it-IT" dirty="0"/>
              <a:t>&lt;&gt;();.</a:t>
            </a:r>
          </a:p>
          <a:p>
            <a:r>
              <a:rPr lang="it-IT" dirty="0"/>
              <a:t>Popolate la mappa inserendo quattro contatti tramite il metodo put. </a:t>
            </a:r>
          </a:p>
          <a:p>
            <a:r>
              <a:rPr lang="it-IT" dirty="0"/>
              <a:t>Utilizzate poi il metodo .</a:t>
            </a:r>
            <a:r>
              <a:rPr lang="it-IT" dirty="0" err="1"/>
              <a:t>containsKey</a:t>
            </a:r>
            <a:r>
              <a:rPr lang="it-IT" dirty="0"/>
              <a:t>("Luigi") per verificare condizionalmente se il contatto esiste nel database: in caso positivo, estraete il numero e stampatelo a schermo; in caso negativo, inviate un avviso di errore. </a:t>
            </a:r>
          </a:p>
          <a:p>
            <a:r>
              <a:rPr lang="it-IT" dirty="0"/>
              <a:t>Questo esercizio consolida l'abilità di gestire l'accesso sicuro ai dati indicizzati.</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7443111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8665E-5517-6469-F887-3BB290D0955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7F1DF1D8-5E4D-6A35-68EA-468BC954A8E1}"/>
              </a:ext>
            </a:extLst>
          </p:cNvPr>
          <p:cNvSpPr>
            <a:spLocks noGrp="1"/>
          </p:cNvSpPr>
          <p:nvPr>
            <p:ph type="title"/>
          </p:nvPr>
        </p:nvSpPr>
        <p:spPr>
          <a:xfrm>
            <a:off x="838200" y="831206"/>
            <a:ext cx="10515600" cy="314198"/>
          </a:xfrm>
        </p:spPr>
        <p:txBody>
          <a:bodyPr/>
          <a:lstStyle/>
          <a:p>
            <a:r>
              <a:rPr lang="it-IT" dirty="0"/>
              <a:t>SLIDE 25: La Classe </a:t>
            </a:r>
            <a:r>
              <a:rPr lang="it-IT" dirty="0" err="1"/>
              <a:t>TreeMap</a:t>
            </a:r>
            <a:r>
              <a:rPr lang="it-IT" dirty="0"/>
              <a:t> e l'Ordinamento delle Chiavi</a:t>
            </a:r>
          </a:p>
        </p:txBody>
      </p:sp>
      <p:sp>
        <p:nvSpPr>
          <p:cNvPr id="3" name="Contenuto della lezione">
            <a:extLst>
              <a:ext uri="{FF2B5EF4-FFF2-40B4-BE49-F238E27FC236}">
                <a16:creationId xmlns:a16="http://schemas.microsoft.com/office/drawing/2014/main" id="{C88462BF-2436-685F-B292-C9263CFA0D72}"/>
              </a:ext>
            </a:extLst>
          </p:cNvPr>
          <p:cNvSpPr>
            <a:spLocks noGrp="1"/>
          </p:cNvSpPr>
          <p:nvPr>
            <p:ph idx="1"/>
          </p:nvPr>
        </p:nvSpPr>
        <p:spPr>
          <a:xfrm>
            <a:off x="1317319" y="1589730"/>
            <a:ext cx="9557362" cy="4803369"/>
          </a:xfrm>
        </p:spPr>
        <p:txBody>
          <a:bodyPr/>
          <a:lstStyle/>
          <a:p>
            <a:r>
              <a:rPr lang="it-IT" dirty="0"/>
              <a:t>Esattamente come accade per i Set, la classe </a:t>
            </a:r>
            <a:r>
              <a:rPr lang="it-IT" dirty="0" err="1"/>
              <a:t>HashMap</a:t>
            </a:r>
            <a:r>
              <a:rPr lang="it-IT" dirty="0"/>
              <a:t> standard non garantisce alcun ordine logico per le chiavi memorizzate. </a:t>
            </a:r>
          </a:p>
          <a:p>
            <a:r>
              <a:rPr lang="it-IT" dirty="0"/>
              <a:t>Se l'applicazione richiede che il dizionario sia costantemente ordinato in base alle chiavi, la soluzione ingegneristica corretta è l'utilizzo della classe </a:t>
            </a:r>
            <a:r>
              <a:rPr lang="it-IT" dirty="0" err="1"/>
              <a:t>TreeMap</a:t>
            </a:r>
            <a:r>
              <a:rPr lang="it-IT" dirty="0"/>
              <a:t>. </a:t>
            </a:r>
          </a:p>
          <a:p>
            <a:r>
              <a:rPr lang="it-IT" dirty="0"/>
              <a:t>Un </a:t>
            </a:r>
            <a:r>
              <a:rPr lang="it-IT" dirty="0" err="1"/>
              <a:t>TreeMap</a:t>
            </a:r>
            <a:r>
              <a:rPr lang="it-IT" dirty="0"/>
              <a:t> implementa l'interfaccia </a:t>
            </a:r>
            <a:r>
              <a:rPr lang="it-IT" dirty="0" err="1"/>
              <a:t>Map</a:t>
            </a:r>
            <a:r>
              <a:rPr lang="it-IT" dirty="0"/>
              <a:t> strutturando internamente i dati tramite un albero binario. Esso mantiene le chiavi costantemente e automaticamente ordinate secondo il loro ordine naturale (es. alfabetico se le chiavi sono stringhe, numerico se sono interi). </a:t>
            </a:r>
          </a:p>
          <a:p>
            <a:r>
              <a:rPr lang="it-IT" dirty="0"/>
              <a:t>Se stampiamo o </a:t>
            </a:r>
            <a:r>
              <a:rPr lang="it-IT" dirty="0" err="1"/>
              <a:t>cicliamo</a:t>
            </a:r>
            <a:r>
              <a:rPr lang="it-IT" dirty="0"/>
              <a:t> un </a:t>
            </a:r>
            <a:r>
              <a:rPr lang="it-IT" dirty="0" err="1"/>
              <a:t>TreeMap</a:t>
            </a:r>
            <a:r>
              <a:rPr lang="it-IT" dirty="0"/>
              <a:t> di contatti telefonici, noteremo che i nomi compariranno disposti in un perfetto ordine da elenco telefonico aziendale. Le prestazioni di inserimento e ricerca scalano a O(log N).</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29807794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CAB26-9063-5F40-AD55-5E4D351F418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1293C7B-C097-238C-B322-43D9B364F241}"/>
              </a:ext>
            </a:extLst>
          </p:cNvPr>
          <p:cNvSpPr>
            <a:spLocks noGrp="1"/>
          </p:cNvSpPr>
          <p:nvPr>
            <p:ph type="title"/>
          </p:nvPr>
        </p:nvSpPr>
        <p:spPr>
          <a:xfrm>
            <a:off x="838200" y="831206"/>
            <a:ext cx="10515600" cy="314198"/>
          </a:xfrm>
        </p:spPr>
        <p:txBody>
          <a:bodyPr/>
          <a:lstStyle/>
          <a:p>
            <a:r>
              <a:rPr lang="it-IT" dirty="0"/>
              <a:t>SEZIONE 4: PROVA PRATICA DI VALUTAZIONE (Slide 26 - 31)</a:t>
            </a:r>
            <a:br>
              <a:rPr lang="it-IT" dirty="0"/>
            </a:br>
            <a:r>
              <a:rPr lang="it-IT" dirty="0"/>
              <a:t>SLIDE 26: Unità Didattica 3 – Laboratorio Finale e Compito Autentico</a:t>
            </a:r>
          </a:p>
        </p:txBody>
      </p:sp>
      <p:sp>
        <p:nvSpPr>
          <p:cNvPr id="3" name="Contenuto della lezione">
            <a:extLst>
              <a:ext uri="{FF2B5EF4-FFF2-40B4-BE49-F238E27FC236}">
                <a16:creationId xmlns:a16="http://schemas.microsoft.com/office/drawing/2014/main" id="{2B90B7D0-C515-1469-9813-0C73BCE92C47}"/>
              </a:ext>
            </a:extLst>
          </p:cNvPr>
          <p:cNvSpPr>
            <a:spLocks noGrp="1"/>
          </p:cNvSpPr>
          <p:nvPr>
            <p:ph idx="1"/>
          </p:nvPr>
        </p:nvSpPr>
        <p:spPr>
          <a:xfrm>
            <a:off x="1317319" y="1589730"/>
            <a:ext cx="9557362" cy="4803369"/>
          </a:xfrm>
        </p:spPr>
        <p:txBody>
          <a:bodyPr/>
          <a:lstStyle/>
          <a:p>
            <a:r>
              <a:rPr lang="it-IT" dirty="0"/>
              <a:t>Siamo giunti alla fase di verifica e validazione della micro-competenza legata all'utilizzo delle strutture dati dinamiche avanzate. </a:t>
            </a:r>
          </a:p>
          <a:p>
            <a:r>
              <a:rPr lang="it-IT" dirty="0"/>
              <a:t>Siete chiamati a realizzare in totale autonomia un'applicazione software </a:t>
            </a:r>
            <a:r>
              <a:rPr lang="it-IT" dirty="0" err="1"/>
              <a:t>enterprise</a:t>
            </a:r>
            <a:r>
              <a:rPr lang="it-IT" dirty="0"/>
              <a:t> per la gestione del </a:t>
            </a:r>
            <a:r>
              <a:rPr lang="it-IT" dirty="0" err="1"/>
              <a:t>backend</a:t>
            </a:r>
            <a:r>
              <a:rPr lang="it-IT" dirty="0"/>
              <a:t> di un "Sistema di Carrello e Magazzino E-Commerce". </a:t>
            </a:r>
          </a:p>
          <a:p>
            <a:r>
              <a:rPr lang="it-IT" dirty="0"/>
              <a:t>Il software non deve fare alcun uso di vecchi array statici. </a:t>
            </a:r>
          </a:p>
          <a:p>
            <a:r>
              <a:rPr lang="it-IT" dirty="0"/>
              <a:t>L'intera architettura dati deve poggiare sulle strutture del Java Collection Framework analizzate durante le lezioni. </a:t>
            </a:r>
          </a:p>
          <a:p>
            <a:r>
              <a:rPr lang="it-IT" dirty="0"/>
              <a:t>Questo laboratorio richiede la capacità di integrare sinergicamente liste dinamiche, insiemi per il controllo dell'unicità dei prodotti e mappe per l'indicizzazione rapida dei codici a barre, simulando la struttura architetturale di un reale applicativo aziendale distribuito.</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4343793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7C7A5-A2CF-8E16-57BB-8750E40CE9D8}"/>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D40B792E-1AD4-DC3C-9EEC-3D1726DD96D0}"/>
              </a:ext>
            </a:extLst>
          </p:cNvPr>
          <p:cNvSpPr>
            <a:spLocks noGrp="1"/>
          </p:cNvSpPr>
          <p:nvPr>
            <p:ph type="title"/>
          </p:nvPr>
        </p:nvSpPr>
        <p:spPr>
          <a:xfrm>
            <a:off x="838200" y="831206"/>
            <a:ext cx="10515600" cy="314198"/>
          </a:xfrm>
        </p:spPr>
        <p:txBody>
          <a:bodyPr/>
          <a:lstStyle/>
          <a:p>
            <a:r>
              <a:rPr lang="it-IT" dirty="0"/>
              <a:t>SLIDE 27: </a:t>
            </a:r>
            <a:r>
              <a:rPr lang="it-IT" dirty="0" err="1"/>
              <a:t>pecifiche</a:t>
            </a:r>
            <a:r>
              <a:rPr lang="it-IT" dirty="0"/>
              <a:t> della Classe Prodotto e Contratto </a:t>
            </a:r>
            <a:r>
              <a:rPr lang="it-IT" dirty="0" err="1"/>
              <a:t>Hash</a:t>
            </a:r>
            <a:endParaRPr lang="it-IT" dirty="0"/>
          </a:p>
        </p:txBody>
      </p:sp>
      <p:sp>
        <p:nvSpPr>
          <p:cNvPr id="3" name="Contenuto della lezione">
            <a:extLst>
              <a:ext uri="{FF2B5EF4-FFF2-40B4-BE49-F238E27FC236}">
                <a16:creationId xmlns:a16="http://schemas.microsoft.com/office/drawing/2014/main" id="{4170C320-3D27-A08D-5C22-9FCE077B15DC}"/>
              </a:ext>
            </a:extLst>
          </p:cNvPr>
          <p:cNvSpPr>
            <a:spLocks noGrp="1"/>
          </p:cNvSpPr>
          <p:nvPr>
            <p:ph idx="1"/>
          </p:nvPr>
        </p:nvSpPr>
        <p:spPr>
          <a:xfrm>
            <a:off x="1317319" y="1589730"/>
            <a:ext cx="9557362" cy="4803369"/>
          </a:xfrm>
        </p:spPr>
        <p:txBody>
          <a:bodyPr/>
          <a:lstStyle/>
          <a:p>
            <a:r>
              <a:rPr lang="it-IT" dirty="0"/>
              <a:t>Il primo requisito obbligatorio del compito autentico è lo sviluppo della classe Prodotto.</a:t>
            </a:r>
          </a:p>
          <a:p>
            <a:r>
              <a:rPr lang="it-IT" dirty="0"/>
              <a:t> La classe deve essere rigorosamente incapsulata e possedere tre attributi privati: </a:t>
            </a:r>
            <a:r>
              <a:rPr lang="it-IT" dirty="0" err="1"/>
              <a:t>String</a:t>
            </a:r>
            <a:r>
              <a:rPr lang="it-IT" dirty="0"/>
              <a:t> </a:t>
            </a:r>
            <a:r>
              <a:rPr lang="it-IT" dirty="0" err="1"/>
              <a:t>codiceBarre</a:t>
            </a:r>
            <a:r>
              <a:rPr lang="it-IT" dirty="0"/>
              <a:t>, </a:t>
            </a:r>
            <a:r>
              <a:rPr lang="it-IT" dirty="0" err="1"/>
              <a:t>String</a:t>
            </a:r>
            <a:r>
              <a:rPr lang="it-IT" dirty="0"/>
              <a:t> nome, e double prezzo. </a:t>
            </a:r>
          </a:p>
          <a:p>
            <a:r>
              <a:rPr lang="it-IT" dirty="0"/>
              <a:t>Requisiti tecnici inderogabili:</a:t>
            </a:r>
          </a:p>
          <a:p>
            <a:pPr marL="342900" indent="-342900">
              <a:buFont typeface="+mj-lt"/>
              <a:buAutoNum type="arabicPeriod"/>
            </a:pPr>
            <a:r>
              <a:rPr lang="it-IT" dirty="0"/>
              <a:t>Implementazione del costruttore completo e dei metodi getter e setter.</a:t>
            </a:r>
          </a:p>
          <a:p>
            <a:pPr marL="342900" indent="-342900">
              <a:buFont typeface="+mj-lt"/>
              <a:buAutoNum type="arabicPeriod"/>
            </a:pPr>
            <a:r>
              <a:rPr lang="it-IT" dirty="0" err="1"/>
              <a:t>Override</a:t>
            </a:r>
            <a:r>
              <a:rPr lang="it-IT" dirty="0"/>
              <a:t> accurato del metodo </a:t>
            </a:r>
            <a:r>
              <a:rPr lang="it-IT" dirty="0" err="1"/>
              <a:t>toString</a:t>
            </a:r>
            <a:r>
              <a:rPr lang="it-IT" dirty="0"/>
              <a:t>() per mostrare la scheda del prodotto formattata.</a:t>
            </a:r>
          </a:p>
          <a:p>
            <a:pPr marL="342900" indent="-342900">
              <a:buFont typeface="+mj-lt"/>
              <a:buAutoNum type="arabicPeriod"/>
            </a:pPr>
            <a:r>
              <a:rPr lang="it-IT" dirty="0"/>
              <a:t>Riconoscendo che il </a:t>
            </a:r>
            <a:r>
              <a:rPr lang="it-IT" dirty="0" err="1"/>
              <a:t>codiceBarre</a:t>
            </a:r>
            <a:r>
              <a:rPr lang="it-IT" dirty="0"/>
              <a:t> identifica in modo univoco un prodotto sul mercato, dovete effettuare l'</a:t>
            </a:r>
            <a:r>
              <a:rPr lang="it-IT" dirty="0" err="1"/>
              <a:t>override</a:t>
            </a:r>
            <a:r>
              <a:rPr lang="it-IT" dirty="0"/>
              <a:t> obbligatorio dei metodi </a:t>
            </a:r>
            <a:r>
              <a:rPr lang="it-IT" dirty="0" err="1"/>
              <a:t>equals</a:t>
            </a:r>
            <a:r>
              <a:rPr lang="it-IT" dirty="0"/>
              <a:t>() e </a:t>
            </a:r>
            <a:r>
              <a:rPr lang="it-IT" dirty="0" err="1"/>
              <a:t>hashCode</a:t>
            </a:r>
            <a:r>
              <a:rPr lang="it-IT" dirty="0"/>
              <a:t>(). Due oggetti prodotto devono essere considerati uguali dal sistema se e solo se possiedono lo stesso identico codice a barre, garantendo così il corretto funzionamento delle collezioni </a:t>
            </a:r>
            <a:r>
              <a:rPr lang="it-IT" dirty="0" err="1"/>
              <a:t>hash</a:t>
            </a:r>
            <a:r>
              <a:rPr lang="it-IT" dirty="0"/>
              <a:t> nello Heap.</a:t>
            </a:r>
          </a:p>
        </p:txBody>
      </p:sp>
    </p:spTree>
    <p:extLst>
      <p:ext uri="{BB962C8B-B14F-4D97-AF65-F5344CB8AC3E}">
        <p14:creationId xmlns:p14="http://schemas.microsoft.com/office/powerpoint/2010/main" val="9613655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ABB12-B28E-B545-967A-58EE9DDE555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A1280C8-0474-3ABE-E047-92E17FE591AE}"/>
              </a:ext>
            </a:extLst>
          </p:cNvPr>
          <p:cNvSpPr>
            <a:spLocks noGrp="1"/>
          </p:cNvSpPr>
          <p:nvPr>
            <p:ph type="title"/>
          </p:nvPr>
        </p:nvSpPr>
        <p:spPr>
          <a:xfrm>
            <a:off x="838200" y="831206"/>
            <a:ext cx="10515600" cy="314198"/>
          </a:xfrm>
        </p:spPr>
        <p:txBody>
          <a:bodyPr/>
          <a:lstStyle/>
          <a:p>
            <a:r>
              <a:rPr lang="it-IT" dirty="0"/>
              <a:t>SLIDE 28: Architettura del Gestore Magazzino tramite Mappe</a:t>
            </a:r>
          </a:p>
        </p:txBody>
      </p:sp>
      <p:sp>
        <p:nvSpPr>
          <p:cNvPr id="3" name="Contenuto della lezione">
            <a:extLst>
              <a:ext uri="{FF2B5EF4-FFF2-40B4-BE49-F238E27FC236}">
                <a16:creationId xmlns:a16="http://schemas.microsoft.com/office/drawing/2014/main" id="{A1256D11-7F34-BCBF-3EEC-512D7467B9CC}"/>
              </a:ext>
            </a:extLst>
          </p:cNvPr>
          <p:cNvSpPr>
            <a:spLocks noGrp="1"/>
          </p:cNvSpPr>
          <p:nvPr>
            <p:ph idx="1"/>
          </p:nvPr>
        </p:nvSpPr>
        <p:spPr>
          <a:xfrm>
            <a:off x="1317319" y="1589730"/>
            <a:ext cx="9557362" cy="4803369"/>
          </a:xfrm>
        </p:spPr>
        <p:txBody>
          <a:bodyPr/>
          <a:lstStyle/>
          <a:p>
            <a:r>
              <a:rPr lang="it-IT" dirty="0"/>
              <a:t>Create una classe chiamata </a:t>
            </a:r>
            <a:r>
              <a:rPr lang="it-IT" dirty="0" err="1"/>
              <a:t>GestoreMagazzino</a:t>
            </a:r>
            <a:r>
              <a:rPr lang="it-IT" dirty="0"/>
              <a:t>. Al suo interno, dichiarate come attributo privato una mappa che fungerà da database temporaneo dei prodotti disponibili nel sistema. </a:t>
            </a:r>
          </a:p>
          <a:p>
            <a:r>
              <a:rPr lang="it-IT" dirty="0"/>
              <a:t>La mappa deve utilizzare come chiave la stringa del codice a barre e come valore l'oggetto Prodotto associato: private </a:t>
            </a:r>
            <a:r>
              <a:rPr lang="it-IT" dirty="0" err="1"/>
              <a:t>Map</a:t>
            </a:r>
            <a:r>
              <a:rPr lang="it-IT" dirty="0"/>
              <a:t>&lt;</a:t>
            </a:r>
            <a:r>
              <a:rPr lang="it-IT" dirty="0" err="1"/>
              <a:t>String</a:t>
            </a:r>
            <a:r>
              <a:rPr lang="it-IT" dirty="0"/>
              <a:t>, Prodotto&gt; catalogo = new </a:t>
            </a:r>
            <a:r>
              <a:rPr lang="it-IT" dirty="0" err="1"/>
              <a:t>HashMap</a:t>
            </a:r>
            <a:r>
              <a:rPr lang="it-IT" dirty="0"/>
              <a:t>&lt;&gt;();. </a:t>
            </a:r>
          </a:p>
          <a:p>
            <a:r>
              <a:rPr lang="it-IT" dirty="0"/>
              <a:t>Sviluppate all'interno della classe due metodi operativi pubblici:</a:t>
            </a:r>
          </a:p>
          <a:p>
            <a:r>
              <a:rPr lang="it-IT" dirty="0"/>
              <a:t>public </a:t>
            </a:r>
            <a:r>
              <a:rPr lang="it-IT" dirty="0" err="1"/>
              <a:t>void</a:t>
            </a:r>
            <a:r>
              <a:rPr lang="it-IT" dirty="0"/>
              <a:t> </a:t>
            </a:r>
            <a:r>
              <a:rPr lang="it-IT" dirty="0" err="1"/>
              <a:t>aggiungiProdotto</a:t>
            </a:r>
            <a:r>
              <a:rPr lang="it-IT" dirty="0"/>
              <a:t>(Prodotto p): inserisce il prodotto nella mappa catalogo sfruttando il suo codice come chiave.</a:t>
            </a:r>
          </a:p>
          <a:p>
            <a:r>
              <a:rPr lang="it-IT" dirty="0"/>
              <a:t>public Prodotto </a:t>
            </a:r>
            <a:r>
              <a:rPr lang="it-IT" dirty="0" err="1"/>
              <a:t>cercaProdotto</a:t>
            </a:r>
            <a:r>
              <a:rPr lang="it-IT" dirty="0"/>
              <a:t>(</a:t>
            </a:r>
            <a:r>
              <a:rPr lang="it-IT" dirty="0" err="1"/>
              <a:t>String</a:t>
            </a:r>
            <a:r>
              <a:rPr lang="it-IT" dirty="0"/>
              <a:t> codice): restituisce istantaneamente l'oggetto prodotto corrispondente effettuando un accesso O(1), o restituisce </a:t>
            </a:r>
            <a:r>
              <a:rPr lang="it-IT" dirty="0" err="1"/>
              <a:t>null</a:t>
            </a:r>
            <a:r>
              <a:rPr lang="it-IT" dirty="0"/>
              <a:t> se il codice è inesistente.</a:t>
            </a:r>
          </a:p>
        </p:txBody>
      </p:sp>
    </p:spTree>
    <p:extLst>
      <p:ext uri="{BB962C8B-B14F-4D97-AF65-F5344CB8AC3E}">
        <p14:creationId xmlns:p14="http://schemas.microsoft.com/office/powerpoint/2010/main" val="2641603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1DA71-068C-951B-543C-4ABF2162ACA1}"/>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A3D9F50-2EFB-0855-D7E5-6538643E30E3}"/>
              </a:ext>
            </a:extLst>
          </p:cNvPr>
          <p:cNvSpPr>
            <a:spLocks noGrp="1"/>
          </p:cNvSpPr>
          <p:nvPr>
            <p:ph type="title"/>
          </p:nvPr>
        </p:nvSpPr>
        <p:spPr>
          <a:xfrm>
            <a:off x="838200" y="831206"/>
            <a:ext cx="10515600" cy="314198"/>
          </a:xfrm>
        </p:spPr>
        <p:txBody>
          <a:bodyPr/>
          <a:lstStyle/>
          <a:p>
            <a:r>
              <a:rPr lang="it-IT" dirty="0"/>
              <a:t>SLIDE 29: Modellazione del Carrello Spesa tramite </a:t>
            </a:r>
            <a:r>
              <a:rPr lang="it-IT" dirty="0" err="1"/>
              <a:t>ArrayList</a:t>
            </a:r>
            <a:endParaRPr lang="it-IT" dirty="0"/>
          </a:p>
        </p:txBody>
      </p:sp>
      <p:sp>
        <p:nvSpPr>
          <p:cNvPr id="3" name="Contenuto della lezione">
            <a:extLst>
              <a:ext uri="{FF2B5EF4-FFF2-40B4-BE49-F238E27FC236}">
                <a16:creationId xmlns:a16="http://schemas.microsoft.com/office/drawing/2014/main" id="{D02A6AA7-97BA-4575-AA7D-C47F32FBD57F}"/>
              </a:ext>
            </a:extLst>
          </p:cNvPr>
          <p:cNvSpPr>
            <a:spLocks noGrp="1"/>
          </p:cNvSpPr>
          <p:nvPr>
            <p:ph idx="1"/>
          </p:nvPr>
        </p:nvSpPr>
        <p:spPr>
          <a:xfrm>
            <a:off x="1317319" y="1589730"/>
            <a:ext cx="9557362" cy="4803369"/>
          </a:xfrm>
        </p:spPr>
        <p:txBody>
          <a:bodyPr/>
          <a:lstStyle/>
          <a:p>
            <a:r>
              <a:rPr lang="it-IT" dirty="0"/>
              <a:t>Create una terza classe chiamata </a:t>
            </a:r>
            <a:r>
              <a:rPr lang="it-IT" dirty="0" err="1"/>
              <a:t>CarrelloSpesa</a:t>
            </a:r>
            <a:r>
              <a:rPr lang="it-IT" dirty="0"/>
              <a:t>. </a:t>
            </a:r>
          </a:p>
          <a:p>
            <a:r>
              <a:rPr lang="it-IT" dirty="0"/>
              <a:t>Il carrello deve memorizzare la sequenza di prodotti scelti dall'utente durante la sessione di acquisto virtuale. </a:t>
            </a:r>
          </a:p>
          <a:p>
            <a:r>
              <a:rPr lang="it-IT" dirty="0"/>
              <a:t>Trattandosi di una struttura in cui l'utente può inserire più volte lo stesso articolo e in cui conta l'ordine di selezione, la scelta tecnologica corretta è l'uso di una lista. </a:t>
            </a:r>
          </a:p>
          <a:p>
            <a:r>
              <a:rPr lang="it-IT" dirty="0"/>
              <a:t>Dichiarate come attributo privato: private List&lt;Prodotto&gt; articoli = new </a:t>
            </a:r>
            <a:r>
              <a:rPr lang="it-IT" dirty="0" err="1"/>
              <a:t>ArrayList</a:t>
            </a:r>
            <a:r>
              <a:rPr lang="it-IT" dirty="0"/>
              <a:t>&lt;&gt;();. </a:t>
            </a:r>
          </a:p>
          <a:p>
            <a:r>
              <a:rPr lang="it-IT" dirty="0"/>
              <a:t>Sviluppate i metodi pubblici: public </a:t>
            </a:r>
            <a:r>
              <a:rPr lang="it-IT" dirty="0" err="1"/>
              <a:t>void</a:t>
            </a:r>
            <a:r>
              <a:rPr lang="it-IT" dirty="0"/>
              <a:t> </a:t>
            </a:r>
            <a:r>
              <a:rPr lang="it-IT" dirty="0" err="1"/>
              <a:t>aggiungiArticolo</a:t>
            </a:r>
            <a:r>
              <a:rPr lang="it-IT" dirty="0"/>
              <a:t>(Prodotto p) per inserire l'elemento nella lista, e public double </a:t>
            </a:r>
            <a:r>
              <a:rPr lang="it-IT" dirty="0" err="1"/>
              <a:t>calcolaTotale</a:t>
            </a:r>
            <a:r>
              <a:rPr lang="it-IT" dirty="0"/>
              <a:t>() che, tramite un ciclo for-</a:t>
            </a:r>
            <a:r>
              <a:rPr lang="it-IT" dirty="0" err="1"/>
              <a:t>each</a:t>
            </a:r>
            <a:r>
              <a:rPr lang="it-IT" dirty="0"/>
              <a:t>, scorra l'intera lista dinamica, estragga i prezzi di ciascun articolo accumulandoli in una variabile locale e restituisca il costo complessivo del carrello.</a:t>
            </a:r>
          </a:p>
        </p:txBody>
      </p:sp>
    </p:spTree>
    <p:extLst>
      <p:ext uri="{BB962C8B-B14F-4D97-AF65-F5344CB8AC3E}">
        <p14:creationId xmlns:p14="http://schemas.microsoft.com/office/powerpoint/2010/main" val="7398086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93761-B92F-E522-F5BC-9B5CB979DC0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B2CDA2E-5FA6-45E1-2DEB-FD8786B71B9D}"/>
              </a:ext>
            </a:extLst>
          </p:cNvPr>
          <p:cNvSpPr>
            <a:spLocks noGrp="1"/>
          </p:cNvSpPr>
          <p:nvPr>
            <p:ph type="title"/>
          </p:nvPr>
        </p:nvSpPr>
        <p:spPr>
          <a:xfrm>
            <a:off x="838200" y="831206"/>
            <a:ext cx="10515600" cy="314198"/>
          </a:xfrm>
        </p:spPr>
        <p:txBody>
          <a:bodyPr/>
          <a:lstStyle/>
          <a:p>
            <a:r>
              <a:rPr lang="it-IT" dirty="0"/>
              <a:t>SLIDE 30: Flusso nel Metodo </a:t>
            </a:r>
            <a:r>
              <a:rPr lang="it-IT" dirty="0" err="1"/>
              <a:t>Main</a:t>
            </a:r>
            <a:r>
              <a:rPr lang="it-IT" dirty="0"/>
              <a:t> e Criteri di Qualità</a:t>
            </a:r>
          </a:p>
        </p:txBody>
      </p:sp>
      <p:sp>
        <p:nvSpPr>
          <p:cNvPr id="3" name="Contenuto della lezione">
            <a:extLst>
              <a:ext uri="{FF2B5EF4-FFF2-40B4-BE49-F238E27FC236}">
                <a16:creationId xmlns:a16="http://schemas.microsoft.com/office/drawing/2014/main" id="{FDB8B1DB-CFFA-AC1B-68E7-1B145FB404DA}"/>
              </a:ext>
            </a:extLst>
          </p:cNvPr>
          <p:cNvSpPr>
            <a:spLocks noGrp="1"/>
          </p:cNvSpPr>
          <p:nvPr>
            <p:ph idx="1"/>
          </p:nvPr>
        </p:nvSpPr>
        <p:spPr>
          <a:xfrm>
            <a:off x="1317319" y="1589730"/>
            <a:ext cx="9557362" cy="4803369"/>
          </a:xfrm>
        </p:spPr>
        <p:txBody>
          <a:bodyPr/>
          <a:lstStyle/>
          <a:p>
            <a:r>
              <a:rPr lang="it-IT" dirty="0"/>
              <a:t>All'interno della classe principale contenente il metodo </a:t>
            </a:r>
            <a:r>
              <a:rPr lang="it-IT" dirty="0" err="1"/>
              <a:t>main</a:t>
            </a:r>
            <a:r>
              <a:rPr lang="it-IT" dirty="0"/>
              <a:t>, orchestrate l'intero flusso dell'applicazione. </a:t>
            </a:r>
          </a:p>
          <a:p>
            <a:r>
              <a:rPr lang="it-IT" dirty="0"/>
              <a:t>Create il magazzino, popolatelo inserendo tre prodotti reali e simulate un utente che digita un codice a barre. </a:t>
            </a:r>
          </a:p>
          <a:p>
            <a:r>
              <a:rPr lang="it-IT" dirty="0"/>
              <a:t>Il programma verificherà la presenza dell'articolo nel catalogo tramite il metodo di ricerca e, in caso positivo, lo sposterà dentro l'oggetto carrello dell'utente. </a:t>
            </a:r>
          </a:p>
          <a:p>
            <a:r>
              <a:rPr lang="it-IT"/>
              <a:t>Al </a:t>
            </a:r>
            <a:r>
              <a:rPr lang="it-IT" dirty="0"/>
              <a:t>termine, stampate il report completo degli acquisti e il totale economico dovuto</a:t>
            </a:r>
            <a:r>
              <a:rPr lang="it-IT"/>
              <a:t>. </a:t>
            </a:r>
          </a:p>
          <a:p>
            <a:r>
              <a:rPr lang="it-IT"/>
              <a:t>I </a:t>
            </a:r>
            <a:r>
              <a:rPr lang="it-IT" dirty="0"/>
              <a:t>criteri di valutazione per il rilascio della micro-credenziale verificheranno: l'appropriatezza della scelta della struttura dati per ciascun compito (Magazzino vs Carrello), la corretta implementazione della coppia </a:t>
            </a:r>
            <a:r>
              <a:rPr lang="it-IT" dirty="0" err="1"/>
              <a:t>equals</a:t>
            </a:r>
            <a:r>
              <a:rPr lang="it-IT" dirty="0"/>
              <a:t>/</a:t>
            </a:r>
            <a:r>
              <a:rPr lang="it-IT" dirty="0" err="1"/>
              <a:t>hashCode</a:t>
            </a:r>
            <a:r>
              <a:rPr lang="it-IT" dirty="0"/>
              <a:t> e la pulizia sintattica nell'uso dei </a:t>
            </a:r>
            <a:r>
              <a:rPr lang="it-IT" dirty="0" err="1"/>
              <a:t>Generics</a:t>
            </a:r>
            <a:r>
              <a:rPr lang="it-IT" dirty="0"/>
              <a:t>.</a:t>
            </a:r>
          </a:p>
        </p:txBody>
      </p:sp>
    </p:spTree>
    <p:extLst>
      <p:ext uri="{BB962C8B-B14F-4D97-AF65-F5344CB8AC3E}">
        <p14:creationId xmlns:p14="http://schemas.microsoft.com/office/powerpoint/2010/main" val="9672213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21D2E-15CF-F034-55CA-BF9BCE0415D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6663EEB-8D78-DA76-A3D8-512AFB95B570}"/>
              </a:ext>
            </a:extLst>
          </p:cNvPr>
          <p:cNvSpPr>
            <a:spLocks noGrp="1"/>
          </p:cNvSpPr>
          <p:nvPr>
            <p:ph type="title"/>
          </p:nvPr>
        </p:nvSpPr>
        <p:spPr>
          <a:xfrm>
            <a:off x="838200" y="831206"/>
            <a:ext cx="10515600" cy="314198"/>
          </a:xfrm>
        </p:spPr>
        <p:txBody>
          <a:bodyPr/>
          <a:lstStyle/>
          <a:p>
            <a:r>
              <a:rPr lang="it-IT" dirty="0"/>
              <a:t>SLIDE 31: Conclusione del Percorso e Certificazione delle Competenze</a:t>
            </a:r>
          </a:p>
        </p:txBody>
      </p:sp>
      <p:sp>
        <p:nvSpPr>
          <p:cNvPr id="3" name="Contenuto della lezione">
            <a:extLst>
              <a:ext uri="{FF2B5EF4-FFF2-40B4-BE49-F238E27FC236}">
                <a16:creationId xmlns:a16="http://schemas.microsoft.com/office/drawing/2014/main" id="{9156409E-213B-6EE4-4D87-CC30A0993171}"/>
              </a:ext>
            </a:extLst>
          </p:cNvPr>
          <p:cNvSpPr>
            <a:spLocks noGrp="1"/>
          </p:cNvSpPr>
          <p:nvPr>
            <p:ph idx="1"/>
          </p:nvPr>
        </p:nvSpPr>
        <p:spPr>
          <a:xfrm>
            <a:off x="1317319" y="1589730"/>
            <a:ext cx="9557362" cy="4803369"/>
          </a:xfrm>
        </p:spPr>
        <p:txBody>
          <a:bodyPr/>
          <a:lstStyle/>
          <a:p>
            <a:r>
              <a:rPr lang="it-IT" dirty="0"/>
              <a:t>Complimenti per aver completato con successo il modulo formativo SF03PR04 focalizzato sul Java Collection Framework. </a:t>
            </a:r>
          </a:p>
          <a:p>
            <a:r>
              <a:rPr lang="it-IT" dirty="0"/>
              <a:t>Con l'acquisizione di questa competenza architetturale avanzata, avete completato il nucleo fondamentale della programmazione Java standard richiesta a un diplomato degli Istituti Tecnici industriali. </a:t>
            </a:r>
          </a:p>
          <a:p>
            <a:r>
              <a:rPr lang="it-IT" dirty="0"/>
              <a:t>Siete ora in grado di progettare software professionali capaci di manipolare moli massive di dati in memoria RAM con la massima efficienza algoritmica e pulizia del codice. </a:t>
            </a:r>
          </a:p>
          <a:p>
            <a:r>
              <a:rPr lang="it-IT" dirty="0"/>
              <a:t>Questa solida base ingegneristica rappresenta il trampolino di lancio ideale per esplorare in autonomia o nei percorsi successivi i framework industriali </a:t>
            </a:r>
            <a:r>
              <a:rPr lang="it-IT" dirty="0" err="1"/>
              <a:t>enterprise</a:t>
            </a:r>
            <a:r>
              <a:rPr lang="it-IT" dirty="0"/>
              <a:t> (come Spring Boot o </a:t>
            </a:r>
            <a:r>
              <a:rPr lang="it-IT" dirty="0" err="1"/>
              <a:t>Hibernate</a:t>
            </a:r>
            <a:r>
              <a:rPr lang="it-IT" dirty="0"/>
              <a:t>) e lo sviluppo di applicazioni web complesse connesse a database relazionali reali</a:t>
            </a:r>
            <a:r>
              <a:rPr lang="it-IT"/>
              <a:t>. </a:t>
            </a:r>
          </a:p>
          <a:p>
            <a:r>
              <a:rPr lang="it-IT"/>
              <a:t>Buona </a:t>
            </a:r>
            <a:r>
              <a:rPr lang="it-IT" dirty="0"/>
              <a:t>fortuna per i vostri progetti futuri e continuate a programmare con passione!</a:t>
            </a:r>
          </a:p>
        </p:txBody>
      </p:sp>
    </p:spTree>
    <p:extLst>
      <p:ext uri="{BB962C8B-B14F-4D97-AF65-F5344CB8AC3E}">
        <p14:creationId xmlns:p14="http://schemas.microsoft.com/office/powerpoint/2010/main" val="38936105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E02355-4941-9C10-CA1D-649F04DB5143}"/>
              </a:ext>
            </a:extLst>
          </p:cNvPr>
          <p:cNvSpPr>
            <a:spLocks noGrp="1"/>
          </p:cNvSpPr>
          <p:nvPr>
            <p:ph type="title"/>
          </p:nvPr>
        </p:nvSpPr>
        <p:spPr/>
        <p:txBody>
          <a:bodyPr/>
          <a:lstStyle/>
          <a:p>
            <a:r>
              <a:rPr lang="it-IT" spc="0" dirty="0">
                <a:latin typeface="Neue Haas Grotesk Text Pro" panose="020B0504020202020204" pitchFamily="34" charset="0"/>
              </a:rPr>
              <a:t>GRAZIE PER L’ATTENZIONE</a:t>
            </a:r>
          </a:p>
        </p:txBody>
      </p:sp>
    </p:spTree>
    <p:extLst>
      <p:ext uri="{BB962C8B-B14F-4D97-AF65-F5344CB8AC3E}">
        <p14:creationId xmlns:p14="http://schemas.microsoft.com/office/powerpoint/2010/main" val="3003246572"/>
      </p:ext>
    </p:extLst>
  </p:cSld>
  <p:clrMapOvr>
    <a:masterClrMapping/>
  </p:clrMapOvr>
</p:sld>
</file>

<file path=ppt/theme/theme1.xml><?xml version="1.0" encoding="utf-8"?>
<a:theme xmlns:a="http://schemas.openxmlformats.org/drawingml/2006/main" name="Intr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21b72fd8-e7d0-49ac-9795-d1b0bc6b7e1c" xsi:nil="true"/>
    <lcf76f155ced4ddcb4097134ff3c332f xmlns="8b3acf13-3a58-43b2-a29e-f23503de136d">
      <Terms xmlns="http://schemas.microsoft.com/office/infopath/2007/PartnerControls"/>
    </lcf76f155ced4ddcb4097134ff3c332f>
    <Argomento xmlns="8b3acf13-3a58-43b2-a29e-f23503de136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3455C6CD0B9BF4DB2CA3009677D9668" ma:contentTypeVersion="17" ma:contentTypeDescription="Create a new document." ma:contentTypeScope="" ma:versionID="6361f2605a906a42d9630ca59d277a8b">
  <xsd:schema xmlns:xsd="http://www.w3.org/2001/XMLSchema" xmlns:xs="http://www.w3.org/2001/XMLSchema" xmlns:p="http://schemas.microsoft.com/office/2006/metadata/properties" xmlns:ns2="8b3acf13-3a58-43b2-a29e-f23503de136d" xmlns:ns3="21b72fd8-e7d0-49ac-9795-d1b0bc6b7e1c" targetNamespace="http://schemas.microsoft.com/office/2006/metadata/properties" ma:root="true" ma:fieldsID="ae4eb9e2c998b5efed80ec6126f835fa" ns2:_="" ns3:_="">
    <xsd:import namespace="8b3acf13-3a58-43b2-a29e-f23503de136d"/>
    <xsd:import namespace="21b72fd8-e7d0-49ac-9795-d1b0bc6b7e1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SearchProperties" minOccurs="0"/>
                <xsd:element ref="ns2:Argomento"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b3acf13-3a58-43b2-a29e-f23503de13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6f31c764-9f90-46cb-b927-e7c76de0672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Argomento" ma:index="24" nillable="true" ma:displayName="Argomento" ma:format="Dropdown" ma:internalName="Argomento">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b72fd8-e7d0-49ac-9795-d1b0bc6b7e1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0603bf2-5c45-4900-ad6d-aa2e93470d68}" ma:internalName="TaxCatchAll" ma:showField="CatchAllData" ma:web="21b72fd8-e7d0-49ac-9795-d1b0bc6b7e1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C65656-B2D8-4C19-A873-091B25A5212E}">
  <ds:schemaRefs>
    <ds:schemaRef ds:uri="http://schemas.microsoft.com/sharepoint/v3/contenttype/forms"/>
  </ds:schemaRefs>
</ds:datastoreItem>
</file>

<file path=customXml/itemProps2.xml><?xml version="1.0" encoding="utf-8"?>
<ds:datastoreItem xmlns:ds="http://schemas.openxmlformats.org/officeDocument/2006/customXml" ds:itemID="{6766878A-54ED-4867-B478-72A29DC19B89}">
  <ds:schemaRefs>
    <ds:schemaRef ds:uri="http://schemas.microsoft.com/office/2006/metadata/properties"/>
    <ds:schemaRef ds:uri="http://schemas.microsoft.com/office/infopath/2007/PartnerControls"/>
    <ds:schemaRef ds:uri="21b72fd8-e7d0-49ac-9795-d1b0bc6b7e1c"/>
    <ds:schemaRef ds:uri="8b3acf13-3a58-43b2-a29e-f23503de136d"/>
  </ds:schemaRefs>
</ds:datastoreItem>
</file>

<file path=customXml/itemProps3.xml><?xml version="1.0" encoding="utf-8"?>
<ds:datastoreItem xmlns:ds="http://schemas.openxmlformats.org/officeDocument/2006/customXml" ds:itemID="{70468F63-B318-4D5F-A1DF-86BE98AC22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b3acf13-3a58-43b2-a29e-f23503de136d"/>
    <ds:schemaRef ds:uri="21b72fd8-e7d0-49ac-9795-d1b0bc6b7e1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2044</TotalTime>
  <Words>4697</Words>
  <Application>Microsoft Office PowerPoint</Application>
  <PresentationFormat>Widescreen</PresentationFormat>
  <Paragraphs>190</Paragraphs>
  <Slides>34</Slides>
  <Notes>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34</vt:i4>
      </vt:variant>
    </vt:vector>
  </HeadingPairs>
  <TitlesOfParts>
    <vt:vector size="40" baseType="lpstr">
      <vt:lpstr>Arial</vt:lpstr>
      <vt:lpstr>Calibri</vt:lpstr>
      <vt:lpstr>Consolas</vt:lpstr>
      <vt:lpstr>Neue Haas Grotesk Display Pro</vt:lpstr>
      <vt:lpstr>Neue Haas Grotesk Text Pro</vt:lpstr>
      <vt:lpstr>Intro</vt:lpstr>
      <vt:lpstr>Presentazione standard di PowerPoint</vt:lpstr>
      <vt:lpstr>Presentazione standard di PowerPoint</vt:lpstr>
      <vt:lpstr>SEZIONE 1: I LIMITI DEGLI ARRAY E L'INTRODUZIONE AL FRAMEWORK (Slide 1 - 6) SLIDE 1: Titolo del Modulo e Obiettivi Competitivi</vt:lpstr>
      <vt:lpstr>SLIDE 2: I Limiti Strutturali degli Array Statici</vt:lpstr>
      <vt:lpstr>SLIDE 3: Cos'è il Java Collection Framework?</vt:lpstr>
      <vt:lpstr>SLIDE 4: La Gerarchia delle Interfacce: Collection, List, Set e Map</vt:lpstr>
      <vt:lpstr>SLIDE 5: Il Concetto di Autoboxing e Unboxing</vt:lpstr>
      <vt:lpstr>SLIDE 6: Introduzione ai Generics: la Notazione Diamond ''</vt:lpstr>
      <vt:lpstr>SEZIONE 2: LE LISTE DINAMICHE – ARRAYLIST VS LINKEDLIST (Slide 7 - 15) SLIDE 7: Unità Didattica 1 – L'Interfaccia List e la Classe ArrayList</vt:lpstr>
      <vt:lpstr>SLIDE 8: Operazioni Fondamentali su ArrayList: add(), get(), size()</vt:lpstr>
      <vt:lpstr>SLIDE 9: Rimozione e Modifica: i Metodi remove() e set()</vt:lpstr>
      <vt:lpstr>SLIDE 10: La Classe LinkedList e la Struttura a Lista Concatenata</vt:lpstr>
      <vt:lpstr>SLIDE 11: Analisi Algoritmica e Complessità Computazionale (Notazione O-Grande)</vt:lpstr>
      <vt:lpstr>SLIDE 12: Analisi Algoritmica e Complessità Computazionale (Notazione O-Grande)</vt:lpstr>
      <vt:lpstr>SLIDE 13: Esercizio Guidato – Cronometrare le Prestazioni in Laboratorio</vt:lpstr>
      <vt:lpstr>SLIDE 14: Iterazione sulle Liste: il Ciclo For-Each e l'interfaccia Iterator</vt:lpstr>
      <vt:lpstr>SLIDE 15: Ordinamento delle Liste: la Classe Utility Collections</vt:lpstr>
      <vt:lpstr>SLIDE 16: Introduzione all'Ordinamento di Oggetti Personalizzati: l'Interfaccia Comparable</vt:lpstr>
      <vt:lpstr>SEZIONE 3: GLI INSIEMI E LE MAPPE (Slide 17 - 25) SLIDE 17: Unità Didattica 2 – L'Interfaccia Set e l'Unicità dei Dati</vt:lpstr>
      <vt:lpstr>SLIDE 18: La Classe HashSet e il Funzionamento delle Tabelle Hash</vt:lpstr>
      <vt:lpstr>SLIDE 19: L'importanza di hashCode() ed equals() nell'HashSet</vt:lpstr>
      <vt:lpstr>SLIDE 20: Varianti del Set: LinkedHashSet e TreeSet</vt:lpstr>
      <vt:lpstr>SLIDE 21: L'Interfaccia Map e la Struttura Chiave-Valore</vt:lpstr>
      <vt:lpstr>SLIDE 22: La Classe HashMap e i Metodi put() e get()</vt:lpstr>
      <vt:lpstr>SLIDE 23: Esplorazione delle Mappe: keySet() e values()</vt:lpstr>
      <vt:lpstr>SLIDE 24: Esercizio Guidato – Creazione di un Dizionario di Contatti Telefonici</vt:lpstr>
      <vt:lpstr>SLIDE 25: La Classe TreeMap e l'Ordinamento delle Chiavi</vt:lpstr>
      <vt:lpstr>SEZIONE 4: PROVA PRATICA DI VALUTAZIONE (Slide 26 - 31) SLIDE 26: Unità Didattica 3 – Laboratorio Finale e Compito Autentico</vt:lpstr>
      <vt:lpstr>SLIDE 27: pecifiche della Classe Prodotto e Contratto Hash</vt:lpstr>
      <vt:lpstr>SLIDE 28: Architettura del Gestore Magazzino tramite Mappe</vt:lpstr>
      <vt:lpstr>SLIDE 29: Modellazione del Carrello Spesa tramite ArrayList</vt:lpstr>
      <vt:lpstr>SLIDE 30: Flusso nel Metodo Main e Criteri di Qualità</vt:lpstr>
      <vt:lpstr>SLIDE 31: Conclusione del Percorso e Certificazione delle Competenze</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Davide Grillo</dc:creator>
  <cp:lastModifiedBy>Mirko Onorato</cp:lastModifiedBy>
  <cp:revision>342</cp:revision>
  <dcterms:created xsi:type="dcterms:W3CDTF">2023-09-21T07:59:23Z</dcterms:created>
  <dcterms:modified xsi:type="dcterms:W3CDTF">2026-07-12T11:16:14Z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0x010100D3455C6CD0B9BF4DB2CA3009677D9668</vt:lpwstr>
  </property>
</Properties>
</file>